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x="18288000" cy="10287000"/>
  <p:notesSz cx="6858000" cy="9144000"/>
  <p:embeddedFontLst>
    <p:embeddedFont>
      <p:font typeface="TT Hoves Bold" charset="1" panose="02000003020000060003"/>
      <p:regular r:id="rId35"/>
    </p:embeddedFont>
    <p:embeddedFont>
      <p:font typeface="TT Hoves" charset="1" panose="02000003020000060003"/>
      <p:regular r:id="rId36"/>
    </p:embeddedFont>
    <p:embeddedFont>
      <p:font typeface="Canva Sans" charset="1" panose="020B0503030501040103"/>
      <p:regular r:id="rId37"/>
    </p:embeddedFont>
    <p:embeddedFont>
      <p:font typeface="Agrandir Medium" charset="1" panose="00000600000000000000"/>
      <p:regular r:id="rId38"/>
    </p:embeddedFont>
    <p:embeddedFont>
      <p:font typeface="Agrandir" charset="1" panose="00000500000000000000"/>
      <p:regular r:id="rId39"/>
    </p:embeddedFont>
    <p:embeddedFont>
      <p:font typeface="Gotham Bold" charset="1" panose="00000000000000000000"/>
      <p:regular r:id="rId40"/>
    </p:embeddedFont>
    <p:embeddedFont>
      <p:font typeface="Gotham" charset="1" panose="00000000000000000000"/>
      <p:regular r:id="rId41"/>
    </p:embeddedFont>
    <p:embeddedFont>
      <p:font typeface="Poppins Bold" charset="1" panose="00000800000000000000"/>
      <p:regular r:id="rId42"/>
    </p:embeddedFont>
    <p:embeddedFont>
      <p:font typeface="Poppins Semi-Bold" charset="1" panose="00000700000000000000"/>
      <p:regular r:id="rId43"/>
    </p:embeddedFont>
    <p:embeddedFont>
      <p:font typeface="Canva Sans Bold" charset="1" panose="020B0803030501040103"/>
      <p:regular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svg" Type="http://schemas.openxmlformats.org/officeDocument/2006/relationships/image"/><Relationship Id="rId2" Target="../media/image2.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png" Type="http://schemas.openxmlformats.org/officeDocument/2006/relationships/image"/><Relationship Id="rId11" Target="../media/image27.svg" Type="http://schemas.openxmlformats.org/officeDocument/2006/relationships/image"/><Relationship Id="rId12" Target="../media/image28.png" Type="http://schemas.openxmlformats.org/officeDocument/2006/relationships/image"/><Relationship Id="rId13" Target="../media/image29.svg" Type="http://schemas.openxmlformats.org/officeDocument/2006/relationships/image"/><Relationship Id="rId14" Target="../media/image30.png" Type="http://schemas.openxmlformats.org/officeDocument/2006/relationships/image"/><Relationship Id="rId15" Target="../media/image31.svg" Type="http://schemas.openxmlformats.org/officeDocument/2006/relationships/image"/><Relationship Id="rId16" Target="../media/image32.png" Type="http://schemas.openxmlformats.org/officeDocument/2006/relationships/image"/><Relationship Id="rId17" Target="../media/image33.svg" Type="http://schemas.openxmlformats.org/officeDocument/2006/relationships/image"/><Relationship Id="rId2" Target="../media/image18.png" Type="http://schemas.openxmlformats.org/officeDocument/2006/relationships/image"/><Relationship Id="rId3" Target="../media/image19.pn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png" Type="http://schemas.openxmlformats.org/officeDocument/2006/relationships/image"/><Relationship Id="rId4" Target="../media/image3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media/image39.png" Type="http://schemas.openxmlformats.org/officeDocument/2006/relationships/image"/><Relationship Id="rId4" Target="../media/image40.png" Type="http://schemas.openxmlformats.org/officeDocument/2006/relationships/image"/><Relationship Id="rId5" Target="../media/image41.png" Type="http://schemas.openxmlformats.org/officeDocument/2006/relationships/image"/><Relationship Id="rId6" Target="../media/image42.png" Type="http://schemas.openxmlformats.org/officeDocument/2006/relationships/image"/><Relationship Id="rId7" Target="../media/image43.png" Type="http://schemas.openxmlformats.org/officeDocument/2006/relationships/image"/><Relationship Id="rId8" Target="../media/image4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46.png" Type="http://schemas.openxmlformats.org/officeDocument/2006/relationships/image"/><Relationship Id="rId4" Target="../media/image47.jpeg" Type="http://schemas.openxmlformats.org/officeDocument/2006/relationships/image"/><Relationship Id="rId5" Target="../media/image4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jpeg" Type="http://schemas.openxmlformats.org/officeDocument/2006/relationships/image"/><Relationship Id="rId3" Target="../media/image5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2.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jpeg" Type="http://schemas.openxmlformats.org/officeDocument/2006/relationships/image"/><Relationship Id="rId3" Target="../media/image54.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jpeg" Type="http://schemas.openxmlformats.org/officeDocument/2006/relationships/image"/><Relationship Id="rId3" Target="../media/image55.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6.jpeg" Type="http://schemas.openxmlformats.org/officeDocument/2006/relationships/image"/><Relationship Id="rId3" Target="../media/image57.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8.jpeg" Type="http://schemas.openxmlformats.org/officeDocument/2006/relationships/image"/><Relationship Id="rId3" Target="../media/image51.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8.jpeg" Type="http://schemas.openxmlformats.org/officeDocument/2006/relationships/image"/><Relationship Id="rId3" Target="../media/image59.jpeg" Type="http://schemas.openxmlformats.org/officeDocument/2006/relationships/image"/><Relationship Id="rId4" Target="../media/image60.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1.jpeg" Type="http://schemas.openxmlformats.org/officeDocument/2006/relationships/image"/><Relationship Id="rId3" Target="../media/image62.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0.png" Type="http://schemas.openxmlformats.org/officeDocument/2006/relationships/image"/><Relationship Id="rId11" Target="../media/image71.svg" Type="http://schemas.openxmlformats.org/officeDocument/2006/relationships/image"/><Relationship Id="rId12" Target="../media/image72.png" Type="http://schemas.openxmlformats.org/officeDocument/2006/relationships/image"/><Relationship Id="rId13" Target="../media/image73.jpeg" Type="http://schemas.openxmlformats.org/officeDocument/2006/relationships/image"/><Relationship Id="rId14" Target="../media/image74.jpeg" Type="http://schemas.openxmlformats.org/officeDocument/2006/relationships/image"/><Relationship Id="rId15" Target="../media/image75.png" Type="http://schemas.openxmlformats.org/officeDocument/2006/relationships/image"/><Relationship Id="rId2" Target="../media/image63.png" Type="http://schemas.openxmlformats.org/officeDocument/2006/relationships/image"/><Relationship Id="rId3" Target="../media/image17.png" Type="http://schemas.openxmlformats.org/officeDocument/2006/relationships/image"/><Relationship Id="rId4" Target="../media/image64.png" Type="http://schemas.openxmlformats.org/officeDocument/2006/relationships/image"/><Relationship Id="rId5" Target="../media/image65.svg" Type="http://schemas.openxmlformats.org/officeDocument/2006/relationships/image"/><Relationship Id="rId6" Target="../media/image66.png" Type="http://schemas.openxmlformats.org/officeDocument/2006/relationships/image"/><Relationship Id="rId7" Target="../media/image67.svg" Type="http://schemas.openxmlformats.org/officeDocument/2006/relationships/image"/><Relationship Id="rId8" Target="../media/image68.png" Type="http://schemas.openxmlformats.org/officeDocument/2006/relationships/image"/><Relationship Id="rId9" Target="../media/image69.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4.svg" Type="http://schemas.openxmlformats.org/officeDocument/2006/relationships/image"/><Relationship Id="rId2" Target="../media/image76.png" Type="http://schemas.openxmlformats.org/officeDocument/2006/relationships/image"/><Relationship Id="rId3" Target="../media/image77.png" Type="http://schemas.openxmlformats.org/officeDocument/2006/relationships/image"/><Relationship Id="rId4" Target="../media/image78.svg" Type="http://schemas.openxmlformats.org/officeDocument/2006/relationships/image"/><Relationship Id="rId5" Target="../media/image79.png" Type="http://schemas.openxmlformats.org/officeDocument/2006/relationships/image"/><Relationship Id="rId6" Target="../media/image80.svg" Type="http://schemas.openxmlformats.org/officeDocument/2006/relationships/image"/><Relationship Id="rId7" Target="../media/image81.png" Type="http://schemas.openxmlformats.org/officeDocument/2006/relationships/image"/><Relationship Id="rId8" Target="../media/image82.svg" Type="http://schemas.openxmlformats.org/officeDocument/2006/relationships/image"/><Relationship Id="rId9" Target="../media/image83.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5.jpeg" Type="http://schemas.openxmlformats.org/officeDocument/2006/relationships/image"/><Relationship Id="rId2" Target="../media/image77.png" Type="http://schemas.openxmlformats.org/officeDocument/2006/relationships/image"/><Relationship Id="rId3" Target="../media/image78.svg" Type="http://schemas.openxmlformats.org/officeDocument/2006/relationships/image"/><Relationship Id="rId4" Target="../media/image79.png" Type="http://schemas.openxmlformats.org/officeDocument/2006/relationships/image"/><Relationship Id="rId5" Target="../media/image80.svg" Type="http://schemas.openxmlformats.org/officeDocument/2006/relationships/image"/><Relationship Id="rId6" Target="../media/image81.png" Type="http://schemas.openxmlformats.org/officeDocument/2006/relationships/image"/><Relationship Id="rId7" Target="../media/image82.svg" Type="http://schemas.openxmlformats.org/officeDocument/2006/relationships/image"/><Relationship Id="rId8" Target="../media/image83.png" Type="http://schemas.openxmlformats.org/officeDocument/2006/relationships/image"/><Relationship Id="rId9" Target="../media/image84.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7.png" Type="http://schemas.openxmlformats.org/officeDocument/2006/relationships/image"/><Relationship Id="rId3" Target="../media/image78.svg" Type="http://schemas.openxmlformats.org/officeDocument/2006/relationships/image"/><Relationship Id="rId4" Target="../media/image79.png" Type="http://schemas.openxmlformats.org/officeDocument/2006/relationships/image"/><Relationship Id="rId5" Target="../media/image80.svg" Type="http://schemas.openxmlformats.org/officeDocument/2006/relationships/image"/><Relationship Id="rId6" Target="../media/image86.jpe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7.png" Type="http://schemas.openxmlformats.org/officeDocument/2006/relationships/image"/><Relationship Id="rId3" Target="../media/image78.svg" Type="http://schemas.openxmlformats.org/officeDocument/2006/relationships/image"/><Relationship Id="rId4" Target="../media/image79.png" Type="http://schemas.openxmlformats.org/officeDocument/2006/relationships/image"/><Relationship Id="rId5" Target="../media/image80.svg" Type="http://schemas.openxmlformats.org/officeDocument/2006/relationships/image"/><Relationship Id="rId6" Target="../media/image87.jpe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8.png" Type="http://schemas.openxmlformats.org/officeDocument/2006/relationships/image"/><Relationship Id="rId3" Target="../media/image89.png" Type="http://schemas.openxmlformats.org/officeDocument/2006/relationships/image"/><Relationship Id="rId4" Target="https://www.linkedin.com/in/iiahmedzaki/" TargetMode="External" Type="http://schemas.openxmlformats.org/officeDocument/2006/relationships/hyperlink"/><Relationship Id="rId5" Target="mailto:iahmedzaki10@gmail.com" TargetMode="External" Type="http://schemas.openxmlformats.org/officeDocument/2006/relationships/hyperlink"/><Relationship Id="rId6" Target="../media/image9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grpSp>
        <p:nvGrpSpPr>
          <p:cNvPr name="Group 2" id="2"/>
          <p:cNvGrpSpPr/>
          <p:nvPr/>
        </p:nvGrpSpPr>
        <p:grpSpPr>
          <a:xfrm rot="0">
            <a:off x="-696258" y="-450527"/>
            <a:ext cx="19680517" cy="1704491"/>
            <a:chOff x="0" y="0"/>
            <a:chExt cx="5183346" cy="448919"/>
          </a:xfrm>
        </p:grpSpPr>
        <p:sp>
          <p:nvSpPr>
            <p:cNvPr name="Freeform 3" id="3"/>
            <p:cNvSpPr/>
            <p:nvPr/>
          </p:nvSpPr>
          <p:spPr>
            <a:xfrm flipH="false" flipV="false" rot="0">
              <a:off x="0" y="0"/>
              <a:ext cx="5183346" cy="448919"/>
            </a:xfrm>
            <a:custGeom>
              <a:avLst/>
              <a:gdLst/>
              <a:ahLst/>
              <a:cxnLst/>
              <a:rect r="r" b="b" t="t" l="l"/>
              <a:pathLst>
                <a:path h="448919" w="5183346">
                  <a:moveTo>
                    <a:pt x="0" y="0"/>
                  </a:moveTo>
                  <a:lnTo>
                    <a:pt x="5183346" y="0"/>
                  </a:lnTo>
                  <a:lnTo>
                    <a:pt x="5183346" y="448919"/>
                  </a:lnTo>
                  <a:lnTo>
                    <a:pt x="0" y="448919"/>
                  </a:lnTo>
                  <a:close/>
                </a:path>
              </a:pathLst>
            </a:custGeom>
            <a:solidFill>
              <a:srgbClr val="0003FF"/>
            </a:solidFill>
          </p:spPr>
        </p:sp>
        <p:sp>
          <p:nvSpPr>
            <p:cNvPr name="TextBox 4" id="4"/>
            <p:cNvSpPr txBox="true"/>
            <p:nvPr/>
          </p:nvSpPr>
          <p:spPr>
            <a:xfrm>
              <a:off x="0" y="-57150"/>
              <a:ext cx="5183346" cy="506069"/>
            </a:xfrm>
            <a:prstGeom prst="rect">
              <a:avLst/>
            </a:prstGeom>
          </p:spPr>
          <p:txBody>
            <a:bodyPr anchor="ctr" rtlCol="false" tIns="50800" lIns="50800" bIns="50800" rIns="50800"/>
            <a:lstStyle/>
            <a:p>
              <a:pPr algn="ctr">
                <a:lnSpc>
                  <a:spcPts val="3639"/>
                </a:lnSpc>
              </a:pPr>
            </a:p>
          </p:txBody>
        </p:sp>
      </p:grpSp>
      <p:sp>
        <p:nvSpPr>
          <p:cNvPr name="Freeform 5" id="5"/>
          <p:cNvSpPr/>
          <p:nvPr/>
        </p:nvSpPr>
        <p:spPr>
          <a:xfrm flipH="false" flipV="false" rot="0">
            <a:off x="0" y="353946"/>
            <a:ext cx="3128904" cy="1349509"/>
          </a:xfrm>
          <a:custGeom>
            <a:avLst/>
            <a:gdLst/>
            <a:ahLst/>
            <a:cxnLst/>
            <a:rect r="r" b="b" t="t" l="l"/>
            <a:pathLst>
              <a:path h="1349509" w="3128904">
                <a:moveTo>
                  <a:pt x="0" y="0"/>
                </a:moveTo>
                <a:lnTo>
                  <a:pt x="3128904" y="0"/>
                </a:lnTo>
                <a:lnTo>
                  <a:pt x="3128904" y="1349508"/>
                </a:lnTo>
                <a:lnTo>
                  <a:pt x="0" y="1349508"/>
                </a:lnTo>
                <a:lnTo>
                  <a:pt x="0" y="0"/>
                </a:lnTo>
                <a:close/>
              </a:path>
            </a:pathLst>
          </a:custGeom>
          <a:blipFill>
            <a:blip r:embed="rId2"/>
            <a:stretch>
              <a:fillRect l="0" t="-26367" r="0" b="-26367"/>
            </a:stretch>
          </a:blipFill>
        </p:spPr>
      </p:sp>
      <p:sp>
        <p:nvSpPr>
          <p:cNvPr name="TextBox 6" id="6"/>
          <p:cNvSpPr txBox="true"/>
          <p:nvPr/>
        </p:nvSpPr>
        <p:spPr>
          <a:xfrm rot="0">
            <a:off x="1269925" y="3480934"/>
            <a:ext cx="13092704" cy="3200970"/>
          </a:xfrm>
          <a:prstGeom prst="rect">
            <a:avLst/>
          </a:prstGeom>
        </p:spPr>
        <p:txBody>
          <a:bodyPr anchor="t" rtlCol="false" tIns="0" lIns="0" bIns="0" rIns="0">
            <a:spAutoFit/>
          </a:bodyPr>
          <a:lstStyle/>
          <a:p>
            <a:pPr algn="l">
              <a:lnSpc>
                <a:spcPts val="12218"/>
              </a:lnSpc>
            </a:pPr>
            <a:r>
              <a:rPr lang="en-US" b="true" sz="12998" spc="-636">
                <a:solidFill>
                  <a:srgbClr val="343434"/>
                </a:solidFill>
                <a:latin typeface="TT Hoves Bold"/>
                <a:ea typeface="TT Hoves Bold"/>
                <a:cs typeface="TT Hoves Bold"/>
                <a:sym typeface="TT Hoves Bold"/>
              </a:rPr>
              <a:t>Adventure Works end to end </a:t>
            </a:r>
          </a:p>
        </p:txBody>
      </p:sp>
      <p:sp>
        <p:nvSpPr>
          <p:cNvPr name="TextBox 7" id="7"/>
          <p:cNvSpPr txBox="true"/>
          <p:nvPr/>
        </p:nvSpPr>
        <p:spPr>
          <a:xfrm rot="0">
            <a:off x="2670558" y="6767629"/>
            <a:ext cx="8459795" cy="578026"/>
          </a:xfrm>
          <a:prstGeom prst="rect">
            <a:avLst/>
          </a:prstGeom>
        </p:spPr>
        <p:txBody>
          <a:bodyPr anchor="t" rtlCol="false" tIns="0" lIns="0" bIns="0" rIns="0">
            <a:spAutoFit/>
          </a:bodyPr>
          <a:lstStyle/>
          <a:p>
            <a:pPr algn="l">
              <a:lnSpc>
                <a:spcPts val="4381"/>
              </a:lnSpc>
            </a:pPr>
            <a:r>
              <a:rPr lang="en-US" sz="4381" spc="-87">
                <a:solidFill>
                  <a:srgbClr val="343434"/>
                </a:solidFill>
                <a:latin typeface="TT Hoves"/>
                <a:ea typeface="TT Hoves"/>
                <a:cs typeface="TT Hoves"/>
                <a:sym typeface="TT Hoves"/>
              </a:rPr>
              <a:t>Presented by Ahmed Zaki</a:t>
            </a:r>
          </a:p>
        </p:txBody>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343434"/>
                </a:solidFill>
                <a:latin typeface="Canva Sans"/>
                <a:ea typeface="Canva Sans"/>
                <a:cs typeface="Canva Sans"/>
                <a:sym typeface="Canva Sans"/>
              </a:rPr>
              <a:t>1</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1028700" y="857250"/>
            <a:ext cx="9860946" cy="1076325"/>
          </a:xfrm>
          <a:prstGeom prst="rect">
            <a:avLst/>
          </a:prstGeom>
        </p:spPr>
        <p:txBody>
          <a:bodyPr anchor="t" rtlCol="false" tIns="0" lIns="0" bIns="0" rIns="0">
            <a:spAutoFit/>
          </a:bodyPr>
          <a:lstStyle/>
          <a:p>
            <a:pPr algn="l" marL="0" indent="0" lvl="0">
              <a:lnSpc>
                <a:spcPts val="7199"/>
              </a:lnSpc>
            </a:pPr>
            <a:r>
              <a:rPr lang="en-US" b="true" sz="5999">
                <a:solidFill>
                  <a:srgbClr val="000000"/>
                </a:solidFill>
                <a:latin typeface="Agrandir Medium"/>
                <a:ea typeface="Agrandir Medium"/>
                <a:cs typeface="Agrandir Medium"/>
                <a:sym typeface="Agrandir Medium"/>
              </a:rPr>
              <a:t>Project Agenda</a:t>
            </a:r>
          </a:p>
        </p:txBody>
      </p:sp>
      <p:sp>
        <p:nvSpPr>
          <p:cNvPr name="TextBox 3" id="3"/>
          <p:cNvSpPr txBox="true"/>
          <p:nvPr/>
        </p:nvSpPr>
        <p:spPr>
          <a:xfrm rot="0">
            <a:off x="1028700" y="4122871"/>
            <a:ext cx="2791332" cy="445008"/>
          </a:xfrm>
          <a:prstGeom prst="rect">
            <a:avLst/>
          </a:prstGeom>
        </p:spPr>
        <p:txBody>
          <a:bodyPr anchor="t" rtlCol="false" tIns="0" lIns="0" bIns="0" rIns="0">
            <a:spAutoFit/>
          </a:bodyPr>
          <a:lstStyle/>
          <a:p>
            <a:pPr algn="l" marL="0" indent="0" lvl="0">
              <a:lnSpc>
                <a:spcPts val="2976"/>
              </a:lnSpc>
              <a:spcBef>
                <a:spcPct val="0"/>
              </a:spcBef>
            </a:pPr>
            <a:r>
              <a:rPr lang="en-US" b="true" sz="2400">
                <a:solidFill>
                  <a:srgbClr val="000000"/>
                </a:solidFill>
                <a:latin typeface="Agrandir Medium"/>
                <a:ea typeface="Agrandir Medium"/>
                <a:cs typeface="Agrandir Medium"/>
                <a:sym typeface="Agrandir Medium"/>
              </a:rPr>
              <a:t>Intro &amp; overview </a:t>
            </a:r>
          </a:p>
        </p:txBody>
      </p:sp>
      <p:grpSp>
        <p:nvGrpSpPr>
          <p:cNvPr name="Group 4" id="4"/>
          <p:cNvGrpSpPr/>
          <p:nvPr/>
        </p:nvGrpSpPr>
        <p:grpSpPr>
          <a:xfrm rot="0">
            <a:off x="1028700" y="3496537"/>
            <a:ext cx="445749" cy="445749"/>
            <a:chOff x="0" y="0"/>
            <a:chExt cx="594331" cy="594331"/>
          </a:xfrm>
        </p:grpSpPr>
        <p:grpSp>
          <p:nvGrpSpPr>
            <p:cNvPr name="Group 5" id="5"/>
            <p:cNvGrpSpPr/>
            <p:nvPr/>
          </p:nvGrpSpPr>
          <p:grpSpPr>
            <a:xfrm rot="0">
              <a:off x="0" y="0"/>
              <a:ext cx="594331" cy="594331"/>
              <a:chOff x="0" y="0"/>
              <a:chExt cx="6350000" cy="6350000"/>
            </a:xfrm>
          </p:grpSpPr>
          <p:sp>
            <p:nvSpPr>
              <p:cNvPr name="Freeform 6" id="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B3B5A"/>
              </a:solidFill>
            </p:spPr>
          </p:sp>
        </p:grpSp>
        <p:sp>
          <p:nvSpPr>
            <p:cNvPr name="TextBox 7" id="7"/>
            <p:cNvSpPr txBox="true"/>
            <p:nvPr/>
          </p:nvSpPr>
          <p:spPr>
            <a:xfrm rot="0">
              <a:off x="90835" y="53466"/>
              <a:ext cx="412661" cy="473022"/>
            </a:xfrm>
            <a:prstGeom prst="rect">
              <a:avLst/>
            </a:prstGeom>
          </p:spPr>
          <p:txBody>
            <a:bodyPr anchor="t" rtlCol="false" tIns="0" lIns="0" bIns="0" rIns="0">
              <a:spAutoFit/>
            </a:bodyPr>
            <a:lstStyle/>
            <a:p>
              <a:pPr algn="ctr" marL="0" indent="0" lvl="0">
                <a:lnSpc>
                  <a:spcPts val="2480"/>
                </a:lnSpc>
                <a:spcBef>
                  <a:spcPct val="0"/>
                </a:spcBef>
              </a:pPr>
              <a:r>
                <a:rPr lang="en-US" b="true" sz="2000">
                  <a:solidFill>
                    <a:srgbClr val="FFFFFF"/>
                  </a:solidFill>
                  <a:latin typeface="Agrandir Medium"/>
                  <a:ea typeface="Agrandir Medium"/>
                  <a:cs typeface="Agrandir Medium"/>
                  <a:sym typeface="Agrandir Medium"/>
                </a:rPr>
                <a:t>1</a:t>
              </a:r>
            </a:p>
          </p:txBody>
        </p:sp>
      </p:grpSp>
      <p:grpSp>
        <p:nvGrpSpPr>
          <p:cNvPr name="Group 8" id="8"/>
          <p:cNvGrpSpPr/>
          <p:nvPr/>
        </p:nvGrpSpPr>
        <p:grpSpPr>
          <a:xfrm rot="0">
            <a:off x="4388517" y="3496537"/>
            <a:ext cx="445749" cy="445749"/>
            <a:chOff x="0" y="0"/>
            <a:chExt cx="594331" cy="594331"/>
          </a:xfrm>
        </p:grpSpPr>
        <p:grpSp>
          <p:nvGrpSpPr>
            <p:cNvPr name="Group 9" id="9"/>
            <p:cNvGrpSpPr/>
            <p:nvPr/>
          </p:nvGrpSpPr>
          <p:grpSpPr>
            <a:xfrm rot="0">
              <a:off x="0" y="0"/>
              <a:ext cx="594331" cy="594331"/>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B3B5A"/>
              </a:solidFill>
            </p:spPr>
          </p:sp>
        </p:grpSp>
        <p:sp>
          <p:nvSpPr>
            <p:cNvPr name="TextBox 11" id="11"/>
            <p:cNvSpPr txBox="true"/>
            <p:nvPr/>
          </p:nvSpPr>
          <p:spPr>
            <a:xfrm rot="0">
              <a:off x="90835" y="53466"/>
              <a:ext cx="412661" cy="473022"/>
            </a:xfrm>
            <a:prstGeom prst="rect">
              <a:avLst/>
            </a:prstGeom>
          </p:spPr>
          <p:txBody>
            <a:bodyPr anchor="t" rtlCol="false" tIns="0" lIns="0" bIns="0" rIns="0">
              <a:spAutoFit/>
            </a:bodyPr>
            <a:lstStyle/>
            <a:p>
              <a:pPr algn="ctr" marL="0" indent="0" lvl="0">
                <a:lnSpc>
                  <a:spcPts val="2480"/>
                </a:lnSpc>
                <a:spcBef>
                  <a:spcPct val="0"/>
                </a:spcBef>
              </a:pPr>
              <a:r>
                <a:rPr lang="en-US" b="true" sz="2000">
                  <a:solidFill>
                    <a:srgbClr val="FFFFFF"/>
                  </a:solidFill>
                  <a:latin typeface="Agrandir Medium"/>
                  <a:ea typeface="Agrandir Medium"/>
                  <a:cs typeface="Agrandir Medium"/>
                  <a:sym typeface="Agrandir Medium"/>
                </a:rPr>
                <a:t>2</a:t>
              </a:r>
            </a:p>
          </p:txBody>
        </p:sp>
      </p:grpSp>
      <p:grpSp>
        <p:nvGrpSpPr>
          <p:cNvPr name="Group 12" id="12"/>
          <p:cNvGrpSpPr/>
          <p:nvPr/>
        </p:nvGrpSpPr>
        <p:grpSpPr>
          <a:xfrm rot="0">
            <a:off x="7748916" y="3496537"/>
            <a:ext cx="445749" cy="445749"/>
            <a:chOff x="0" y="0"/>
            <a:chExt cx="594331" cy="594331"/>
          </a:xfrm>
        </p:grpSpPr>
        <p:grpSp>
          <p:nvGrpSpPr>
            <p:cNvPr name="Group 13" id="13"/>
            <p:cNvGrpSpPr/>
            <p:nvPr/>
          </p:nvGrpSpPr>
          <p:grpSpPr>
            <a:xfrm rot="0">
              <a:off x="0" y="0"/>
              <a:ext cx="594331" cy="594331"/>
              <a:chOff x="0" y="0"/>
              <a:chExt cx="6350000" cy="6350000"/>
            </a:xfrm>
          </p:grpSpPr>
          <p:sp>
            <p:nvSpPr>
              <p:cNvPr name="Freeform 14" id="1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B3B5A"/>
              </a:solidFill>
            </p:spPr>
          </p:sp>
        </p:grpSp>
        <p:sp>
          <p:nvSpPr>
            <p:cNvPr name="TextBox 15" id="15"/>
            <p:cNvSpPr txBox="true"/>
            <p:nvPr/>
          </p:nvSpPr>
          <p:spPr>
            <a:xfrm rot="0">
              <a:off x="90835" y="53466"/>
              <a:ext cx="412661" cy="473022"/>
            </a:xfrm>
            <a:prstGeom prst="rect">
              <a:avLst/>
            </a:prstGeom>
          </p:spPr>
          <p:txBody>
            <a:bodyPr anchor="t" rtlCol="false" tIns="0" lIns="0" bIns="0" rIns="0">
              <a:spAutoFit/>
            </a:bodyPr>
            <a:lstStyle/>
            <a:p>
              <a:pPr algn="ctr" marL="0" indent="0" lvl="0">
                <a:lnSpc>
                  <a:spcPts val="2480"/>
                </a:lnSpc>
                <a:spcBef>
                  <a:spcPct val="0"/>
                </a:spcBef>
              </a:pPr>
              <a:r>
                <a:rPr lang="en-US" b="true" sz="2000">
                  <a:solidFill>
                    <a:srgbClr val="FFFFFF"/>
                  </a:solidFill>
                  <a:latin typeface="Agrandir Medium"/>
                  <a:ea typeface="Agrandir Medium"/>
                  <a:cs typeface="Agrandir Medium"/>
                  <a:sym typeface="Agrandir Medium"/>
                </a:rPr>
                <a:t>3</a:t>
              </a:r>
            </a:p>
          </p:txBody>
        </p:sp>
      </p:grpSp>
      <p:grpSp>
        <p:nvGrpSpPr>
          <p:cNvPr name="Group 16" id="16"/>
          <p:cNvGrpSpPr/>
          <p:nvPr/>
        </p:nvGrpSpPr>
        <p:grpSpPr>
          <a:xfrm rot="0">
            <a:off x="11489584" y="3496537"/>
            <a:ext cx="445749" cy="445749"/>
            <a:chOff x="0" y="0"/>
            <a:chExt cx="594331" cy="594331"/>
          </a:xfrm>
        </p:grpSpPr>
        <p:grpSp>
          <p:nvGrpSpPr>
            <p:cNvPr name="Group 17" id="17"/>
            <p:cNvGrpSpPr/>
            <p:nvPr/>
          </p:nvGrpSpPr>
          <p:grpSpPr>
            <a:xfrm rot="0">
              <a:off x="0" y="0"/>
              <a:ext cx="594331" cy="594331"/>
              <a:chOff x="0" y="0"/>
              <a:chExt cx="6350000" cy="6350000"/>
            </a:xfrm>
          </p:grpSpPr>
          <p:sp>
            <p:nvSpPr>
              <p:cNvPr name="Freeform 18" id="1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B3B5A"/>
              </a:solidFill>
            </p:spPr>
          </p:sp>
        </p:grpSp>
        <p:sp>
          <p:nvSpPr>
            <p:cNvPr name="TextBox 19" id="19"/>
            <p:cNvSpPr txBox="true"/>
            <p:nvPr/>
          </p:nvSpPr>
          <p:spPr>
            <a:xfrm rot="0">
              <a:off x="90835" y="53466"/>
              <a:ext cx="412661" cy="473022"/>
            </a:xfrm>
            <a:prstGeom prst="rect">
              <a:avLst/>
            </a:prstGeom>
          </p:spPr>
          <p:txBody>
            <a:bodyPr anchor="t" rtlCol="false" tIns="0" lIns="0" bIns="0" rIns="0">
              <a:spAutoFit/>
            </a:bodyPr>
            <a:lstStyle/>
            <a:p>
              <a:pPr algn="ctr" marL="0" indent="0" lvl="0">
                <a:lnSpc>
                  <a:spcPts val="2480"/>
                </a:lnSpc>
                <a:spcBef>
                  <a:spcPct val="0"/>
                </a:spcBef>
              </a:pPr>
              <a:r>
                <a:rPr lang="en-US" b="true" sz="2000">
                  <a:solidFill>
                    <a:srgbClr val="FFFFFF"/>
                  </a:solidFill>
                  <a:latin typeface="Agrandir Medium"/>
                  <a:ea typeface="Agrandir Medium"/>
                  <a:cs typeface="Agrandir Medium"/>
                  <a:sym typeface="Agrandir Medium"/>
                </a:rPr>
                <a:t>4</a:t>
              </a:r>
            </a:p>
          </p:txBody>
        </p:sp>
      </p:grpSp>
      <p:grpSp>
        <p:nvGrpSpPr>
          <p:cNvPr name="Group 20" id="20"/>
          <p:cNvGrpSpPr/>
          <p:nvPr/>
        </p:nvGrpSpPr>
        <p:grpSpPr>
          <a:xfrm rot="0">
            <a:off x="4611391" y="6297872"/>
            <a:ext cx="445749" cy="445749"/>
            <a:chOff x="0" y="0"/>
            <a:chExt cx="594331" cy="594331"/>
          </a:xfrm>
        </p:grpSpPr>
        <p:grpSp>
          <p:nvGrpSpPr>
            <p:cNvPr name="Group 21" id="21"/>
            <p:cNvGrpSpPr/>
            <p:nvPr/>
          </p:nvGrpSpPr>
          <p:grpSpPr>
            <a:xfrm rot="0">
              <a:off x="0" y="0"/>
              <a:ext cx="594331" cy="594331"/>
              <a:chOff x="0" y="0"/>
              <a:chExt cx="6350000" cy="6350000"/>
            </a:xfrm>
          </p:grpSpPr>
          <p:sp>
            <p:nvSpPr>
              <p:cNvPr name="Freeform 22" id="2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B3B5A"/>
              </a:solidFill>
            </p:spPr>
          </p:sp>
        </p:grpSp>
        <p:sp>
          <p:nvSpPr>
            <p:cNvPr name="TextBox 23" id="23"/>
            <p:cNvSpPr txBox="true"/>
            <p:nvPr/>
          </p:nvSpPr>
          <p:spPr>
            <a:xfrm rot="0">
              <a:off x="90835" y="53466"/>
              <a:ext cx="412661" cy="473022"/>
            </a:xfrm>
            <a:prstGeom prst="rect">
              <a:avLst/>
            </a:prstGeom>
          </p:spPr>
          <p:txBody>
            <a:bodyPr anchor="t" rtlCol="false" tIns="0" lIns="0" bIns="0" rIns="0">
              <a:spAutoFit/>
            </a:bodyPr>
            <a:lstStyle/>
            <a:p>
              <a:pPr algn="ctr" marL="0" indent="0" lvl="0">
                <a:lnSpc>
                  <a:spcPts val="2480"/>
                </a:lnSpc>
                <a:spcBef>
                  <a:spcPct val="0"/>
                </a:spcBef>
              </a:pPr>
              <a:r>
                <a:rPr lang="en-US" b="true" sz="2000">
                  <a:solidFill>
                    <a:srgbClr val="FFFFFF"/>
                  </a:solidFill>
                  <a:latin typeface="Agrandir Medium"/>
                  <a:ea typeface="Agrandir Medium"/>
                  <a:cs typeface="Agrandir Medium"/>
                  <a:sym typeface="Agrandir Medium"/>
                </a:rPr>
                <a:t>5</a:t>
              </a:r>
            </a:p>
          </p:txBody>
        </p:sp>
      </p:grpSp>
      <p:sp>
        <p:nvSpPr>
          <p:cNvPr name="TextBox 24" id="24"/>
          <p:cNvSpPr txBox="true"/>
          <p:nvPr/>
        </p:nvSpPr>
        <p:spPr>
          <a:xfrm rot="0">
            <a:off x="7748916" y="4073231"/>
            <a:ext cx="2791332" cy="445008"/>
          </a:xfrm>
          <a:prstGeom prst="rect">
            <a:avLst/>
          </a:prstGeom>
        </p:spPr>
        <p:txBody>
          <a:bodyPr anchor="t" rtlCol="false" tIns="0" lIns="0" bIns="0" rIns="0">
            <a:spAutoFit/>
          </a:bodyPr>
          <a:lstStyle/>
          <a:p>
            <a:pPr algn="l" marL="0" indent="0" lvl="0">
              <a:lnSpc>
                <a:spcPts val="2976"/>
              </a:lnSpc>
              <a:spcBef>
                <a:spcPct val="0"/>
              </a:spcBef>
            </a:pPr>
            <a:r>
              <a:rPr lang="en-US" b="true" sz="2400">
                <a:solidFill>
                  <a:srgbClr val="000000"/>
                </a:solidFill>
                <a:latin typeface="Agrandir Medium"/>
                <a:ea typeface="Agrandir Medium"/>
                <a:cs typeface="Agrandir Medium"/>
                <a:sym typeface="Agrandir Medium"/>
              </a:rPr>
              <a:t>Project Goals</a:t>
            </a:r>
          </a:p>
        </p:txBody>
      </p:sp>
      <p:sp>
        <p:nvSpPr>
          <p:cNvPr name="TextBox 25" id="25"/>
          <p:cNvSpPr txBox="true"/>
          <p:nvPr/>
        </p:nvSpPr>
        <p:spPr>
          <a:xfrm rot="0">
            <a:off x="4611391" y="4116775"/>
            <a:ext cx="2791332" cy="816483"/>
          </a:xfrm>
          <a:prstGeom prst="rect">
            <a:avLst/>
          </a:prstGeom>
        </p:spPr>
        <p:txBody>
          <a:bodyPr anchor="t" rtlCol="false" tIns="0" lIns="0" bIns="0" rIns="0">
            <a:spAutoFit/>
          </a:bodyPr>
          <a:lstStyle/>
          <a:p>
            <a:pPr algn="l" marL="0" indent="0" lvl="0">
              <a:lnSpc>
                <a:spcPts val="2976"/>
              </a:lnSpc>
              <a:spcBef>
                <a:spcPct val="0"/>
              </a:spcBef>
            </a:pPr>
            <a:r>
              <a:rPr lang="en-US" b="true" sz="2400">
                <a:solidFill>
                  <a:srgbClr val="000000"/>
                </a:solidFill>
                <a:latin typeface="Agrandir Medium"/>
                <a:ea typeface="Agrandir Medium"/>
                <a:cs typeface="Agrandir Medium"/>
                <a:sym typeface="Agrandir Medium"/>
              </a:rPr>
              <a:t>Explain the problem</a:t>
            </a:r>
          </a:p>
        </p:txBody>
      </p:sp>
      <p:sp>
        <p:nvSpPr>
          <p:cNvPr name="TextBox 26" id="26"/>
          <p:cNvSpPr txBox="true"/>
          <p:nvPr/>
        </p:nvSpPr>
        <p:spPr>
          <a:xfrm rot="0">
            <a:off x="11489584" y="4073231"/>
            <a:ext cx="2791332" cy="445008"/>
          </a:xfrm>
          <a:prstGeom prst="rect">
            <a:avLst/>
          </a:prstGeom>
        </p:spPr>
        <p:txBody>
          <a:bodyPr anchor="t" rtlCol="false" tIns="0" lIns="0" bIns="0" rIns="0">
            <a:spAutoFit/>
          </a:bodyPr>
          <a:lstStyle/>
          <a:p>
            <a:pPr algn="l" marL="0" indent="0" lvl="0">
              <a:lnSpc>
                <a:spcPts val="2976"/>
              </a:lnSpc>
              <a:spcBef>
                <a:spcPct val="0"/>
              </a:spcBef>
            </a:pPr>
            <a:r>
              <a:rPr lang="en-US" b="true" sz="2400">
                <a:solidFill>
                  <a:srgbClr val="000000"/>
                </a:solidFill>
                <a:latin typeface="Agrandir Medium"/>
                <a:ea typeface="Agrandir Medium"/>
                <a:cs typeface="Agrandir Medium"/>
                <a:sym typeface="Agrandir Medium"/>
              </a:rPr>
              <a:t>Creation Process</a:t>
            </a:r>
          </a:p>
        </p:txBody>
      </p:sp>
      <p:sp>
        <p:nvSpPr>
          <p:cNvPr name="TextBox 27" id="27"/>
          <p:cNvSpPr txBox="true"/>
          <p:nvPr/>
        </p:nvSpPr>
        <p:spPr>
          <a:xfrm rot="0">
            <a:off x="4834266" y="6915071"/>
            <a:ext cx="2791332" cy="1187958"/>
          </a:xfrm>
          <a:prstGeom prst="rect">
            <a:avLst/>
          </a:prstGeom>
        </p:spPr>
        <p:txBody>
          <a:bodyPr anchor="t" rtlCol="false" tIns="0" lIns="0" bIns="0" rIns="0">
            <a:spAutoFit/>
          </a:bodyPr>
          <a:lstStyle/>
          <a:p>
            <a:pPr algn="l" marL="0" indent="0" lvl="0">
              <a:lnSpc>
                <a:spcPts val="2976"/>
              </a:lnSpc>
              <a:spcBef>
                <a:spcPct val="0"/>
              </a:spcBef>
            </a:pPr>
            <a:r>
              <a:rPr lang="en-US" sz="2400">
                <a:solidFill>
                  <a:srgbClr val="000000"/>
                </a:solidFill>
                <a:latin typeface="Agrandir"/>
                <a:ea typeface="Agrandir"/>
                <a:cs typeface="Agrandir"/>
                <a:sym typeface="Agrandir"/>
              </a:rPr>
              <a:t>Phase 1 (Photos and every thing about this phase)</a:t>
            </a:r>
          </a:p>
        </p:txBody>
      </p:sp>
      <p:sp>
        <p:nvSpPr>
          <p:cNvPr name="TextBox 28" id="2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a:t>
            </a:r>
          </a:p>
        </p:txBody>
      </p:sp>
      <p:grpSp>
        <p:nvGrpSpPr>
          <p:cNvPr name="Group 29" id="29"/>
          <p:cNvGrpSpPr/>
          <p:nvPr/>
        </p:nvGrpSpPr>
        <p:grpSpPr>
          <a:xfrm rot="0">
            <a:off x="11266709" y="6298467"/>
            <a:ext cx="445749" cy="445153"/>
            <a:chOff x="0" y="0"/>
            <a:chExt cx="594331" cy="593538"/>
          </a:xfrm>
        </p:grpSpPr>
        <p:grpSp>
          <p:nvGrpSpPr>
            <p:cNvPr name="Group 30" id="30"/>
            <p:cNvGrpSpPr/>
            <p:nvPr/>
          </p:nvGrpSpPr>
          <p:grpSpPr>
            <a:xfrm rot="0">
              <a:off x="0" y="0"/>
              <a:ext cx="594331" cy="593538"/>
              <a:chOff x="0" y="0"/>
              <a:chExt cx="6350000" cy="6341519"/>
            </a:xfrm>
          </p:grpSpPr>
          <p:sp>
            <p:nvSpPr>
              <p:cNvPr name="Freeform 31" id="31"/>
              <p:cNvSpPr/>
              <p:nvPr/>
            </p:nvSpPr>
            <p:spPr>
              <a:xfrm flipH="false" flipV="false" rot="0">
                <a:off x="0" y="0"/>
                <a:ext cx="6350000" cy="6341520"/>
              </a:xfrm>
              <a:custGeom>
                <a:avLst/>
                <a:gdLst/>
                <a:ahLst/>
                <a:cxnLst/>
                <a:rect r="r" b="b" t="t" l="l"/>
                <a:pathLst>
                  <a:path h="6341520" w="6350000">
                    <a:moveTo>
                      <a:pt x="3175000" y="0"/>
                    </a:moveTo>
                    <a:cubicBezTo>
                      <a:pt x="1421496" y="0"/>
                      <a:pt x="0" y="1419597"/>
                      <a:pt x="0" y="3170760"/>
                    </a:cubicBezTo>
                    <a:cubicBezTo>
                      <a:pt x="0" y="4921922"/>
                      <a:pt x="1421496" y="6341520"/>
                      <a:pt x="3175000" y="6341520"/>
                    </a:cubicBezTo>
                    <a:cubicBezTo>
                      <a:pt x="4928504" y="6341520"/>
                      <a:pt x="6350000" y="4921922"/>
                      <a:pt x="6350000" y="3170760"/>
                    </a:cubicBezTo>
                    <a:cubicBezTo>
                      <a:pt x="6350000" y="1419597"/>
                      <a:pt x="4928504" y="0"/>
                      <a:pt x="3175000" y="0"/>
                    </a:cubicBezTo>
                    <a:close/>
                  </a:path>
                </a:pathLst>
              </a:custGeom>
              <a:solidFill>
                <a:srgbClr val="EB3B5A"/>
              </a:solidFill>
            </p:spPr>
          </p:sp>
        </p:grpSp>
        <p:sp>
          <p:nvSpPr>
            <p:cNvPr name="TextBox 32" id="32"/>
            <p:cNvSpPr txBox="true"/>
            <p:nvPr/>
          </p:nvSpPr>
          <p:spPr>
            <a:xfrm rot="0">
              <a:off x="90835" y="53466"/>
              <a:ext cx="412661" cy="472228"/>
            </a:xfrm>
            <a:prstGeom prst="rect">
              <a:avLst/>
            </a:prstGeom>
          </p:spPr>
          <p:txBody>
            <a:bodyPr anchor="t" rtlCol="false" tIns="0" lIns="0" bIns="0" rIns="0">
              <a:spAutoFit/>
            </a:bodyPr>
            <a:lstStyle/>
            <a:p>
              <a:pPr algn="ctr" marL="0" indent="0" lvl="0">
                <a:lnSpc>
                  <a:spcPts val="2480"/>
                </a:lnSpc>
                <a:spcBef>
                  <a:spcPct val="0"/>
                </a:spcBef>
              </a:pPr>
              <a:r>
                <a:rPr lang="en-US" b="true" sz="2000">
                  <a:solidFill>
                    <a:srgbClr val="FFFFFF"/>
                  </a:solidFill>
                  <a:latin typeface="Agrandir Medium"/>
                  <a:ea typeface="Agrandir Medium"/>
                  <a:cs typeface="Agrandir Medium"/>
                  <a:sym typeface="Agrandir Medium"/>
                </a:rPr>
                <a:t>6</a:t>
              </a:r>
            </a:p>
          </p:txBody>
        </p:sp>
      </p:grpSp>
      <p:sp>
        <p:nvSpPr>
          <p:cNvPr name="TextBox 33" id="33"/>
          <p:cNvSpPr txBox="true"/>
          <p:nvPr/>
        </p:nvSpPr>
        <p:spPr>
          <a:xfrm rot="0">
            <a:off x="11205761" y="6876971"/>
            <a:ext cx="2620685" cy="481965"/>
          </a:xfrm>
          <a:prstGeom prst="rect">
            <a:avLst/>
          </a:prstGeom>
        </p:spPr>
        <p:txBody>
          <a:bodyPr anchor="t" rtlCol="false" tIns="0" lIns="0" bIns="0" rIns="0">
            <a:spAutoFit/>
          </a:bodyPr>
          <a:lstStyle/>
          <a:p>
            <a:pPr algn="ctr">
              <a:lnSpc>
                <a:spcPts val="3359"/>
              </a:lnSpc>
              <a:spcBef>
                <a:spcPct val="0"/>
              </a:spcBef>
            </a:pPr>
            <a:r>
              <a:rPr lang="en-US" sz="2400" spc="-196">
                <a:solidFill>
                  <a:srgbClr val="000000"/>
                </a:solidFill>
                <a:latin typeface="Agrandir"/>
                <a:ea typeface="Agrandir"/>
                <a:cs typeface="Agrandir"/>
                <a:sym typeface="Agrandir"/>
              </a:rPr>
              <a:t>Phase 2 (Dashboards )</a:t>
            </a:r>
          </a:p>
        </p:txBody>
      </p:sp>
      <p:grpSp>
        <p:nvGrpSpPr>
          <p:cNvPr name="Group 34" id="34"/>
          <p:cNvGrpSpPr/>
          <p:nvPr/>
        </p:nvGrpSpPr>
        <p:grpSpPr>
          <a:xfrm rot="0">
            <a:off x="15553859" y="3496537"/>
            <a:ext cx="445749" cy="445749"/>
            <a:chOff x="0" y="0"/>
            <a:chExt cx="594331" cy="594331"/>
          </a:xfrm>
        </p:grpSpPr>
        <p:grpSp>
          <p:nvGrpSpPr>
            <p:cNvPr name="Group 35" id="35"/>
            <p:cNvGrpSpPr/>
            <p:nvPr/>
          </p:nvGrpSpPr>
          <p:grpSpPr>
            <a:xfrm rot="0">
              <a:off x="0" y="0"/>
              <a:ext cx="594331" cy="594331"/>
              <a:chOff x="0" y="0"/>
              <a:chExt cx="6350000" cy="6350000"/>
            </a:xfrm>
          </p:grpSpPr>
          <p:sp>
            <p:nvSpPr>
              <p:cNvPr name="Freeform 36" id="3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B3B5A"/>
              </a:solidFill>
            </p:spPr>
          </p:sp>
        </p:grpSp>
        <p:sp>
          <p:nvSpPr>
            <p:cNvPr name="TextBox 37" id="37"/>
            <p:cNvSpPr txBox="true"/>
            <p:nvPr/>
          </p:nvSpPr>
          <p:spPr>
            <a:xfrm rot="0">
              <a:off x="90835" y="53466"/>
              <a:ext cx="412661" cy="473022"/>
            </a:xfrm>
            <a:prstGeom prst="rect">
              <a:avLst/>
            </a:prstGeom>
          </p:spPr>
          <p:txBody>
            <a:bodyPr anchor="t" rtlCol="false" tIns="0" lIns="0" bIns="0" rIns="0">
              <a:spAutoFit/>
            </a:bodyPr>
            <a:lstStyle/>
            <a:p>
              <a:pPr algn="ctr" marL="0" indent="0" lvl="0">
                <a:lnSpc>
                  <a:spcPts val="2480"/>
                </a:lnSpc>
                <a:spcBef>
                  <a:spcPct val="0"/>
                </a:spcBef>
              </a:pPr>
              <a:r>
                <a:rPr lang="en-US" b="true" sz="2000">
                  <a:solidFill>
                    <a:srgbClr val="FFFFFF"/>
                  </a:solidFill>
                  <a:latin typeface="Agrandir Medium"/>
                  <a:ea typeface="Agrandir Medium"/>
                  <a:cs typeface="Agrandir Medium"/>
                  <a:sym typeface="Agrandir Medium"/>
                </a:rPr>
                <a:t>5</a:t>
              </a:r>
            </a:p>
          </p:txBody>
        </p:sp>
      </p:grpSp>
      <p:sp>
        <p:nvSpPr>
          <p:cNvPr name="TextBox 38" id="38"/>
          <p:cNvSpPr txBox="true"/>
          <p:nvPr/>
        </p:nvSpPr>
        <p:spPr>
          <a:xfrm rot="0">
            <a:off x="14941213" y="4054181"/>
            <a:ext cx="2839998" cy="406400"/>
          </a:xfrm>
          <a:prstGeom prst="rect">
            <a:avLst/>
          </a:prstGeom>
        </p:spPr>
        <p:txBody>
          <a:bodyPr anchor="t" rtlCol="false" tIns="0" lIns="0" bIns="0" rIns="0">
            <a:spAutoFit/>
          </a:bodyPr>
          <a:lstStyle/>
          <a:p>
            <a:pPr algn="ctr">
              <a:lnSpc>
                <a:spcPts val="2800"/>
              </a:lnSpc>
              <a:spcBef>
                <a:spcPct val="0"/>
              </a:spcBef>
            </a:pPr>
            <a:r>
              <a:rPr lang="en-US" sz="2000">
                <a:solidFill>
                  <a:srgbClr val="000000"/>
                </a:solidFill>
                <a:latin typeface="Agrandir"/>
                <a:ea typeface="Agrandir"/>
                <a:cs typeface="Agrandir"/>
                <a:sym typeface="Agrandir"/>
              </a:rPr>
              <a:t>R</a:t>
            </a:r>
            <a:r>
              <a:rPr lang="en-US" sz="2000">
                <a:solidFill>
                  <a:srgbClr val="000000"/>
                </a:solidFill>
                <a:latin typeface="Agrandir"/>
                <a:ea typeface="Agrandir"/>
                <a:cs typeface="Agrandir"/>
                <a:sym typeface="Agrandir"/>
              </a:rPr>
              <a:t>esults &amp; Achievements</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8126267" y="4636343"/>
            <a:ext cx="8667973" cy="5097878"/>
          </a:xfrm>
          <a:prstGeom prst="rect">
            <a:avLst/>
          </a:prstGeom>
        </p:spPr>
        <p:txBody>
          <a:bodyPr anchor="t" rtlCol="false" tIns="0" lIns="0" bIns="0" rIns="0">
            <a:spAutoFit/>
          </a:bodyPr>
          <a:lstStyle/>
          <a:p>
            <a:pPr algn="just" marL="0" indent="0" lvl="0">
              <a:lnSpc>
                <a:spcPts val="2887"/>
              </a:lnSpc>
              <a:spcBef>
                <a:spcPct val="0"/>
              </a:spcBef>
            </a:pPr>
            <a:r>
              <a:rPr lang="en-US" sz="2138" spc="128">
                <a:solidFill>
                  <a:srgbClr val="343434"/>
                </a:solidFill>
                <a:latin typeface="TT Hoves"/>
                <a:ea typeface="TT Hoves"/>
                <a:cs typeface="TT Hoves"/>
                <a:sym typeface="TT Hoves"/>
              </a:rPr>
              <a:t>This project delivers an end-to-end data solution combining a scalable data warehouse with interactive business intelligence dashboards. On the engineering side, a columnstore-based star schema was implemented and populated through dynamic SSIS pipelines, handling both initial and incremental loads with a staging layer to ensure data quality and efficiency. Slowly changing dimensions were applied to track historical changes in customer and product data, enabling accurate time-based reporting. On the analytics side, Power BI dashboards were developed to present KPIs, revenue and profit trends, customer behavior, and product performance, with interactive maps and filters that support clear, structured, and data-driven decision-making.</a:t>
            </a:r>
          </a:p>
          <a:p>
            <a:pPr algn="just" marL="0" indent="0" lvl="0">
              <a:lnSpc>
                <a:spcPts val="2887"/>
              </a:lnSpc>
              <a:spcBef>
                <a:spcPct val="0"/>
              </a:spcBef>
            </a:pPr>
          </a:p>
        </p:txBody>
      </p:sp>
      <p:grpSp>
        <p:nvGrpSpPr>
          <p:cNvPr name="Group 3" id="3"/>
          <p:cNvGrpSpPr/>
          <p:nvPr/>
        </p:nvGrpSpPr>
        <p:grpSpPr>
          <a:xfrm rot="0">
            <a:off x="-696258" y="-976142"/>
            <a:ext cx="7178388" cy="11878896"/>
            <a:chOff x="0" y="0"/>
            <a:chExt cx="1890604" cy="3128598"/>
          </a:xfrm>
        </p:grpSpPr>
        <p:sp>
          <p:nvSpPr>
            <p:cNvPr name="Freeform 4" id="4"/>
            <p:cNvSpPr/>
            <p:nvPr/>
          </p:nvSpPr>
          <p:spPr>
            <a:xfrm flipH="false" flipV="false" rot="0">
              <a:off x="0" y="0"/>
              <a:ext cx="1890604" cy="3128598"/>
            </a:xfrm>
            <a:custGeom>
              <a:avLst/>
              <a:gdLst/>
              <a:ahLst/>
              <a:cxnLst/>
              <a:rect r="r" b="b" t="t" l="l"/>
              <a:pathLst>
                <a:path h="3128598" w="1890604">
                  <a:moveTo>
                    <a:pt x="0" y="0"/>
                  </a:moveTo>
                  <a:lnTo>
                    <a:pt x="1890604" y="0"/>
                  </a:lnTo>
                  <a:lnTo>
                    <a:pt x="1890604" y="3128598"/>
                  </a:lnTo>
                  <a:lnTo>
                    <a:pt x="0" y="3128598"/>
                  </a:lnTo>
                  <a:close/>
                </a:path>
              </a:pathLst>
            </a:custGeom>
            <a:solidFill>
              <a:srgbClr val="0003FF"/>
            </a:solidFill>
          </p:spPr>
        </p:sp>
        <p:sp>
          <p:nvSpPr>
            <p:cNvPr name="TextBox 5" id="5"/>
            <p:cNvSpPr txBox="true"/>
            <p:nvPr/>
          </p:nvSpPr>
          <p:spPr>
            <a:xfrm>
              <a:off x="0" y="-57150"/>
              <a:ext cx="1890604" cy="3185748"/>
            </a:xfrm>
            <a:prstGeom prst="rect">
              <a:avLst/>
            </a:prstGeom>
          </p:spPr>
          <p:txBody>
            <a:bodyPr anchor="ctr" rtlCol="false" tIns="50800" lIns="50800" bIns="50800" rIns="50800"/>
            <a:lstStyle/>
            <a:p>
              <a:pPr algn="ctr">
                <a:lnSpc>
                  <a:spcPts val="3639"/>
                </a:lnSpc>
              </a:pPr>
            </a:p>
          </p:txBody>
        </p:sp>
      </p:grpSp>
      <p:sp>
        <p:nvSpPr>
          <p:cNvPr name="TextBox 6" id="6"/>
          <p:cNvSpPr txBox="true"/>
          <p:nvPr/>
        </p:nvSpPr>
        <p:spPr>
          <a:xfrm rot="0">
            <a:off x="8126267" y="1407482"/>
            <a:ext cx="9760574" cy="3045650"/>
          </a:xfrm>
          <a:prstGeom prst="rect">
            <a:avLst/>
          </a:prstGeom>
        </p:spPr>
        <p:txBody>
          <a:bodyPr anchor="t" rtlCol="false" tIns="0" lIns="0" bIns="0" rIns="0">
            <a:spAutoFit/>
          </a:bodyPr>
          <a:lstStyle/>
          <a:p>
            <a:pPr algn="l">
              <a:lnSpc>
                <a:spcPts val="11645"/>
              </a:lnSpc>
            </a:pPr>
            <a:r>
              <a:rPr lang="en-US" b="true" sz="12388" spc="-607">
                <a:solidFill>
                  <a:srgbClr val="343434"/>
                </a:solidFill>
                <a:latin typeface="TT Hoves Bold"/>
                <a:ea typeface="TT Hoves Bold"/>
                <a:cs typeface="TT Hoves Bold"/>
                <a:sym typeface="TT Hoves Bold"/>
              </a:rPr>
              <a:t>Project Introduction</a:t>
            </a: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343434"/>
                </a:solidFill>
                <a:latin typeface="Canva Sans"/>
                <a:ea typeface="Canva Sans"/>
                <a:cs typeface="Canva Sans"/>
                <a:sym typeface="Canva San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2977145" y="1180170"/>
            <a:ext cx="12333710" cy="721995"/>
          </a:xfrm>
          <a:prstGeom prst="rect">
            <a:avLst/>
          </a:prstGeom>
        </p:spPr>
        <p:txBody>
          <a:bodyPr anchor="t" rtlCol="false" tIns="0" lIns="0" bIns="0" rIns="0">
            <a:spAutoFit/>
          </a:bodyPr>
          <a:lstStyle/>
          <a:p>
            <a:pPr algn="ctr">
              <a:lnSpc>
                <a:spcPts val="5625"/>
              </a:lnSpc>
            </a:pPr>
            <a:r>
              <a:rPr lang="en-US" sz="4800" b="true">
                <a:solidFill>
                  <a:srgbClr val="041F60"/>
                </a:solidFill>
                <a:latin typeface="Gotham Bold"/>
                <a:ea typeface="Gotham Bold"/>
                <a:cs typeface="Gotham Bold"/>
                <a:sym typeface="Gotham Bold"/>
              </a:rPr>
              <a:t>Challenges Before the Solution</a:t>
            </a:r>
          </a:p>
        </p:txBody>
      </p:sp>
      <p:sp>
        <p:nvSpPr>
          <p:cNvPr name="Freeform 3" id="3"/>
          <p:cNvSpPr/>
          <p:nvPr/>
        </p:nvSpPr>
        <p:spPr>
          <a:xfrm flipH="false" flipV="false" rot="0">
            <a:off x="2008931" y="3106198"/>
            <a:ext cx="8173294" cy="3228451"/>
          </a:xfrm>
          <a:custGeom>
            <a:avLst/>
            <a:gdLst/>
            <a:ahLst/>
            <a:cxnLst/>
            <a:rect r="r" b="b" t="t" l="l"/>
            <a:pathLst>
              <a:path h="3228451" w="8173294">
                <a:moveTo>
                  <a:pt x="0" y="0"/>
                </a:moveTo>
                <a:lnTo>
                  <a:pt x="8173294" y="0"/>
                </a:lnTo>
                <a:lnTo>
                  <a:pt x="8173294" y="3228451"/>
                </a:lnTo>
                <a:lnTo>
                  <a:pt x="0" y="3228451"/>
                </a:lnTo>
                <a:lnTo>
                  <a:pt x="0" y="0"/>
                </a:lnTo>
                <a:close/>
              </a:path>
            </a:pathLst>
          </a:custGeom>
          <a:blipFill>
            <a:blip r:embed="rId2">
              <a:alphaModFix amt="24000"/>
            </a:blip>
            <a:stretch>
              <a:fillRect l="0" t="0" r="0" b="0"/>
            </a:stretch>
          </a:blipFill>
          <a:ln cap="sq">
            <a:noFill/>
            <a:prstDash val="solid"/>
            <a:miter/>
          </a:ln>
        </p:spPr>
      </p:sp>
      <p:grpSp>
        <p:nvGrpSpPr>
          <p:cNvPr name="Group 4" id="4"/>
          <p:cNvGrpSpPr/>
          <p:nvPr/>
        </p:nvGrpSpPr>
        <p:grpSpPr>
          <a:xfrm rot="0">
            <a:off x="3272287" y="3276911"/>
            <a:ext cx="5501898" cy="2381250"/>
            <a:chOff x="0" y="0"/>
            <a:chExt cx="2888979" cy="1250365"/>
          </a:xfrm>
        </p:grpSpPr>
        <p:sp>
          <p:nvSpPr>
            <p:cNvPr name="Freeform 5" id="5"/>
            <p:cNvSpPr/>
            <p:nvPr/>
          </p:nvSpPr>
          <p:spPr>
            <a:xfrm flipH="false" flipV="false" rot="0">
              <a:off x="0" y="0"/>
              <a:ext cx="2888979" cy="1250365"/>
            </a:xfrm>
            <a:custGeom>
              <a:avLst/>
              <a:gdLst/>
              <a:ahLst/>
              <a:cxnLst/>
              <a:rect r="r" b="b" t="t" l="l"/>
              <a:pathLst>
                <a:path h="1250365" w="2888979">
                  <a:moveTo>
                    <a:pt x="39400" y="0"/>
                  </a:moveTo>
                  <a:lnTo>
                    <a:pt x="2849579" y="0"/>
                  </a:lnTo>
                  <a:cubicBezTo>
                    <a:pt x="2860028" y="0"/>
                    <a:pt x="2870050" y="4151"/>
                    <a:pt x="2877439" y="11540"/>
                  </a:cubicBezTo>
                  <a:cubicBezTo>
                    <a:pt x="2884828" y="18929"/>
                    <a:pt x="2888979" y="28950"/>
                    <a:pt x="2888979" y="39400"/>
                  </a:cubicBezTo>
                  <a:lnTo>
                    <a:pt x="2888979" y="1210965"/>
                  </a:lnTo>
                  <a:cubicBezTo>
                    <a:pt x="2888979" y="1221415"/>
                    <a:pt x="2884828" y="1231436"/>
                    <a:pt x="2877439" y="1238825"/>
                  </a:cubicBezTo>
                  <a:cubicBezTo>
                    <a:pt x="2870050" y="1246214"/>
                    <a:pt x="2860028" y="1250365"/>
                    <a:pt x="2849579" y="1250365"/>
                  </a:cubicBezTo>
                  <a:lnTo>
                    <a:pt x="39400" y="1250365"/>
                  </a:lnTo>
                  <a:cubicBezTo>
                    <a:pt x="28950" y="1250365"/>
                    <a:pt x="18929" y="1246214"/>
                    <a:pt x="11540" y="1238825"/>
                  </a:cubicBezTo>
                  <a:cubicBezTo>
                    <a:pt x="4151" y="1231436"/>
                    <a:pt x="0" y="1221415"/>
                    <a:pt x="0" y="1210965"/>
                  </a:cubicBezTo>
                  <a:lnTo>
                    <a:pt x="0" y="39400"/>
                  </a:lnTo>
                  <a:cubicBezTo>
                    <a:pt x="0" y="28950"/>
                    <a:pt x="4151" y="18929"/>
                    <a:pt x="11540" y="11540"/>
                  </a:cubicBezTo>
                  <a:cubicBezTo>
                    <a:pt x="18929" y="4151"/>
                    <a:pt x="28950" y="0"/>
                    <a:pt x="39400" y="0"/>
                  </a:cubicBezTo>
                  <a:close/>
                </a:path>
              </a:pathLst>
            </a:custGeom>
            <a:solidFill>
              <a:srgbClr val="E9EBF4"/>
            </a:solidFill>
          </p:spPr>
        </p:sp>
        <p:sp>
          <p:nvSpPr>
            <p:cNvPr name="TextBox 6" id="6"/>
            <p:cNvSpPr txBox="true"/>
            <p:nvPr/>
          </p:nvSpPr>
          <p:spPr>
            <a:xfrm>
              <a:off x="0" y="-47625"/>
              <a:ext cx="2888979" cy="1297990"/>
            </a:xfrm>
            <a:prstGeom prst="rect">
              <a:avLst/>
            </a:prstGeom>
          </p:spPr>
          <p:txBody>
            <a:bodyPr anchor="ctr" rtlCol="false" tIns="50800" lIns="50800" bIns="50800" rIns="50800"/>
            <a:lstStyle/>
            <a:p>
              <a:pPr algn="ctr">
                <a:lnSpc>
                  <a:spcPts val="2488"/>
                </a:lnSpc>
              </a:pPr>
            </a:p>
          </p:txBody>
        </p:sp>
      </p:grpSp>
      <p:grpSp>
        <p:nvGrpSpPr>
          <p:cNvPr name="Group 7" id="7"/>
          <p:cNvGrpSpPr/>
          <p:nvPr/>
        </p:nvGrpSpPr>
        <p:grpSpPr>
          <a:xfrm rot="0">
            <a:off x="3272287" y="3186354"/>
            <a:ext cx="5501898" cy="2679513"/>
            <a:chOff x="0" y="0"/>
            <a:chExt cx="2888979" cy="1406979"/>
          </a:xfrm>
        </p:grpSpPr>
        <p:sp>
          <p:nvSpPr>
            <p:cNvPr name="Freeform 8" id="8"/>
            <p:cNvSpPr/>
            <p:nvPr/>
          </p:nvSpPr>
          <p:spPr>
            <a:xfrm flipH="false" flipV="false" rot="0">
              <a:off x="0" y="0"/>
              <a:ext cx="2888979" cy="1406979"/>
            </a:xfrm>
            <a:custGeom>
              <a:avLst/>
              <a:gdLst/>
              <a:ahLst/>
              <a:cxnLst/>
              <a:rect r="r" b="b" t="t" l="l"/>
              <a:pathLst>
                <a:path h="1406979" w="2888979">
                  <a:moveTo>
                    <a:pt x="39400" y="0"/>
                  </a:moveTo>
                  <a:lnTo>
                    <a:pt x="2849579" y="0"/>
                  </a:lnTo>
                  <a:cubicBezTo>
                    <a:pt x="2860028" y="0"/>
                    <a:pt x="2870050" y="4151"/>
                    <a:pt x="2877439" y="11540"/>
                  </a:cubicBezTo>
                  <a:cubicBezTo>
                    <a:pt x="2884828" y="18929"/>
                    <a:pt x="2888979" y="28950"/>
                    <a:pt x="2888979" y="39400"/>
                  </a:cubicBezTo>
                  <a:lnTo>
                    <a:pt x="2888979" y="1367580"/>
                  </a:lnTo>
                  <a:cubicBezTo>
                    <a:pt x="2888979" y="1378029"/>
                    <a:pt x="2884828" y="1388051"/>
                    <a:pt x="2877439" y="1395439"/>
                  </a:cubicBezTo>
                  <a:cubicBezTo>
                    <a:pt x="2870050" y="1402828"/>
                    <a:pt x="2860028" y="1406979"/>
                    <a:pt x="2849579" y="1406979"/>
                  </a:cubicBezTo>
                  <a:lnTo>
                    <a:pt x="39400" y="1406979"/>
                  </a:lnTo>
                  <a:cubicBezTo>
                    <a:pt x="28950" y="1406979"/>
                    <a:pt x="18929" y="1402828"/>
                    <a:pt x="11540" y="1395439"/>
                  </a:cubicBezTo>
                  <a:cubicBezTo>
                    <a:pt x="4151" y="1388051"/>
                    <a:pt x="0" y="1378029"/>
                    <a:pt x="0" y="1367580"/>
                  </a:cubicBezTo>
                  <a:lnTo>
                    <a:pt x="0" y="39400"/>
                  </a:lnTo>
                  <a:cubicBezTo>
                    <a:pt x="0" y="28950"/>
                    <a:pt x="4151" y="18929"/>
                    <a:pt x="11540" y="11540"/>
                  </a:cubicBezTo>
                  <a:cubicBezTo>
                    <a:pt x="18929" y="4151"/>
                    <a:pt x="28950" y="0"/>
                    <a:pt x="39400" y="0"/>
                  </a:cubicBezTo>
                  <a:close/>
                </a:path>
              </a:pathLst>
            </a:custGeom>
            <a:solidFill>
              <a:srgbClr val="FCFDFE"/>
            </a:solidFill>
          </p:spPr>
        </p:sp>
        <p:sp>
          <p:nvSpPr>
            <p:cNvPr name="TextBox 9" id="9"/>
            <p:cNvSpPr txBox="true"/>
            <p:nvPr/>
          </p:nvSpPr>
          <p:spPr>
            <a:xfrm>
              <a:off x="0" y="-47625"/>
              <a:ext cx="2888979" cy="1454604"/>
            </a:xfrm>
            <a:prstGeom prst="rect">
              <a:avLst/>
            </a:prstGeom>
          </p:spPr>
          <p:txBody>
            <a:bodyPr anchor="ctr" rtlCol="false" tIns="50800" lIns="50800" bIns="50800" rIns="50800"/>
            <a:lstStyle/>
            <a:p>
              <a:pPr algn="ctr">
                <a:lnSpc>
                  <a:spcPts val="2488"/>
                </a:lnSpc>
              </a:pPr>
            </a:p>
          </p:txBody>
        </p:sp>
      </p:grpSp>
      <p:sp>
        <p:nvSpPr>
          <p:cNvPr name="Freeform 10" id="10"/>
          <p:cNvSpPr/>
          <p:nvPr/>
        </p:nvSpPr>
        <p:spPr>
          <a:xfrm flipH="false" flipV="false" rot="0">
            <a:off x="7085856" y="3395901"/>
            <a:ext cx="1201761" cy="1201761"/>
          </a:xfrm>
          <a:custGeom>
            <a:avLst/>
            <a:gdLst/>
            <a:ahLst/>
            <a:cxnLst/>
            <a:rect r="r" b="b" t="t" l="l"/>
            <a:pathLst>
              <a:path h="1201761" w="1201761">
                <a:moveTo>
                  <a:pt x="0" y="0"/>
                </a:moveTo>
                <a:lnTo>
                  <a:pt x="1201761" y="0"/>
                </a:lnTo>
                <a:lnTo>
                  <a:pt x="1201761" y="1201761"/>
                </a:lnTo>
                <a:lnTo>
                  <a:pt x="0" y="12017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1" id="11"/>
          <p:cNvGrpSpPr/>
          <p:nvPr/>
        </p:nvGrpSpPr>
        <p:grpSpPr>
          <a:xfrm rot="0">
            <a:off x="6931548" y="3840298"/>
            <a:ext cx="1539614" cy="1324229"/>
            <a:chOff x="0" y="0"/>
            <a:chExt cx="264494" cy="227492"/>
          </a:xfrm>
        </p:grpSpPr>
        <p:sp>
          <p:nvSpPr>
            <p:cNvPr name="Freeform 12" id="12"/>
            <p:cNvSpPr/>
            <p:nvPr/>
          </p:nvSpPr>
          <p:spPr>
            <a:xfrm flipH="false" flipV="false" rot="0">
              <a:off x="0" y="0"/>
              <a:ext cx="264494" cy="227492"/>
            </a:xfrm>
            <a:custGeom>
              <a:avLst/>
              <a:gdLst/>
              <a:ahLst/>
              <a:cxnLst/>
              <a:rect r="r" b="b" t="t" l="l"/>
              <a:pathLst>
                <a:path h="227492" w="264494">
                  <a:moveTo>
                    <a:pt x="0" y="0"/>
                  </a:moveTo>
                  <a:lnTo>
                    <a:pt x="264494" y="0"/>
                  </a:lnTo>
                  <a:lnTo>
                    <a:pt x="264494" y="227492"/>
                  </a:lnTo>
                  <a:lnTo>
                    <a:pt x="0" y="227492"/>
                  </a:lnTo>
                  <a:close/>
                </a:path>
              </a:pathLst>
            </a:custGeom>
            <a:gradFill rotWithShape="true">
              <a:gsLst>
                <a:gs pos="0">
                  <a:srgbClr val="FFFFFF">
                    <a:alpha val="0"/>
                  </a:srgbClr>
                </a:gs>
                <a:gs pos="50000">
                  <a:srgbClr val="FCFDFE">
                    <a:alpha val="100000"/>
                  </a:srgbClr>
                </a:gs>
                <a:gs pos="100000">
                  <a:srgbClr val="FCFDFE">
                    <a:alpha val="100000"/>
                  </a:srgbClr>
                </a:gs>
              </a:gsLst>
              <a:lin ang="5400000"/>
            </a:gradFill>
          </p:spPr>
        </p:sp>
        <p:sp>
          <p:nvSpPr>
            <p:cNvPr name="TextBox 13" id="13"/>
            <p:cNvSpPr txBox="true"/>
            <p:nvPr/>
          </p:nvSpPr>
          <p:spPr>
            <a:xfrm>
              <a:off x="0" y="-47625"/>
              <a:ext cx="264494" cy="275117"/>
            </a:xfrm>
            <a:prstGeom prst="rect">
              <a:avLst/>
            </a:prstGeom>
          </p:spPr>
          <p:txBody>
            <a:bodyPr anchor="ctr" rtlCol="false" tIns="50800" lIns="50800" bIns="50800" rIns="50800"/>
            <a:lstStyle/>
            <a:p>
              <a:pPr algn="ctr">
                <a:lnSpc>
                  <a:spcPts val="2488"/>
                </a:lnSpc>
              </a:pPr>
            </a:p>
          </p:txBody>
        </p:sp>
      </p:grpSp>
      <p:sp>
        <p:nvSpPr>
          <p:cNvPr name="TextBox 14" id="14"/>
          <p:cNvSpPr txBox="true"/>
          <p:nvPr/>
        </p:nvSpPr>
        <p:spPr>
          <a:xfrm rot="0">
            <a:off x="3575311" y="3386694"/>
            <a:ext cx="835397" cy="318897"/>
          </a:xfrm>
          <a:prstGeom prst="rect">
            <a:avLst/>
          </a:prstGeom>
        </p:spPr>
        <p:txBody>
          <a:bodyPr anchor="t" rtlCol="false" tIns="0" lIns="0" bIns="0" rIns="0">
            <a:spAutoFit/>
          </a:bodyPr>
          <a:lstStyle/>
          <a:p>
            <a:pPr algn="l">
              <a:lnSpc>
                <a:spcPts val="2798"/>
              </a:lnSpc>
            </a:pPr>
            <a:r>
              <a:rPr lang="en-US" sz="1799">
                <a:solidFill>
                  <a:srgbClr val="667198"/>
                </a:solidFill>
                <a:latin typeface="Canva Sans"/>
                <a:ea typeface="Canva Sans"/>
                <a:cs typeface="Canva Sans"/>
                <a:sym typeface="Canva Sans"/>
              </a:rPr>
              <a:t>01</a:t>
            </a:r>
          </a:p>
        </p:txBody>
      </p:sp>
      <p:sp>
        <p:nvSpPr>
          <p:cNvPr name="TextBox 15" id="15"/>
          <p:cNvSpPr txBox="true"/>
          <p:nvPr/>
        </p:nvSpPr>
        <p:spPr>
          <a:xfrm rot="0">
            <a:off x="3579890" y="3898997"/>
            <a:ext cx="3147765" cy="580073"/>
          </a:xfrm>
          <a:prstGeom prst="rect">
            <a:avLst/>
          </a:prstGeom>
        </p:spPr>
        <p:txBody>
          <a:bodyPr anchor="t" rtlCol="false" tIns="0" lIns="0" bIns="0" rIns="0">
            <a:spAutoFit/>
          </a:bodyPr>
          <a:lstStyle/>
          <a:p>
            <a:pPr algn="l">
              <a:lnSpc>
                <a:spcPts val="2297"/>
              </a:lnSpc>
            </a:pPr>
            <a:r>
              <a:rPr lang="en-US" sz="1969" b="true">
                <a:solidFill>
                  <a:srgbClr val="041F60"/>
                </a:solidFill>
                <a:latin typeface="Gotham Bold"/>
                <a:ea typeface="Gotham Bold"/>
                <a:cs typeface="Gotham Bold"/>
                <a:sym typeface="Gotham Bold"/>
              </a:rPr>
              <a:t>No centralized data warehouse</a:t>
            </a:r>
          </a:p>
        </p:txBody>
      </p:sp>
      <p:sp>
        <p:nvSpPr>
          <p:cNvPr name="Freeform 16" id="16"/>
          <p:cNvSpPr/>
          <p:nvPr/>
        </p:nvSpPr>
        <p:spPr>
          <a:xfrm flipH="false" flipV="false" rot="0">
            <a:off x="1864248" y="6391799"/>
            <a:ext cx="8317977" cy="3285601"/>
          </a:xfrm>
          <a:custGeom>
            <a:avLst/>
            <a:gdLst/>
            <a:ahLst/>
            <a:cxnLst/>
            <a:rect r="r" b="b" t="t" l="l"/>
            <a:pathLst>
              <a:path h="3285601" w="8317977">
                <a:moveTo>
                  <a:pt x="0" y="0"/>
                </a:moveTo>
                <a:lnTo>
                  <a:pt x="8317977" y="0"/>
                </a:lnTo>
                <a:lnTo>
                  <a:pt x="8317977" y="3285601"/>
                </a:lnTo>
                <a:lnTo>
                  <a:pt x="0" y="3285601"/>
                </a:lnTo>
                <a:lnTo>
                  <a:pt x="0" y="0"/>
                </a:lnTo>
                <a:close/>
              </a:path>
            </a:pathLst>
          </a:custGeom>
          <a:blipFill>
            <a:blip r:embed="rId5">
              <a:alphaModFix amt="24000"/>
            </a:blip>
            <a:stretch>
              <a:fillRect l="0" t="0" r="0" b="0"/>
            </a:stretch>
          </a:blipFill>
        </p:spPr>
      </p:sp>
      <p:grpSp>
        <p:nvGrpSpPr>
          <p:cNvPr name="Group 17" id="17"/>
          <p:cNvGrpSpPr/>
          <p:nvPr/>
        </p:nvGrpSpPr>
        <p:grpSpPr>
          <a:xfrm rot="0">
            <a:off x="3272287" y="6562512"/>
            <a:ext cx="5501898" cy="2381250"/>
            <a:chOff x="0" y="0"/>
            <a:chExt cx="2888979" cy="1250365"/>
          </a:xfrm>
        </p:grpSpPr>
        <p:sp>
          <p:nvSpPr>
            <p:cNvPr name="Freeform 18" id="18"/>
            <p:cNvSpPr/>
            <p:nvPr/>
          </p:nvSpPr>
          <p:spPr>
            <a:xfrm flipH="false" flipV="false" rot="0">
              <a:off x="0" y="0"/>
              <a:ext cx="2888979" cy="1250365"/>
            </a:xfrm>
            <a:custGeom>
              <a:avLst/>
              <a:gdLst/>
              <a:ahLst/>
              <a:cxnLst/>
              <a:rect r="r" b="b" t="t" l="l"/>
              <a:pathLst>
                <a:path h="1250365" w="2888979">
                  <a:moveTo>
                    <a:pt x="39400" y="0"/>
                  </a:moveTo>
                  <a:lnTo>
                    <a:pt x="2849579" y="0"/>
                  </a:lnTo>
                  <a:cubicBezTo>
                    <a:pt x="2860028" y="0"/>
                    <a:pt x="2870050" y="4151"/>
                    <a:pt x="2877439" y="11540"/>
                  </a:cubicBezTo>
                  <a:cubicBezTo>
                    <a:pt x="2884828" y="18929"/>
                    <a:pt x="2888979" y="28950"/>
                    <a:pt x="2888979" y="39400"/>
                  </a:cubicBezTo>
                  <a:lnTo>
                    <a:pt x="2888979" y="1210965"/>
                  </a:lnTo>
                  <a:cubicBezTo>
                    <a:pt x="2888979" y="1221415"/>
                    <a:pt x="2884828" y="1231436"/>
                    <a:pt x="2877439" y="1238825"/>
                  </a:cubicBezTo>
                  <a:cubicBezTo>
                    <a:pt x="2870050" y="1246214"/>
                    <a:pt x="2860028" y="1250365"/>
                    <a:pt x="2849579" y="1250365"/>
                  </a:cubicBezTo>
                  <a:lnTo>
                    <a:pt x="39400" y="1250365"/>
                  </a:lnTo>
                  <a:cubicBezTo>
                    <a:pt x="28950" y="1250365"/>
                    <a:pt x="18929" y="1246214"/>
                    <a:pt x="11540" y="1238825"/>
                  </a:cubicBezTo>
                  <a:cubicBezTo>
                    <a:pt x="4151" y="1231436"/>
                    <a:pt x="0" y="1221415"/>
                    <a:pt x="0" y="1210965"/>
                  </a:cubicBezTo>
                  <a:lnTo>
                    <a:pt x="0" y="39400"/>
                  </a:lnTo>
                  <a:cubicBezTo>
                    <a:pt x="0" y="28950"/>
                    <a:pt x="4151" y="18929"/>
                    <a:pt x="11540" y="11540"/>
                  </a:cubicBezTo>
                  <a:cubicBezTo>
                    <a:pt x="18929" y="4151"/>
                    <a:pt x="28950" y="0"/>
                    <a:pt x="39400" y="0"/>
                  </a:cubicBezTo>
                  <a:close/>
                </a:path>
              </a:pathLst>
            </a:custGeom>
            <a:solidFill>
              <a:srgbClr val="E9EBF4"/>
            </a:solidFill>
          </p:spPr>
        </p:sp>
        <p:sp>
          <p:nvSpPr>
            <p:cNvPr name="TextBox 19" id="19"/>
            <p:cNvSpPr txBox="true"/>
            <p:nvPr/>
          </p:nvSpPr>
          <p:spPr>
            <a:xfrm>
              <a:off x="0" y="-47625"/>
              <a:ext cx="2888979" cy="1297990"/>
            </a:xfrm>
            <a:prstGeom prst="rect">
              <a:avLst/>
            </a:prstGeom>
          </p:spPr>
          <p:txBody>
            <a:bodyPr anchor="ctr" rtlCol="false" tIns="50800" lIns="50800" bIns="50800" rIns="50800"/>
            <a:lstStyle/>
            <a:p>
              <a:pPr algn="ctr">
                <a:lnSpc>
                  <a:spcPts val="2488"/>
                </a:lnSpc>
              </a:pPr>
            </a:p>
          </p:txBody>
        </p:sp>
      </p:grpSp>
      <p:grpSp>
        <p:nvGrpSpPr>
          <p:cNvPr name="Group 20" id="20"/>
          <p:cNvGrpSpPr/>
          <p:nvPr/>
        </p:nvGrpSpPr>
        <p:grpSpPr>
          <a:xfrm rot="0">
            <a:off x="3272287" y="6471955"/>
            <a:ext cx="5501898" cy="2786345"/>
            <a:chOff x="0" y="0"/>
            <a:chExt cx="2888979" cy="1463075"/>
          </a:xfrm>
        </p:grpSpPr>
        <p:sp>
          <p:nvSpPr>
            <p:cNvPr name="Freeform 21" id="21"/>
            <p:cNvSpPr/>
            <p:nvPr/>
          </p:nvSpPr>
          <p:spPr>
            <a:xfrm flipH="false" flipV="false" rot="0">
              <a:off x="0" y="0"/>
              <a:ext cx="2888979" cy="1463075"/>
            </a:xfrm>
            <a:custGeom>
              <a:avLst/>
              <a:gdLst/>
              <a:ahLst/>
              <a:cxnLst/>
              <a:rect r="r" b="b" t="t" l="l"/>
              <a:pathLst>
                <a:path h="1463075" w="2888979">
                  <a:moveTo>
                    <a:pt x="39400" y="0"/>
                  </a:moveTo>
                  <a:lnTo>
                    <a:pt x="2849579" y="0"/>
                  </a:lnTo>
                  <a:cubicBezTo>
                    <a:pt x="2860028" y="0"/>
                    <a:pt x="2870050" y="4151"/>
                    <a:pt x="2877439" y="11540"/>
                  </a:cubicBezTo>
                  <a:cubicBezTo>
                    <a:pt x="2884828" y="18929"/>
                    <a:pt x="2888979" y="28950"/>
                    <a:pt x="2888979" y="39400"/>
                  </a:cubicBezTo>
                  <a:lnTo>
                    <a:pt x="2888979" y="1423676"/>
                  </a:lnTo>
                  <a:cubicBezTo>
                    <a:pt x="2888979" y="1434125"/>
                    <a:pt x="2884828" y="1444147"/>
                    <a:pt x="2877439" y="1451536"/>
                  </a:cubicBezTo>
                  <a:cubicBezTo>
                    <a:pt x="2870050" y="1458924"/>
                    <a:pt x="2860028" y="1463075"/>
                    <a:pt x="2849579" y="1463075"/>
                  </a:cubicBezTo>
                  <a:lnTo>
                    <a:pt x="39400" y="1463075"/>
                  </a:lnTo>
                  <a:cubicBezTo>
                    <a:pt x="28950" y="1463075"/>
                    <a:pt x="18929" y="1458924"/>
                    <a:pt x="11540" y="1451536"/>
                  </a:cubicBezTo>
                  <a:cubicBezTo>
                    <a:pt x="4151" y="1444147"/>
                    <a:pt x="0" y="1434125"/>
                    <a:pt x="0" y="1423676"/>
                  </a:cubicBezTo>
                  <a:lnTo>
                    <a:pt x="0" y="39400"/>
                  </a:lnTo>
                  <a:cubicBezTo>
                    <a:pt x="0" y="28950"/>
                    <a:pt x="4151" y="18929"/>
                    <a:pt x="11540" y="11540"/>
                  </a:cubicBezTo>
                  <a:cubicBezTo>
                    <a:pt x="18929" y="4151"/>
                    <a:pt x="28950" y="0"/>
                    <a:pt x="39400" y="0"/>
                  </a:cubicBezTo>
                  <a:close/>
                </a:path>
              </a:pathLst>
            </a:custGeom>
            <a:solidFill>
              <a:srgbClr val="FCFDFE"/>
            </a:solidFill>
          </p:spPr>
        </p:sp>
        <p:sp>
          <p:nvSpPr>
            <p:cNvPr name="TextBox 22" id="22"/>
            <p:cNvSpPr txBox="true"/>
            <p:nvPr/>
          </p:nvSpPr>
          <p:spPr>
            <a:xfrm>
              <a:off x="0" y="-47625"/>
              <a:ext cx="2888979" cy="1510700"/>
            </a:xfrm>
            <a:prstGeom prst="rect">
              <a:avLst/>
            </a:prstGeom>
          </p:spPr>
          <p:txBody>
            <a:bodyPr anchor="ctr" rtlCol="false" tIns="50800" lIns="50800" bIns="50800" rIns="50800"/>
            <a:lstStyle/>
            <a:p>
              <a:pPr algn="ctr">
                <a:lnSpc>
                  <a:spcPts val="2488"/>
                </a:lnSpc>
              </a:pPr>
            </a:p>
          </p:txBody>
        </p:sp>
      </p:grpSp>
      <p:sp>
        <p:nvSpPr>
          <p:cNvPr name="TextBox 23" id="23"/>
          <p:cNvSpPr txBox="true"/>
          <p:nvPr/>
        </p:nvSpPr>
        <p:spPr>
          <a:xfrm rot="0">
            <a:off x="3579890" y="6672295"/>
            <a:ext cx="835397" cy="318897"/>
          </a:xfrm>
          <a:prstGeom prst="rect">
            <a:avLst/>
          </a:prstGeom>
        </p:spPr>
        <p:txBody>
          <a:bodyPr anchor="t" rtlCol="false" tIns="0" lIns="0" bIns="0" rIns="0">
            <a:spAutoFit/>
          </a:bodyPr>
          <a:lstStyle/>
          <a:p>
            <a:pPr algn="l">
              <a:lnSpc>
                <a:spcPts val="2798"/>
              </a:lnSpc>
            </a:pPr>
            <a:r>
              <a:rPr lang="en-US" sz="1799">
                <a:solidFill>
                  <a:srgbClr val="667198"/>
                </a:solidFill>
                <a:latin typeface="Canva Sans"/>
                <a:ea typeface="Canva Sans"/>
                <a:cs typeface="Canva Sans"/>
                <a:sym typeface="Canva Sans"/>
              </a:rPr>
              <a:t>03</a:t>
            </a:r>
          </a:p>
        </p:txBody>
      </p:sp>
      <p:sp>
        <p:nvSpPr>
          <p:cNvPr name="Freeform 24" id="24"/>
          <p:cNvSpPr/>
          <p:nvPr/>
        </p:nvSpPr>
        <p:spPr>
          <a:xfrm flipH="false" flipV="false" rot="0">
            <a:off x="7127219" y="6719920"/>
            <a:ext cx="1148271" cy="1148271"/>
          </a:xfrm>
          <a:custGeom>
            <a:avLst/>
            <a:gdLst/>
            <a:ahLst/>
            <a:cxnLst/>
            <a:rect r="r" b="b" t="t" l="l"/>
            <a:pathLst>
              <a:path h="1148271" w="1148271">
                <a:moveTo>
                  <a:pt x="0" y="0"/>
                </a:moveTo>
                <a:lnTo>
                  <a:pt x="1148271" y="0"/>
                </a:lnTo>
                <a:lnTo>
                  <a:pt x="1148271" y="1148271"/>
                </a:lnTo>
                <a:lnTo>
                  <a:pt x="0" y="11482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5" id="25"/>
          <p:cNvGrpSpPr/>
          <p:nvPr/>
        </p:nvGrpSpPr>
        <p:grpSpPr>
          <a:xfrm rot="0">
            <a:off x="6931548" y="7125899"/>
            <a:ext cx="1539614" cy="1324229"/>
            <a:chOff x="0" y="0"/>
            <a:chExt cx="264494" cy="227492"/>
          </a:xfrm>
        </p:grpSpPr>
        <p:sp>
          <p:nvSpPr>
            <p:cNvPr name="Freeform 26" id="26"/>
            <p:cNvSpPr/>
            <p:nvPr/>
          </p:nvSpPr>
          <p:spPr>
            <a:xfrm flipH="false" flipV="false" rot="0">
              <a:off x="0" y="0"/>
              <a:ext cx="264494" cy="227492"/>
            </a:xfrm>
            <a:custGeom>
              <a:avLst/>
              <a:gdLst/>
              <a:ahLst/>
              <a:cxnLst/>
              <a:rect r="r" b="b" t="t" l="l"/>
              <a:pathLst>
                <a:path h="227492" w="264494">
                  <a:moveTo>
                    <a:pt x="0" y="0"/>
                  </a:moveTo>
                  <a:lnTo>
                    <a:pt x="264494" y="0"/>
                  </a:lnTo>
                  <a:lnTo>
                    <a:pt x="264494" y="227492"/>
                  </a:lnTo>
                  <a:lnTo>
                    <a:pt x="0" y="227492"/>
                  </a:lnTo>
                  <a:close/>
                </a:path>
              </a:pathLst>
            </a:custGeom>
            <a:gradFill rotWithShape="true">
              <a:gsLst>
                <a:gs pos="0">
                  <a:srgbClr val="FFFFFF">
                    <a:alpha val="0"/>
                  </a:srgbClr>
                </a:gs>
                <a:gs pos="50000">
                  <a:srgbClr val="FCFDFE">
                    <a:alpha val="100000"/>
                  </a:srgbClr>
                </a:gs>
                <a:gs pos="100000">
                  <a:srgbClr val="FCFDFE">
                    <a:alpha val="100000"/>
                  </a:srgbClr>
                </a:gs>
              </a:gsLst>
              <a:lin ang="5400000"/>
            </a:gradFill>
          </p:spPr>
        </p:sp>
        <p:sp>
          <p:nvSpPr>
            <p:cNvPr name="TextBox 27" id="27"/>
            <p:cNvSpPr txBox="true"/>
            <p:nvPr/>
          </p:nvSpPr>
          <p:spPr>
            <a:xfrm>
              <a:off x="0" y="-47625"/>
              <a:ext cx="264494" cy="275117"/>
            </a:xfrm>
            <a:prstGeom prst="rect">
              <a:avLst/>
            </a:prstGeom>
          </p:spPr>
          <p:txBody>
            <a:bodyPr anchor="ctr" rtlCol="false" tIns="50800" lIns="50800" bIns="50800" rIns="50800"/>
            <a:lstStyle/>
            <a:p>
              <a:pPr algn="ctr">
                <a:lnSpc>
                  <a:spcPts val="2488"/>
                </a:lnSpc>
              </a:pPr>
            </a:p>
          </p:txBody>
        </p:sp>
      </p:grpSp>
      <p:sp>
        <p:nvSpPr>
          <p:cNvPr name="TextBox 28" id="28"/>
          <p:cNvSpPr txBox="true"/>
          <p:nvPr/>
        </p:nvSpPr>
        <p:spPr>
          <a:xfrm rot="0">
            <a:off x="3575311" y="7874056"/>
            <a:ext cx="4895850" cy="1023747"/>
          </a:xfrm>
          <a:prstGeom prst="rect">
            <a:avLst/>
          </a:prstGeom>
        </p:spPr>
        <p:txBody>
          <a:bodyPr anchor="t" rtlCol="false" tIns="0" lIns="0" bIns="0" rIns="0">
            <a:spAutoFit/>
          </a:bodyPr>
          <a:lstStyle/>
          <a:p>
            <a:pPr algn="l">
              <a:lnSpc>
                <a:spcPts val="2798"/>
              </a:lnSpc>
            </a:pPr>
            <a:r>
              <a:rPr lang="en-US" sz="1799">
                <a:solidFill>
                  <a:srgbClr val="000000"/>
                </a:solidFill>
                <a:latin typeface="Canva Sans"/>
                <a:ea typeface="Canva Sans"/>
                <a:cs typeface="Canva Sans"/>
                <a:sym typeface="Canva Sans"/>
              </a:rPr>
              <a:t>manag</a:t>
            </a:r>
            <a:r>
              <a:rPr lang="en-US" sz="1799">
                <a:solidFill>
                  <a:srgbClr val="000000"/>
                </a:solidFill>
                <a:latin typeface="Canva Sans"/>
                <a:ea typeface="Canva Sans"/>
                <a:cs typeface="Canva Sans"/>
                <a:sym typeface="Canva Sans"/>
              </a:rPr>
              <a:t>ers lacked clear dashboards to monitor KPIs like revenue, profit, orders, and customer activity.</a:t>
            </a:r>
          </a:p>
        </p:txBody>
      </p:sp>
      <p:sp>
        <p:nvSpPr>
          <p:cNvPr name="TextBox 29" id="29"/>
          <p:cNvSpPr txBox="true"/>
          <p:nvPr/>
        </p:nvSpPr>
        <p:spPr>
          <a:xfrm rot="0">
            <a:off x="3599533" y="7179048"/>
            <a:ext cx="3356236" cy="608965"/>
          </a:xfrm>
          <a:prstGeom prst="rect">
            <a:avLst/>
          </a:prstGeom>
        </p:spPr>
        <p:txBody>
          <a:bodyPr anchor="t" rtlCol="false" tIns="0" lIns="0" bIns="0" rIns="0">
            <a:spAutoFit/>
          </a:bodyPr>
          <a:lstStyle/>
          <a:p>
            <a:pPr algn="l">
              <a:lnSpc>
                <a:spcPts val="2450"/>
              </a:lnSpc>
            </a:pPr>
            <a:r>
              <a:rPr lang="en-US" sz="2100" b="true">
                <a:solidFill>
                  <a:srgbClr val="041F60"/>
                </a:solidFill>
                <a:latin typeface="Gotham Bold"/>
                <a:ea typeface="Gotham Bold"/>
                <a:cs typeface="Gotham Bold"/>
                <a:sym typeface="Gotham Bold"/>
              </a:rPr>
              <a:t>Limited business visibility</a:t>
            </a:r>
          </a:p>
        </p:txBody>
      </p:sp>
      <p:sp>
        <p:nvSpPr>
          <p:cNvPr name="Freeform 30" id="30"/>
          <p:cNvSpPr/>
          <p:nvPr/>
        </p:nvSpPr>
        <p:spPr>
          <a:xfrm flipH="false" flipV="false" rot="0">
            <a:off x="8244275" y="3106198"/>
            <a:ext cx="8237719" cy="3399164"/>
          </a:xfrm>
          <a:custGeom>
            <a:avLst/>
            <a:gdLst/>
            <a:ahLst/>
            <a:cxnLst/>
            <a:rect r="r" b="b" t="t" l="l"/>
            <a:pathLst>
              <a:path h="3399164" w="8237719">
                <a:moveTo>
                  <a:pt x="0" y="0"/>
                </a:moveTo>
                <a:lnTo>
                  <a:pt x="8237719" y="0"/>
                </a:lnTo>
                <a:lnTo>
                  <a:pt x="8237719" y="3399164"/>
                </a:lnTo>
                <a:lnTo>
                  <a:pt x="0" y="3399164"/>
                </a:lnTo>
                <a:lnTo>
                  <a:pt x="0" y="0"/>
                </a:lnTo>
                <a:close/>
              </a:path>
            </a:pathLst>
          </a:custGeom>
          <a:blipFill>
            <a:blip r:embed="rId5">
              <a:alphaModFix amt="24000"/>
            </a:blip>
            <a:stretch>
              <a:fillRect l="-2232" t="0" r="-2232" b="0"/>
            </a:stretch>
          </a:blipFill>
        </p:spPr>
      </p:sp>
      <p:grpSp>
        <p:nvGrpSpPr>
          <p:cNvPr name="Group 31" id="31"/>
          <p:cNvGrpSpPr/>
          <p:nvPr/>
        </p:nvGrpSpPr>
        <p:grpSpPr>
          <a:xfrm rot="0">
            <a:off x="9513815" y="3276911"/>
            <a:ext cx="5501898" cy="2381250"/>
            <a:chOff x="0" y="0"/>
            <a:chExt cx="2888979" cy="1250365"/>
          </a:xfrm>
        </p:grpSpPr>
        <p:sp>
          <p:nvSpPr>
            <p:cNvPr name="Freeform 32" id="32"/>
            <p:cNvSpPr/>
            <p:nvPr/>
          </p:nvSpPr>
          <p:spPr>
            <a:xfrm flipH="false" flipV="false" rot="0">
              <a:off x="0" y="0"/>
              <a:ext cx="2888979" cy="1250365"/>
            </a:xfrm>
            <a:custGeom>
              <a:avLst/>
              <a:gdLst/>
              <a:ahLst/>
              <a:cxnLst/>
              <a:rect r="r" b="b" t="t" l="l"/>
              <a:pathLst>
                <a:path h="1250365" w="2888979">
                  <a:moveTo>
                    <a:pt x="39400" y="0"/>
                  </a:moveTo>
                  <a:lnTo>
                    <a:pt x="2849579" y="0"/>
                  </a:lnTo>
                  <a:cubicBezTo>
                    <a:pt x="2860028" y="0"/>
                    <a:pt x="2870050" y="4151"/>
                    <a:pt x="2877439" y="11540"/>
                  </a:cubicBezTo>
                  <a:cubicBezTo>
                    <a:pt x="2884828" y="18929"/>
                    <a:pt x="2888979" y="28950"/>
                    <a:pt x="2888979" y="39400"/>
                  </a:cubicBezTo>
                  <a:lnTo>
                    <a:pt x="2888979" y="1210965"/>
                  </a:lnTo>
                  <a:cubicBezTo>
                    <a:pt x="2888979" y="1221415"/>
                    <a:pt x="2884828" y="1231436"/>
                    <a:pt x="2877439" y="1238825"/>
                  </a:cubicBezTo>
                  <a:cubicBezTo>
                    <a:pt x="2870050" y="1246214"/>
                    <a:pt x="2860028" y="1250365"/>
                    <a:pt x="2849579" y="1250365"/>
                  </a:cubicBezTo>
                  <a:lnTo>
                    <a:pt x="39400" y="1250365"/>
                  </a:lnTo>
                  <a:cubicBezTo>
                    <a:pt x="28950" y="1250365"/>
                    <a:pt x="18929" y="1246214"/>
                    <a:pt x="11540" y="1238825"/>
                  </a:cubicBezTo>
                  <a:cubicBezTo>
                    <a:pt x="4151" y="1231436"/>
                    <a:pt x="0" y="1221415"/>
                    <a:pt x="0" y="1210965"/>
                  </a:cubicBezTo>
                  <a:lnTo>
                    <a:pt x="0" y="39400"/>
                  </a:lnTo>
                  <a:cubicBezTo>
                    <a:pt x="0" y="28950"/>
                    <a:pt x="4151" y="18929"/>
                    <a:pt x="11540" y="11540"/>
                  </a:cubicBezTo>
                  <a:cubicBezTo>
                    <a:pt x="18929" y="4151"/>
                    <a:pt x="28950" y="0"/>
                    <a:pt x="39400" y="0"/>
                  </a:cubicBezTo>
                  <a:close/>
                </a:path>
              </a:pathLst>
            </a:custGeom>
            <a:solidFill>
              <a:srgbClr val="E9EBF4"/>
            </a:solidFill>
          </p:spPr>
        </p:sp>
        <p:sp>
          <p:nvSpPr>
            <p:cNvPr name="TextBox 33" id="33"/>
            <p:cNvSpPr txBox="true"/>
            <p:nvPr/>
          </p:nvSpPr>
          <p:spPr>
            <a:xfrm>
              <a:off x="0" y="-47625"/>
              <a:ext cx="2888979" cy="1297990"/>
            </a:xfrm>
            <a:prstGeom prst="rect">
              <a:avLst/>
            </a:prstGeom>
          </p:spPr>
          <p:txBody>
            <a:bodyPr anchor="ctr" rtlCol="false" tIns="50800" lIns="50800" bIns="50800" rIns="50800"/>
            <a:lstStyle/>
            <a:p>
              <a:pPr algn="ctr">
                <a:lnSpc>
                  <a:spcPts val="2488"/>
                </a:lnSpc>
              </a:pPr>
            </a:p>
          </p:txBody>
        </p:sp>
      </p:grpSp>
      <p:grpSp>
        <p:nvGrpSpPr>
          <p:cNvPr name="Group 34" id="34"/>
          <p:cNvGrpSpPr/>
          <p:nvPr/>
        </p:nvGrpSpPr>
        <p:grpSpPr>
          <a:xfrm rot="0">
            <a:off x="9513815" y="3186354"/>
            <a:ext cx="5501898" cy="2757770"/>
            <a:chOff x="0" y="0"/>
            <a:chExt cx="2888979" cy="1448071"/>
          </a:xfrm>
        </p:grpSpPr>
        <p:sp>
          <p:nvSpPr>
            <p:cNvPr name="Freeform 35" id="35"/>
            <p:cNvSpPr/>
            <p:nvPr/>
          </p:nvSpPr>
          <p:spPr>
            <a:xfrm flipH="false" flipV="false" rot="0">
              <a:off x="0" y="0"/>
              <a:ext cx="2888979" cy="1448071"/>
            </a:xfrm>
            <a:custGeom>
              <a:avLst/>
              <a:gdLst/>
              <a:ahLst/>
              <a:cxnLst/>
              <a:rect r="r" b="b" t="t" l="l"/>
              <a:pathLst>
                <a:path h="1448071" w="2888979">
                  <a:moveTo>
                    <a:pt x="39400" y="0"/>
                  </a:moveTo>
                  <a:lnTo>
                    <a:pt x="2849579" y="0"/>
                  </a:lnTo>
                  <a:cubicBezTo>
                    <a:pt x="2860028" y="0"/>
                    <a:pt x="2870050" y="4151"/>
                    <a:pt x="2877439" y="11540"/>
                  </a:cubicBezTo>
                  <a:cubicBezTo>
                    <a:pt x="2884828" y="18929"/>
                    <a:pt x="2888979" y="28950"/>
                    <a:pt x="2888979" y="39400"/>
                  </a:cubicBezTo>
                  <a:lnTo>
                    <a:pt x="2888979" y="1408671"/>
                  </a:lnTo>
                  <a:cubicBezTo>
                    <a:pt x="2888979" y="1419121"/>
                    <a:pt x="2884828" y="1429142"/>
                    <a:pt x="2877439" y="1436531"/>
                  </a:cubicBezTo>
                  <a:cubicBezTo>
                    <a:pt x="2870050" y="1443920"/>
                    <a:pt x="2860028" y="1448071"/>
                    <a:pt x="2849579" y="1448071"/>
                  </a:cubicBezTo>
                  <a:lnTo>
                    <a:pt x="39400" y="1448071"/>
                  </a:lnTo>
                  <a:cubicBezTo>
                    <a:pt x="28950" y="1448071"/>
                    <a:pt x="18929" y="1443920"/>
                    <a:pt x="11540" y="1436531"/>
                  </a:cubicBezTo>
                  <a:cubicBezTo>
                    <a:pt x="4151" y="1429142"/>
                    <a:pt x="0" y="1419121"/>
                    <a:pt x="0" y="1408671"/>
                  </a:cubicBezTo>
                  <a:lnTo>
                    <a:pt x="0" y="39400"/>
                  </a:lnTo>
                  <a:cubicBezTo>
                    <a:pt x="0" y="28950"/>
                    <a:pt x="4151" y="18929"/>
                    <a:pt x="11540" y="11540"/>
                  </a:cubicBezTo>
                  <a:cubicBezTo>
                    <a:pt x="18929" y="4151"/>
                    <a:pt x="28950" y="0"/>
                    <a:pt x="39400" y="0"/>
                  </a:cubicBezTo>
                  <a:close/>
                </a:path>
              </a:pathLst>
            </a:custGeom>
            <a:solidFill>
              <a:srgbClr val="FCFDFE"/>
            </a:solidFill>
          </p:spPr>
        </p:sp>
        <p:sp>
          <p:nvSpPr>
            <p:cNvPr name="TextBox 36" id="36"/>
            <p:cNvSpPr txBox="true"/>
            <p:nvPr/>
          </p:nvSpPr>
          <p:spPr>
            <a:xfrm>
              <a:off x="0" y="-47625"/>
              <a:ext cx="2888979" cy="1495696"/>
            </a:xfrm>
            <a:prstGeom prst="rect">
              <a:avLst/>
            </a:prstGeom>
          </p:spPr>
          <p:txBody>
            <a:bodyPr anchor="ctr" rtlCol="false" tIns="50800" lIns="50800" bIns="50800" rIns="50800"/>
            <a:lstStyle/>
            <a:p>
              <a:pPr algn="ctr">
                <a:lnSpc>
                  <a:spcPts val="2488"/>
                </a:lnSpc>
              </a:pPr>
            </a:p>
          </p:txBody>
        </p:sp>
      </p:grpSp>
      <p:sp>
        <p:nvSpPr>
          <p:cNvPr name="TextBox 37" id="37"/>
          <p:cNvSpPr txBox="true"/>
          <p:nvPr/>
        </p:nvSpPr>
        <p:spPr>
          <a:xfrm rot="0">
            <a:off x="9816839" y="3386694"/>
            <a:ext cx="835397" cy="318897"/>
          </a:xfrm>
          <a:prstGeom prst="rect">
            <a:avLst/>
          </a:prstGeom>
        </p:spPr>
        <p:txBody>
          <a:bodyPr anchor="t" rtlCol="false" tIns="0" lIns="0" bIns="0" rIns="0">
            <a:spAutoFit/>
          </a:bodyPr>
          <a:lstStyle/>
          <a:p>
            <a:pPr algn="l">
              <a:lnSpc>
                <a:spcPts val="2798"/>
              </a:lnSpc>
            </a:pPr>
            <a:r>
              <a:rPr lang="en-US" sz="1799">
                <a:solidFill>
                  <a:srgbClr val="667198"/>
                </a:solidFill>
                <a:latin typeface="Canva Sans"/>
                <a:ea typeface="Canva Sans"/>
                <a:cs typeface="Canva Sans"/>
                <a:sym typeface="Canva Sans"/>
              </a:rPr>
              <a:t>02</a:t>
            </a:r>
          </a:p>
        </p:txBody>
      </p:sp>
      <p:sp>
        <p:nvSpPr>
          <p:cNvPr name="Freeform 38" id="38"/>
          <p:cNvSpPr/>
          <p:nvPr/>
        </p:nvSpPr>
        <p:spPr>
          <a:xfrm flipH="false" flipV="false" rot="0">
            <a:off x="13327383" y="3434319"/>
            <a:ext cx="1201761" cy="1201761"/>
          </a:xfrm>
          <a:custGeom>
            <a:avLst/>
            <a:gdLst/>
            <a:ahLst/>
            <a:cxnLst/>
            <a:rect r="r" b="b" t="t" l="l"/>
            <a:pathLst>
              <a:path h="1201761" w="1201761">
                <a:moveTo>
                  <a:pt x="0" y="0"/>
                </a:moveTo>
                <a:lnTo>
                  <a:pt x="1201761" y="0"/>
                </a:lnTo>
                <a:lnTo>
                  <a:pt x="1201761" y="1201761"/>
                </a:lnTo>
                <a:lnTo>
                  <a:pt x="0" y="120176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39" id="39"/>
          <p:cNvGrpSpPr/>
          <p:nvPr/>
        </p:nvGrpSpPr>
        <p:grpSpPr>
          <a:xfrm rot="0">
            <a:off x="13173075" y="3840298"/>
            <a:ext cx="1539614" cy="1324229"/>
            <a:chOff x="0" y="0"/>
            <a:chExt cx="264494" cy="227492"/>
          </a:xfrm>
        </p:grpSpPr>
        <p:sp>
          <p:nvSpPr>
            <p:cNvPr name="Freeform 40" id="40"/>
            <p:cNvSpPr/>
            <p:nvPr/>
          </p:nvSpPr>
          <p:spPr>
            <a:xfrm flipH="false" flipV="false" rot="0">
              <a:off x="0" y="0"/>
              <a:ext cx="264494" cy="227492"/>
            </a:xfrm>
            <a:custGeom>
              <a:avLst/>
              <a:gdLst/>
              <a:ahLst/>
              <a:cxnLst/>
              <a:rect r="r" b="b" t="t" l="l"/>
              <a:pathLst>
                <a:path h="227492" w="264494">
                  <a:moveTo>
                    <a:pt x="0" y="0"/>
                  </a:moveTo>
                  <a:lnTo>
                    <a:pt x="264494" y="0"/>
                  </a:lnTo>
                  <a:lnTo>
                    <a:pt x="264494" y="227492"/>
                  </a:lnTo>
                  <a:lnTo>
                    <a:pt x="0" y="227492"/>
                  </a:lnTo>
                  <a:close/>
                </a:path>
              </a:pathLst>
            </a:custGeom>
            <a:gradFill rotWithShape="true">
              <a:gsLst>
                <a:gs pos="0">
                  <a:srgbClr val="FFFFFF">
                    <a:alpha val="0"/>
                  </a:srgbClr>
                </a:gs>
                <a:gs pos="50000">
                  <a:srgbClr val="FCFDFE">
                    <a:alpha val="100000"/>
                  </a:srgbClr>
                </a:gs>
                <a:gs pos="100000">
                  <a:srgbClr val="FCFDFE">
                    <a:alpha val="100000"/>
                  </a:srgbClr>
                </a:gs>
              </a:gsLst>
              <a:lin ang="5400000"/>
            </a:gradFill>
          </p:spPr>
        </p:sp>
        <p:sp>
          <p:nvSpPr>
            <p:cNvPr name="TextBox 41" id="41"/>
            <p:cNvSpPr txBox="true"/>
            <p:nvPr/>
          </p:nvSpPr>
          <p:spPr>
            <a:xfrm>
              <a:off x="0" y="-47625"/>
              <a:ext cx="264494" cy="275117"/>
            </a:xfrm>
            <a:prstGeom prst="rect">
              <a:avLst/>
            </a:prstGeom>
          </p:spPr>
          <p:txBody>
            <a:bodyPr anchor="ctr" rtlCol="false" tIns="50800" lIns="50800" bIns="50800" rIns="50800"/>
            <a:lstStyle/>
            <a:p>
              <a:pPr algn="ctr">
                <a:lnSpc>
                  <a:spcPts val="2488"/>
                </a:lnSpc>
              </a:pPr>
            </a:p>
          </p:txBody>
        </p:sp>
      </p:grpSp>
      <p:sp>
        <p:nvSpPr>
          <p:cNvPr name="TextBox 42" id="42"/>
          <p:cNvSpPr txBox="true"/>
          <p:nvPr/>
        </p:nvSpPr>
        <p:spPr>
          <a:xfrm rot="0">
            <a:off x="9816839" y="4588455"/>
            <a:ext cx="4895850" cy="1023747"/>
          </a:xfrm>
          <a:prstGeom prst="rect">
            <a:avLst/>
          </a:prstGeom>
        </p:spPr>
        <p:txBody>
          <a:bodyPr anchor="t" rtlCol="false" tIns="0" lIns="0" bIns="0" rIns="0">
            <a:spAutoFit/>
          </a:bodyPr>
          <a:lstStyle/>
          <a:p>
            <a:pPr algn="l">
              <a:lnSpc>
                <a:spcPts val="2798"/>
              </a:lnSpc>
            </a:pPr>
            <a:r>
              <a:rPr lang="en-US" sz="1799">
                <a:solidFill>
                  <a:srgbClr val="000000"/>
                </a:solidFill>
                <a:latin typeface="Canva Sans"/>
                <a:ea typeface="Canva Sans"/>
                <a:cs typeface="Canva Sans"/>
                <a:sym typeface="Canva Sans"/>
              </a:rPr>
              <a:t> an</a:t>
            </a:r>
            <a:r>
              <a:rPr lang="en-US" sz="1799">
                <a:solidFill>
                  <a:srgbClr val="000000"/>
                </a:solidFill>
                <a:latin typeface="Canva Sans"/>
                <a:ea typeface="Canva Sans"/>
                <a:cs typeface="Canva Sans"/>
                <a:sym typeface="Canva Sans"/>
              </a:rPr>
              <a:t>alytical queries ran directly on transactional databases, affecting performance and daily operations</a:t>
            </a:r>
          </a:p>
        </p:txBody>
      </p:sp>
      <p:sp>
        <p:nvSpPr>
          <p:cNvPr name="TextBox 43" id="43"/>
          <p:cNvSpPr txBox="true"/>
          <p:nvPr/>
        </p:nvSpPr>
        <p:spPr>
          <a:xfrm rot="0">
            <a:off x="9816839" y="3857991"/>
            <a:ext cx="3356236" cy="608965"/>
          </a:xfrm>
          <a:prstGeom prst="rect">
            <a:avLst/>
          </a:prstGeom>
        </p:spPr>
        <p:txBody>
          <a:bodyPr anchor="t" rtlCol="false" tIns="0" lIns="0" bIns="0" rIns="0">
            <a:spAutoFit/>
          </a:bodyPr>
          <a:lstStyle/>
          <a:p>
            <a:pPr algn="l">
              <a:lnSpc>
                <a:spcPts val="2450"/>
              </a:lnSpc>
            </a:pPr>
            <a:r>
              <a:rPr lang="en-US" sz="2100" b="true">
                <a:solidFill>
                  <a:srgbClr val="041F60"/>
                </a:solidFill>
                <a:latin typeface="Gotham Bold"/>
                <a:ea typeface="Gotham Bold"/>
                <a:cs typeface="Gotham Bold"/>
                <a:sym typeface="Gotham Bold"/>
              </a:rPr>
              <a:t>OLTP systems under pressure</a:t>
            </a:r>
          </a:p>
        </p:txBody>
      </p:sp>
      <p:sp>
        <p:nvSpPr>
          <p:cNvPr name="Freeform 44" id="44"/>
          <p:cNvSpPr/>
          <p:nvPr/>
        </p:nvSpPr>
        <p:spPr>
          <a:xfrm flipH="false" flipV="false" rot="0">
            <a:off x="8105775" y="6391799"/>
            <a:ext cx="8317977" cy="3285601"/>
          </a:xfrm>
          <a:custGeom>
            <a:avLst/>
            <a:gdLst/>
            <a:ahLst/>
            <a:cxnLst/>
            <a:rect r="r" b="b" t="t" l="l"/>
            <a:pathLst>
              <a:path h="3285601" w="8317977">
                <a:moveTo>
                  <a:pt x="0" y="0"/>
                </a:moveTo>
                <a:lnTo>
                  <a:pt x="8317977" y="0"/>
                </a:lnTo>
                <a:lnTo>
                  <a:pt x="8317977" y="3285601"/>
                </a:lnTo>
                <a:lnTo>
                  <a:pt x="0" y="3285601"/>
                </a:lnTo>
                <a:lnTo>
                  <a:pt x="0" y="0"/>
                </a:lnTo>
                <a:close/>
              </a:path>
            </a:pathLst>
          </a:custGeom>
          <a:blipFill>
            <a:blip r:embed="rId5">
              <a:alphaModFix amt="24000"/>
            </a:blip>
            <a:stretch>
              <a:fillRect l="0" t="0" r="0" b="0"/>
            </a:stretch>
          </a:blipFill>
        </p:spPr>
      </p:sp>
      <p:grpSp>
        <p:nvGrpSpPr>
          <p:cNvPr name="Group 45" id="45"/>
          <p:cNvGrpSpPr/>
          <p:nvPr/>
        </p:nvGrpSpPr>
        <p:grpSpPr>
          <a:xfrm rot="0">
            <a:off x="9513815" y="6562512"/>
            <a:ext cx="5501898" cy="2381250"/>
            <a:chOff x="0" y="0"/>
            <a:chExt cx="2888979" cy="1250365"/>
          </a:xfrm>
        </p:grpSpPr>
        <p:sp>
          <p:nvSpPr>
            <p:cNvPr name="Freeform 46" id="46"/>
            <p:cNvSpPr/>
            <p:nvPr/>
          </p:nvSpPr>
          <p:spPr>
            <a:xfrm flipH="false" flipV="false" rot="0">
              <a:off x="0" y="0"/>
              <a:ext cx="2888979" cy="1250365"/>
            </a:xfrm>
            <a:custGeom>
              <a:avLst/>
              <a:gdLst/>
              <a:ahLst/>
              <a:cxnLst/>
              <a:rect r="r" b="b" t="t" l="l"/>
              <a:pathLst>
                <a:path h="1250365" w="2888979">
                  <a:moveTo>
                    <a:pt x="39400" y="0"/>
                  </a:moveTo>
                  <a:lnTo>
                    <a:pt x="2849579" y="0"/>
                  </a:lnTo>
                  <a:cubicBezTo>
                    <a:pt x="2860028" y="0"/>
                    <a:pt x="2870050" y="4151"/>
                    <a:pt x="2877439" y="11540"/>
                  </a:cubicBezTo>
                  <a:cubicBezTo>
                    <a:pt x="2884828" y="18929"/>
                    <a:pt x="2888979" y="28950"/>
                    <a:pt x="2888979" y="39400"/>
                  </a:cubicBezTo>
                  <a:lnTo>
                    <a:pt x="2888979" y="1210965"/>
                  </a:lnTo>
                  <a:cubicBezTo>
                    <a:pt x="2888979" y="1221415"/>
                    <a:pt x="2884828" y="1231436"/>
                    <a:pt x="2877439" y="1238825"/>
                  </a:cubicBezTo>
                  <a:cubicBezTo>
                    <a:pt x="2870050" y="1246214"/>
                    <a:pt x="2860028" y="1250365"/>
                    <a:pt x="2849579" y="1250365"/>
                  </a:cubicBezTo>
                  <a:lnTo>
                    <a:pt x="39400" y="1250365"/>
                  </a:lnTo>
                  <a:cubicBezTo>
                    <a:pt x="28950" y="1250365"/>
                    <a:pt x="18929" y="1246214"/>
                    <a:pt x="11540" y="1238825"/>
                  </a:cubicBezTo>
                  <a:cubicBezTo>
                    <a:pt x="4151" y="1231436"/>
                    <a:pt x="0" y="1221415"/>
                    <a:pt x="0" y="1210965"/>
                  </a:cubicBezTo>
                  <a:lnTo>
                    <a:pt x="0" y="39400"/>
                  </a:lnTo>
                  <a:cubicBezTo>
                    <a:pt x="0" y="28950"/>
                    <a:pt x="4151" y="18929"/>
                    <a:pt x="11540" y="11540"/>
                  </a:cubicBezTo>
                  <a:cubicBezTo>
                    <a:pt x="18929" y="4151"/>
                    <a:pt x="28950" y="0"/>
                    <a:pt x="39400" y="0"/>
                  </a:cubicBezTo>
                  <a:close/>
                </a:path>
              </a:pathLst>
            </a:custGeom>
            <a:solidFill>
              <a:srgbClr val="E9EBF4"/>
            </a:solidFill>
          </p:spPr>
        </p:sp>
        <p:sp>
          <p:nvSpPr>
            <p:cNvPr name="TextBox 47" id="47"/>
            <p:cNvSpPr txBox="true"/>
            <p:nvPr/>
          </p:nvSpPr>
          <p:spPr>
            <a:xfrm>
              <a:off x="0" y="-47625"/>
              <a:ext cx="2888979" cy="1297990"/>
            </a:xfrm>
            <a:prstGeom prst="rect">
              <a:avLst/>
            </a:prstGeom>
          </p:spPr>
          <p:txBody>
            <a:bodyPr anchor="ctr" rtlCol="false" tIns="50800" lIns="50800" bIns="50800" rIns="50800"/>
            <a:lstStyle/>
            <a:p>
              <a:pPr algn="ctr">
                <a:lnSpc>
                  <a:spcPts val="2488"/>
                </a:lnSpc>
              </a:pPr>
            </a:p>
          </p:txBody>
        </p:sp>
      </p:grpSp>
      <p:grpSp>
        <p:nvGrpSpPr>
          <p:cNvPr name="Group 48" id="48"/>
          <p:cNvGrpSpPr/>
          <p:nvPr/>
        </p:nvGrpSpPr>
        <p:grpSpPr>
          <a:xfrm rot="0">
            <a:off x="9513815" y="6471955"/>
            <a:ext cx="5501898" cy="2786345"/>
            <a:chOff x="0" y="0"/>
            <a:chExt cx="2888979" cy="1463075"/>
          </a:xfrm>
        </p:grpSpPr>
        <p:sp>
          <p:nvSpPr>
            <p:cNvPr name="Freeform 49" id="49"/>
            <p:cNvSpPr/>
            <p:nvPr/>
          </p:nvSpPr>
          <p:spPr>
            <a:xfrm flipH="false" flipV="false" rot="0">
              <a:off x="0" y="0"/>
              <a:ext cx="2888979" cy="1463075"/>
            </a:xfrm>
            <a:custGeom>
              <a:avLst/>
              <a:gdLst/>
              <a:ahLst/>
              <a:cxnLst/>
              <a:rect r="r" b="b" t="t" l="l"/>
              <a:pathLst>
                <a:path h="1463075" w="2888979">
                  <a:moveTo>
                    <a:pt x="39400" y="0"/>
                  </a:moveTo>
                  <a:lnTo>
                    <a:pt x="2849579" y="0"/>
                  </a:lnTo>
                  <a:cubicBezTo>
                    <a:pt x="2860028" y="0"/>
                    <a:pt x="2870050" y="4151"/>
                    <a:pt x="2877439" y="11540"/>
                  </a:cubicBezTo>
                  <a:cubicBezTo>
                    <a:pt x="2884828" y="18929"/>
                    <a:pt x="2888979" y="28950"/>
                    <a:pt x="2888979" y="39400"/>
                  </a:cubicBezTo>
                  <a:lnTo>
                    <a:pt x="2888979" y="1423676"/>
                  </a:lnTo>
                  <a:cubicBezTo>
                    <a:pt x="2888979" y="1434125"/>
                    <a:pt x="2884828" y="1444147"/>
                    <a:pt x="2877439" y="1451536"/>
                  </a:cubicBezTo>
                  <a:cubicBezTo>
                    <a:pt x="2870050" y="1458924"/>
                    <a:pt x="2860028" y="1463075"/>
                    <a:pt x="2849579" y="1463075"/>
                  </a:cubicBezTo>
                  <a:lnTo>
                    <a:pt x="39400" y="1463075"/>
                  </a:lnTo>
                  <a:cubicBezTo>
                    <a:pt x="28950" y="1463075"/>
                    <a:pt x="18929" y="1458924"/>
                    <a:pt x="11540" y="1451536"/>
                  </a:cubicBezTo>
                  <a:cubicBezTo>
                    <a:pt x="4151" y="1444147"/>
                    <a:pt x="0" y="1434125"/>
                    <a:pt x="0" y="1423676"/>
                  </a:cubicBezTo>
                  <a:lnTo>
                    <a:pt x="0" y="39400"/>
                  </a:lnTo>
                  <a:cubicBezTo>
                    <a:pt x="0" y="28950"/>
                    <a:pt x="4151" y="18929"/>
                    <a:pt x="11540" y="11540"/>
                  </a:cubicBezTo>
                  <a:cubicBezTo>
                    <a:pt x="18929" y="4151"/>
                    <a:pt x="28950" y="0"/>
                    <a:pt x="39400" y="0"/>
                  </a:cubicBezTo>
                  <a:close/>
                </a:path>
              </a:pathLst>
            </a:custGeom>
            <a:solidFill>
              <a:srgbClr val="FCFDFE"/>
            </a:solidFill>
          </p:spPr>
        </p:sp>
        <p:sp>
          <p:nvSpPr>
            <p:cNvPr name="TextBox 50" id="50"/>
            <p:cNvSpPr txBox="true"/>
            <p:nvPr/>
          </p:nvSpPr>
          <p:spPr>
            <a:xfrm>
              <a:off x="0" y="-47625"/>
              <a:ext cx="2888979" cy="1510700"/>
            </a:xfrm>
            <a:prstGeom prst="rect">
              <a:avLst/>
            </a:prstGeom>
          </p:spPr>
          <p:txBody>
            <a:bodyPr anchor="ctr" rtlCol="false" tIns="50800" lIns="50800" bIns="50800" rIns="50800"/>
            <a:lstStyle/>
            <a:p>
              <a:pPr algn="ctr">
                <a:lnSpc>
                  <a:spcPts val="2488"/>
                </a:lnSpc>
              </a:pPr>
            </a:p>
          </p:txBody>
        </p:sp>
      </p:grpSp>
      <p:sp>
        <p:nvSpPr>
          <p:cNvPr name="TextBox 51" id="51"/>
          <p:cNvSpPr txBox="true"/>
          <p:nvPr/>
        </p:nvSpPr>
        <p:spPr>
          <a:xfrm rot="0">
            <a:off x="9816839" y="6672295"/>
            <a:ext cx="835397" cy="318897"/>
          </a:xfrm>
          <a:prstGeom prst="rect">
            <a:avLst/>
          </a:prstGeom>
        </p:spPr>
        <p:txBody>
          <a:bodyPr anchor="t" rtlCol="false" tIns="0" lIns="0" bIns="0" rIns="0">
            <a:spAutoFit/>
          </a:bodyPr>
          <a:lstStyle/>
          <a:p>
            <a:pPr algn="l">
              <a:lnSpc>
                <a:spcPts val="2798"/>
              </a:lnSpc>
            </a:pPr>
            <a:r>
              <a:rPr lang="en-US" sz="1799">
                <a:solidFill>
                  <a:srgbClr val="667198"/>
                </a:solidFill>
                <a:latin typeface="Canva Sans"/>
                <a:ea typeface="Canva Sans"/>
                <a:cs typeface="Canva Sans"/>
                <a:sym typeface="Canva Sans"/>
              </a:rPr>
              <a:t>04</a:t>
            </a:r>
          </a:p>
        </p:txBody>
      </p:sp>
      <p:sp>
        <p:nvSpPr>
          <p:cNvPr name="Freeform 52" id="52"/>
          <p:cNvSpPr/>
          <p:nvPr/>
        </p:nvSpPr>
        <p:spPr>
          <a:xfrm flipH="false" flipV="false" rot="0">
            <a:off x="13342001" y="6719920"/>
            <a:ext cx="1201761" cy="1201761"/>
          </a:xfrm>
          <a:custGeom>
            <a:avLst/>
            <a:gdLst/>
            <a:ahLst/>
            <a:cxnLst/>
            <a:rect r="r" b="b" t="t" l="l"/>
            <a:pathLst>
              <a:path h="1201761" w="1201761">
                <a:moveTo>
                  <a:pt x="0" y="0"/>
                </a:moveTo>
                <a:lnTo>
                  <a:pt x="1201761" y="0"/>
                </a:lnTo>
                <a:lnTo>
                  <a:pt x="1201761" y="1201761"/>
                </a:lnTo>
                <a:lnTo>
                  <a:pt x="0" y="120176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53" id="53"/>
          <p:cNvGrpSpPr/>
          <p:nvPr/>
        </p:nvGrpSpPr>
        <p:grpSpPr>
          <a:xfrm rot="0">
            <a:off x="13173075" y="7125899"/>
            <a:ext cx="1539614" cy="1324229"/>
            <a:chOff x="0" y="0"/>
            <a:chExt cx="264494" cy="227492"/>
          </a:xfrm>
        </p:grpSpPr>
        <p:sp>
          <p:nvSpPr>
            <p:cNvPr name="Freeform 54" id="54"/>
            <p:cNvSpPr/>
            <p:nvPr/>
          </p:nvSpPr>
          <p:spPr>
            <a:xfrm flipH="false" flipV="false" rot="0">
              <a:off x="0" y="0"/>
              <a:ext cx="264494" cy="227492"/>
            </a:xfrm>
            <a:custGeom>
              <a:avLst/>
              <a:gdLst/>
              <a:ahLst/>
              <a:cxnLst/>
              <a:rect r="r" b="b" t="t" l="l"/>
              <a:pathLst>
                <a:path h="227492" w="264494">
                  <a:moveTo>
                    <a:pt x="0" y="0"/>
                  </a:moveTo>
                  <a:lnTo>
                    <a:pt x="264494" y="0"/>
                  </a:lnTo>
                  <a:lnTo>
                    <a:pt x="264494" y="227492"/>
                  </a:lnTo>
                  <a:lnTo>
                    <a:pt x="0" y="227492"/>
                  </a:lnTo>
                  <a:close/>
                </a:path>
              </a:pathLst>
            </a:custGeom>
            <a:gradFill rotWithShape="true">
              <a:gsLst>
                <a:gs pos="0">
                  <a:srgbClr val="FFFFFF">
                    <a:alpha val="0"/>
                  </a:srgbClr>
                </a:gs>
                <a:gs pos="50000">
                  <a:srgbClr val="FCFDFE">
                    <a:alpha val="100000"/>
                  </a:srgbClr>
                </a:gs>
                <a:gs pos="100000">
                  <a:srgbClr val="FCFDFE">
                    <a:alpha val="100000"/>
                  </a:srgbClr>
                </a:gs>
              </a:gsLst>
              <a:lin ang="5400000"/>
            </a:gradFill>
          </p:spPr>
        </p:sp>
        <p:sp>
          <p:nvSpPr>
            <p:cNvPr name="TextBox 55" id="55"/>
            <p:cNvSpPr txBox="true"/>
            <p:nvPr/>
          </p:nvSpPr>
          <p:spPr>
            <a:xfrm>
              <a:off x="0" y="-47625"/>
              <a:ext cx="264494" cy="275117"/>
            </a:xfrm>
            <a:prstGeom prst="rect">
              <a:avLst/>
            </a:prstGeom>
          </p:spPr>
          <p:txBody>
            <a:bodyPr anchor="ctr" rtlCol="false" tIns="50800" lIns="50800" bIns="50800" rIns="50800"/>
            <a:lstStyle/>
            <a:p>
              <a:pPr algn="ctr">
                <a:lnSpc>
                  <a:spcPts val="2488"/>
                </a:lnSpc>
              </a:pPr>
            </a:p>
          </p:txBody>
        </p:sp>
      </p:grpSp>
      <p:sp>
        <p:nvSpPr>
          <p:cNvPr name="TextBox 56" id="56"/>
          <p:cNvSpPr txBox="true"/>
          <p:nvPr/>
        </p:nvSpPr>
        <p:spPr>
          <a:xfrm rot="0">
            <a:off x="9816839" y="7874056"/>
            <a:ext cx="4895850" cy="1023747"/>
          </a:xfrm>
          <a:prstGeom prst="rect">
            <a:avLst/>
          </a:prstGeom>
        </p:spPr>
        <p:txBody>
          <a:bodyPr anchor="t" rtlCol="false" tIns="0" lIns="0" bIns="0" rIns="0">
            <a:spAutoFit/>
          </a:bodyPr>
          <a:lstStyle/>
          <a:p>
            <a:pPr algn="l">
              <a:lnSpc>
                <a:spcPts val="2798"/>
              </a:lnSpc>
            </a:pPr>
            <a:r>
              <a:rPr lang="en-US" sz="1799">
                <a:solidFill>
                  <a:srgbClr val="000000"/>
                </a:solidFill>
                <a:latin typeface="Canva Sans"/>
                <a:ea typeface="Canva Sans"/>
                <a:cs typeface="Canva Sans"/>
                <a:sym typeface="Canva Sans"/>
              </a:rPr>
              <a:t>no int</a:t>
            </a:r>
            <a:r>
              <a:rPr lang="en-US" sz="1799">
                <a:solidFill>
                  <a:srgbClr val="000000"/>
                </a:solidFill>
                <a:latin typeface="Canva Sans"/>
                <a:ea typeface="Canva Sans"/>
                <a:cs typeface="Canva Sans"/>
                <a:sym typeface="Canva Sans"/>
              </a:rPr>
              <a:t>eractivity, filters, or drill-down options to support flexible, data-driven decision-making.</a:t>
            </a:r>
          </a:p>
        </p:txBody>
      </p:sp>
      <p:sp>
        <p:nvSpPr>
          <p:cNvPr name="TextBox 57" id="57"/>
          <p:cNvSpPr txBox="true"/>
          <p:nvPr/>
        </p:nvSpPr>
        <p:spPr>
          <a:xfrm rot="0">
            <a:off x="9816839" y="7448972"/>
            <a:ext cx="3356236" cy="304165"/>
          </a:xfrm>
          <a:prstGeom prst="rect">
            <a:avLst/>
          </a:prstGeom>
        </p:spPr>
        <p:txBody>
          <a:bodyPr anchor="t" rtlCol="false" tIns="0" lIns="0" bIns="0" rIns="0">
            <a:spAutoFit/>
          </a:bodyPr>
          <a:lstStyle/>
          <a:p>
            <a:pPr algn="l">
              <a:lnSpc>
                <a:spcPts val="2450"/>
              </a:lnSpc>
            </a:pPr>
            <a:r>
              <a:rPr lang="en-US" sz="2100" b="true">
                <a:solidFill>
                  <a:srgbClr val="041F60"/>
                </a:solidFill>
                <a:latin typeface="Gotham Bold"/>
                <a:ea typeface="Gotham Bold"/>
                <a:cs typeface="Gotham Bold"/>
                <a:sym typeface="Gotham Bold"/>
              </a:rPr>
              <a:t>Static Report</a:t>
            </a:r>
          </a:p>
        </p:txBody>
      </p:sp>
      <p:sp>
        <p:nvSpPr>
          <p:cNvPr name="TextBox 58" id="5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4</a:t>
            </a:r>
          </a:p>
        </p:txBody>
      </p:sp>
      <p:sp>
        <p:nvSpPr>
          <p:cNvPr name="TextBox 59" id="59"/>
          <p:cNvSpPr txBox="true"/>
          <p:nvPr/>
        </p:nvSpPr>
        <p:spPr>
          <a:xfrm rot="0">
            <a:off x="3575311" y="4692912"/>
            <a:ext cx="4895850" cy="1023747"/>
          </a:xfrm>
          <a:prstGeom prst="rect">
            <a:avLst/>
          </a:prstGeom>
        </p:spPr>
        <p:txBody>
          <a:bodyPr anchor="t" rtlCol="false" tIns="0" lIns="0" bIns="0" rIns="0">
            <a:spAutoFit/>
          </a:bodyPr>
          <a:lstStyle/>
          <a:p>
            <a:pPr algn="l">
              <a:lnSpc>
                <a:spcPts val="2798"/>
              </a:lnSpc>
            </a:pPr>
            <a:r>
              <a:rPr lang="en-US" sz="1799">
                <a:solidFill>
                  <a:srgbClr val="000000"/>
                </a:solidFill>
                <a:latin typeface="Canva Sans"/>
                <a:ea typeface="Canva Sans"/>
                <a:cs typeface="Canva Sans"/>
                <a:sym typeface="Canva Sans"/>
              </a:rPr>
              <a:t>reports were s</a:t>
            </a:r>
            <a:r>
              <a:rPr lang="en-US" sz="1799">
                <a:solidFill>
                  <a:srgbClr val="000000"/>
                </a:solidFill>
                <a:latin typeface="Canva Sans"/>
                <a:ea typeface="Canva Sans"/>
                <a:cs typeface="Canva Sans"/>
                <a:sym typeface="Canva Sans"/>
              </a:rPr>
              <a:t>cattered, queries were slow, and historical tracking (SCD) was missing, limiting reliable analytics.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4076700" y="2019440"/>
            <a:ext cx="10134600" cy="297180"/>
          </a:xfrm>
          <a:prstGeom prst="rect">
            <a:avLst/>
          </a:prstGeom>
        </p:spPr>
        <p:txBody>
          <a:bodyPr anchor="t" rtlCol="false" tIns="0" lIns="0" bIns="0" rIns="0">
            <a:spAutoFit/>
          </a:bodyPr>
          <a:lstStyle/>
          <a:p>
            <a:pPr algn="ctr">
              <a:lnSpc>
                <a:spcPts val="2520"/>
              </a:lnSpc>
              <a:spcBef>
                <a:spcPct val="0"/>
              </a:spcBef>
            </a:pPr>
            <a:r>
              <a:rPr lang="en-US" sz="1800">
                <a:solidFill>
                  <a:srgbClr val="667198"/>
                </a:solidFill>
                <a:latin typeface="Canva Sans"/>
                <a:ea typeface="Canva Sans"/>
                <a:cs typeface="Canva Sans"/>
                <a:sym typeface="Canva Sans"/>
              </a:rPr>
              <a:t>Step by step methodology for</a:t>
            </a:r>
            <a:r>
              <a:rPr lang="en-US" sz="1800">
                <a:solidFill>
                  <a:srgbClr val="667198"/>
                </a:solidFill>
                <a:latin typeface="Canva Sans"/>
                <a:ea typeface="Canva Sans"/>
                <a:cs typeface="Canva Sans"/>
                <a:sym typeface="Canva Sans"/>
              </a:rPr>
              <a:t> building comprehensive and actionable project </a:t>
            </a:r>
          </a:p>
        </p:txBody>
      </p:sp>
      <p:sp>
        <p:nvSpPr>
          <p:cNvPr name="TextBox 3" id="3"/>
          <p:cNvSpPr txBox="true"/>
          <p:nvPr/>
        </p:nvSpPr>
        <p:spPr>
          <a:xfrm rot="0">
            <a:off x="4076700" y="1180170"/>
            <a:ext cx="10134600" cy="721995"/>
          </a:xfrm>
          <a:prstGeom prst="rect">
            <a:avLst/>
          </a:prstGeom>
        </p:spPr>
        <p:txBody>
          <a:bodyPr anchor="t" rtlCol="false" tIns="0" lIns="0" bIns="0" rIns="0">
            <a:spAutoFit/>
          </a:bodyPr>
          <a:lstStyle/>
          <a:p>
            <a:pPr algn="ctr">
              <a:lnSpc>
                <a:spcPts val="5625"/>
              </a:lnSpc>
            </a:pPr>
            <a:r>
              <a:rPr lang="en-US" sz="4800" b="true">
                <a:solidFill>
                  <a:srgbClr val="041F60"/>
                </a:solidFill>
                <a:latin typeface="Gotham Bold"/>
                <a:ea typeface="Gotham Bold"/>
                <a:cs typeface="Gotham Bold"/>
                <a:sym typeface="Gotham Bold"/>
              </a:rPr>
              <a:t>Project Golas</a:t>
            </a:r>
          </a:p>
        </p:txBody>
      </p:sp>
      <p:sp>
        <p:nvSpPr>
          <p:cNvPr name="AutoShape 4" id="4"/>
          <p:cNvSpPr/>
          <p:nvPr/>
        </p:nvSpPr>
        <p:spPr>
          <a:xfrm>
            <a:off x="-47233" y="6343665"/>
            <a:ext cx="18379440" cy="37360"/>
          </a:xfrm>
          <a:prstGeom prst="line">
            <a:avLst/>
          </a:prstGeom>
          <a:ln cap="rnd" w="381000">
            <a:gradFill>
              <a:gsLst>
                <a:gs pos="0">
                  <a:srgbClr val="6AD572">
                    <a:alpha val="100000"/>
                  </a:srgbClr>
                </a:gs>
                <a:gs pos="100000">
                  <a:srgbClr val="65A6FE">
                    <a:alpha val="100000"/>
                  </a:srgbClr>
                </a:gs>
              </a:gsLst>
              <a:lin ang="0"/>
            </a:gradFill>
            <a:prstDash val="solid"/>
            <a:headEnd type="none" len="sm" w="sm"/>
            <a:tailEnd type="none" len="sm" w="sm"/>
          </a:ln>
        </p:spPr>
      </p:sp>
      <p:grpSp>
        <p:nvGrpSpPr>
          <p:cNvPr name="Group 5" id="5"/>
          <p:cNvGrpSpPr/>
          <p:nvPr/>
        </p:nvGrpSpPr>
        <p:grpSpPr>
          <a:xfrm rot="0">
            <a:off x="8578146" y="4304613"/>
            <a:ext cx="1131708" cy="1349995"/>
            <a:chOff x="0" y="0"/>
            <a:chExt cx="1508944" cy="1799993"/>
          </a:xfrm>
        </p:grpSpPr>
        <p:sp>
          <p:nvSpPr>
            <p:cNvPr name="Freeform 6" id="6"/>
            <p:cNvSpPr/>
            <p:nvPr/>
          </p:nvSpPr>
          <p:spPr>
            <a:xfrm flipH="false" flipV="false" rot="5400000">
              <a:off x="-116491" y="174558"/>
              <a:ext cx="1741926" cy="1508944"/>
            </a:xfrm>
            <a:custGeom>
              <a:avLst/>
              <a:gdLst/>
              <a:ahLst/>
              <a:cxnLst/>
              <a:rect r="r" b="b" t="t" l="l"/>
              <a:pathLst>
                <a:path h="1508944" w="1741926">
                  <a:moveTo>
                    <a:pt x="0" y="0"/>
                  </a:moveTo>
                  <a:lnTo>
                    <a:pt x="1741926" y="0"/>
                  </a:lnTo>
                  <a:lnTo>
                    <a:pt x="1741926" y="1508944"/>
                  </a:lnTo>
                  <a:lnTo>
                    <a:pt x="0" y="1508944"/>
                  </a:lnTo>
                  <a:lnTo>
                    <a:pt x="0" y="0"/>
                  </a:lnTo>
                  <a:close/>
                </a:path>
              </a:pathLst>
            </a:custGeom>
            <a:blipFill>
              <a:blip r:embed="rId2">
                <a:alphaModFix amt="24000"/>
              </a:blip>
              <a:stretch>
                <a:fillRect l="0" t="0" r="0" b="0"/>
              </a:stretch>
            </a:blipFill>
            <a:ln cap="sq">
              <a:noFill/>
              <a:prstDash val="solid"/>
              <a:miter/>
            </a:ln>
          </p:spPr>
        </p:sp>
        <p:grpSp>
          <p:nvGrpSpPr>
            <p:cNvPr name="Group 7" id="7"/>
            <p:cNvGrpSpPr/>
            <p:nvPr/>
          </p:nvGrpSpPr>
          <p:grpSpPr>
            <a:xfrm rot="0">
              <a:off x="105336" y="79225"/>
              <a:ext cx="1298272" cy="1510717"/>
              <a:chOff x="0" y="0"/>
              <a:chExt cx="698500" cy="812800"/>
            </a:xfrm>
          </p:grpSpPr>
          <p:sp>
            <p:nvSpPr>
              <p:cNvPr name="Freeform 8" id="8"/>
              <p:cNvSpPr/>
              <p:nvPr/>
            </p:nvSpPr>
            <p:spPr>
              <a:xfrm flipH="false" flipV="false" rot="0">
                <a:off x="0" y="10552"/>
                <a:ext cx="698500" cy="791696"/>
              </a:xfrm>
              <a:custGeom>
                <a:avLst/>
                <a:gdLst/>
                <a:ahLst/>
                <a:cxnLst/>
                <a:rect r="r" b="b" t="t" l="l"/>
                <a:pathLst>
                  <a:path h="791696" w="698500">
                    <a:moveTo>
                      <a:pt x="396747" y="17083"/>
                    </a:moveTo>
                    <a:lnTo>
                      <a:pt x="651003" y="165013"/>
                    </a:lnTo>
                    <a:cubicBezTo>
                      <a:pt x="680409" y="182123"/>
                      <a:pt x="698500" y="213578"/>
                      <a:pt x="698500" y="247599"/>
                    </a:cubicBezTo>
                    <a:lnTo>
                      <a:pt x="698500" y="544097"/>
                    </a:lnTo>
                    <a:cubicBezTo>
                      <a:pt x="698500" y="578118"/>
                      <a:pt x="680409" y="609573"/>
                      <a:pt x="651003" y="626683"/>
                    </a:cubicBezTo>
                    <a:lnTo>
                      <a:pt x="396747" y="774613"/>
                    </a:lnTo>
                    <a:cubicBezTo>
                      <a:pt x="367386" y="791696"/>
                      <a:pt x="331114" y="791696"/>
                      <a:pt x="301753" y="774613"/>
                    </a:cubicBezTo>
                    <a:lnTo>
                      <a:pt x="47497" y="626683"/>
                    </a:lnTo>
                    <a:cubicBezTo>
                      <a:pt x="18091" y="609573"/>
                      <a:pt x="0" y="578118"/>
                      <a:pt x="0" y="544097"/>
                    </a:cubicBezTo>
                    <a:lnTo>
                      <a:pt x="0" y="247599"/>
                    </a:lnTo>
                    <a:cubicBezTo>
                      <a:pt x="0" y="213578"/>
                      <a:pt x="18091" y="182123"/>
                      <a:pt x="47497" y="165013"/>
                    </a:cubicBezTo>
                    <a:lnTo>
                      <a:pt x="301753" y="17083"/>
                    </a:lnTo>
                    <a:cubicBezTo>
                      <a:pt x="331114" y="0"/>
                      <a:pt x="367386" y="0"/>
                      <a:pt x="396747" y="17083"/>
                    </a:cubicBezTo>
                    <a:close/>
                  </a:path>
                </a:pathLst>
              </a:custGeom>
              <a:solidFill>
                <a:srgbClr val="E9EBF4"/>
              </a:solidFill>
            </p:spPr>
          </p:sp>
          <p:sp>
            <p:nvSpPr>
              <p:cNvPr name="TextBox 9" id="9"/>
              <p:cNvSpPr txBox="true"/>
              <p:nvPr/>
            </p:nvSpPr>
            <p:spPr>
              <a:xfrm>
                <a:off x="0" y="92075"/>
                <a:ext cx="698500" cy="581025"/>
              </a:xfrm>
              <a:prstGeom prst="rect">
                <a:avLst/>
              </a:prstGeom>
            </p:spPr>
            <p:txBody>
              <a:bodyPr anchor="ctr" rtlCol="false" tIns="50800" lIns="50800" bIns="50800" rIns="50800"/>
              <a:lstStyle/>
              <a:p>
                <a:pPr algn="ctr">
                  <a:lnSpc>
                    <a:spcPts val="2488"/>
                  </a:lnSpc>
                </a:pPr>
              </a:p>
            </p:txBody>
          </p:sp>
        </p:grpSp>
        <p:grpSp>
          <p:nvGrpSpPr>
            <p:cNvPr name="Group 10" id="10"/>
            <p:cNvGrpSpPr/>
            <p:nvPr/>
          </p:nvGrpSpPr>
          <p:grpSpPr>
            <a:xfrm rot="0">
              <a:off x="105336" y="0"/>
              <a:ext cx="1298272" cy="1510717"/>
              <a:chOff x="0" y="0"/>
              <a:chExt cx="698500" cy="812800"/>
            </a:xfrm>
          </p:grpSpPr>
          <p:sp>
            <p:nvSpPr>
              <p:cNvPr name="Freeform 11" id="11"/>
              <p:cNvSpPr/>
              <p:nvPr/>
            </p:nvSpPr>
            <p:spPr>
              <a:xfrm flipH="false" flipV="false" rot="0">
                <a:off x="0" y="10552"/>
                <a:ext cx="698500" cy="791696"/>
              </a:xfrm>
              <a:custGeom>
                <a:avLst/>
                <a:gdLst/>
                <a:ahLst/>
                <a:cxnLst/>
                <a:rect r="r" b="b" t="t" l="l"/>
                <a:pathLst>
                  <a:path h="791696" w="698500">
                    <a:moveTo>
                      <a:pt x="396747" y="17083"/>
                    </a:moveTo>
                    <a:lnTo>
                      <a:pt x="651003" y="165013"/>
                    </a:lnTo>
                    <a:cubicBezTo>
                      <a:pt x="680409" y="182123"/>
                      <a:pt x="698500" y="213578"/>
                      <a:pt x="698500" y="247599"/>
                    </a:cubicBezTo>
                    <a:lnTo>
                      <a:pt x="698500" y="544097"/>
                    </a:lnTo>
                    <a:cubicBezTo>
                      <a:pt x="698500" y="578118"/>
                      <a:pt x="680409" y="609573"/>
                      <a:pt x="651003" y="626683"/>
                    </a:cubicBezTo>
                    <a:lnTo>
                      <a:pt x="396747" y="774613"/>
                    </a:lnTo>
                    <a:cubicBezTo>
                      <a:pt x="367386" y="791696"/>
                      <a:pt x="331114" y="791696"/>
                      <a:pt x="301753" y="774613"/>
                    </a:cubicBezTo>
                    <a:lnTo>
                      <a:pt x="47497" y="626683"/>
                    </a:lnTo>
                    <a:cubicBezTo>
                      <a:pt x="18091" y="609573"/>
                      <a:pt x="0" y="578118"/>
                      <a:pt x="0" y="544097"/>
                    </a:cubicBezTo>
                    <a:lnTo>
                      <a:pt x="0" y="247599"/>
                    </a:lnTo>
                    <a:cubicBezTo>
                      <a:pt x="0" y="213578"/>
                      <a:pt x="18091" y="182123"/>
                      <a:pt x="47497" y="165013"/>
                    </a:cubicBezTo>
                    <a:lnTo>
                      <a:pt x="301753" y="17083"/>
                    </a:lnTo>
                    <a:cubicBezTo>
                      <a:pt x="331114" y="0"/>
                      <a:pt x="367386" y="0"/>
                      <a:pt x="396747" y="17083"/>
                    </a:cubicBezTo>
                    <a:close/>
                  </a:path>
                </a:pathLst>
              </a:custGeom>
              <a:solidFill>
                <a:srgbClr val="FCFDFE"/>
              </a:solidFill>
            </p:spPr>
          </p:sp>
          <p:sp>
            <p:nvSpPr>
              <p:cNvPr name="TextBox 12" id="12"/>
              <p:cNvSpPr txBox="true"/>
              <p:nvPr/>
            </p:nvSpPr>
            <p:spPr>
              <a:xfrm>
                <a:off x="0" y="92075"/>
                <a:ext cx="698500" cy="581025"/>
              </a:xfrm>
              <a:prstGeom prst="rect">
                <a:avLst/>
              </a:prstGeom>
            </p:spPr>
            <p:txBody>
              <a:bodyPr anchor="ctr" rtlCol="false" tIns="50800" lIns="50800" bIns="50800" rIns="50800"/>
              <a:lstStyle/>
              <a:p>
                <a:pPr algn="ctr">
                  <a:lnSpc>
                    <a:spcPts val="2488"/>
                  </a:lnSpc>
                </a:pPr>
              </a:p>
            </p:txBody>
          </p:sp>
        </p:grpSp>
      </p:grpSp>
      <p:grpSp>
        <p:nvGrpSpPr>
          <p:cNvPr name="Group 13" id="13"/>
          <p:cNvGrpSpPr/>
          <p:nvPr/>
        </p:nvGrpSpPr>
        <p:grpSpPr>
          <a:xfrm rot="0">
            <a:off x="4882446" y="4518593"/>
            <a:ext cx="1131708" cy="1349995"/>
            <a:chOff x="0" y="0"/>
            <a:chExt cx="1508944" cy="1799993"/>
          </a:xfrm>
        </p:grpSpPr>
        <p:sp>
          <p:nvSpPr>
            <p:cNvPr name="Freeform 14" id="14"/>
            <p:cNvSpPr/>
            <p:nvPr/>
          </p:nvSpPr>
          <p:spPr>
            <a:xfrm flipH="false" flipV="false" rot="5400000">
              <a:off x="-116491" y="174558"/>
              <a:ext cx="1741926" cy="1508944"/>
            </a:xfrm>
            <a:custGeom>
              <a:avLst/>
              <a:gdLst/>
              <a:ahLst/>
              <a:cxnLst/>
              <a:rect r="r" b="b" t="t" l="l"/>
              <a:pathLst>
                <a:path h="1508944" w="1741926">
                  <a:moveTo>
                    <a:pt x="0" y="0"/>
                  </a:moveTo>
                  <a:lnTo>
                    <a:pt x="1741926" y="0"/>
                  </a:lnTo>
                  <a:lnTo>
                    <a:pt x="1741926" y="1508944"/>
                  </a:lnTo>
                  <a:lnTo>
                    <a:pt x="0" y="1508944"/>
                  </a:lnTo>
                  <a:lnTo>
                    <a:pt x="0" y="0"/>
                  </a:lnTo>
                  <a:close/>
                </a:path>
              </a:pathLst>
            </a:custGeom>
            <a:blipFill>
              <a:blip r:embed="rId2">
                <a:alphaModFix amt="24000"/>
              </a:blip>
              <a:stretch>
                <a:fillRect l="0" t="0" r="0" b="0"/>
              </a:stretch>
            </a:blipFill>
            <a:ln cap="sq">
              <a:noFill/>
              <a:prstDash val="solid"/>
              <a:miter/>
            </a:ln>
          </p:spPr>
        </p:sp>
        <p:grpSp>
          <p:nvGrpSpPr>
            <p:cNvPr name="Group 15" id="15"/>
            <p:cNvGrpSpPr/>
            <p:nvPr/>
          </p:nvGrpSpPr>
          <p:grpSpPr>
            <a:xfrm rot="0">
              <a:off x="105336" y="79225"/>
              <a:ext cx="1298272" cy="1510717"/>
              <a:chOff x="0" y="0"/>
              <a:chExt cx="698500" cy="812800"/>
            </a:xfrm>
          </p:grpSpPr>
          <p:sp>
            <p:nvSpPr>
              <p:cNvPr name="Freeform 16" id="16"/>
              <p:cNvSpPr/>
              <p:nvPr/>
            </p:nvSpPr>
            <p:spPr>
              <a:xfrm flipH="false" flipV="false" rot="0">
                <a:off x="0" y="10552"/>
                <a:ext cx="698500" cy="791696"/>
              </a:xfrm>
              <a:custGeom>
                <a:avLst/>
                <a:gdLst/>
                <a:ahLst/>
                <a:cxnLst/>
                <a:rect r="r" b="b" t="t" l="l"/>
                <a:pathLst>
                  <a:path h="791696" w="698500">
                    <a:moveTo>
                      <a:pt x="396747" y="17083"/>
                    </a:moveTo>
                    <a:lnTo>
                      <a:pt x="651003" y="165013"/>
                    </a:lnTo>
                    <a:cubicBezTo>
                      <a:pt x="680409" y="182123"/>
                      <a:pt x="698500" y="213578"/>
                      <a:pt x="698500" y="247599"/>
                    </a:cubicBezTo>
                    <a:lnTo>
                      <a:pt x="698500" y="544097"/>
                    </a:lnTo>
                    <a:cubicBezTo>
                      <a:pt x="698500" y="578118"/>
                      <a:pt x="680409" y="609573"/>
                      <a:pt x="651003" y="626683"/>
                    </a:cubicBezTo>
                    <a:lnTo>
                      <a:pt x="396747" y="774613"/>
                    </a:lnTo>
                    <a:cubicBezTo>
                      <a:pt x="367386" y="791696"/>
                      <a:pt x="331114" y="791696"/>
                      <a:pt x="301753" y="774613"/>
                    </a:cubicBezTo>
                    <a:lnTo>
                      <a:pt x="47497" y="626683"/>
                    </a:lnTo>
                    <a:cubicBezTo>
                      <a:pt x="18091" y="609573"/>
                      <a:pt x="0" y="578118"/>
                      <a:pt x="0" y="544097"/>
                    </a:cubicBezTo>
                    <a:lnTo>
                      <a:pt x="0" y="247599"/>
                    </a:lnTo>
                    <a:cubicBezTo>
                      <a:pt x="0" y="213578"/>
                      <a:pt x="18091" y="182123"/>
                      <a:pt x="47497" y="165013"/>
                    </a:cubicBezTo>
                    <a:lnTo>
                      <a:pt x="301753" y="17083"/>
                    </a:lnTo>
                    <a:cubicBezTo>
                      <a:pt x="331114" y="0"/>
                      <a:pt x="367386" y="0"/>
                      <a:pt x="396747" y="17083"/>
                    </a:cubicBezTo>
                    <a:close/>
                  </a:path>
                </a:pathLst>
              </a:custGeom>
              <a:solidFill>
                <a:srgbClr val="E9EBF4"/>
              </a:solidFill>
            </p:spPr>
          </p:sp>
          <p:sp>
            <p:nvSpPr>
              <p:cNvPr name="TextBox 17" id="17"/>
              <p:cNvSpPr txBox="true"/>
              <p:nvPr/>
            </p:nvSpPr>
            <p:spPr>
              <a:xfrm>
                <a:off x="0" y="92075"/>
                <a:ext cx="698500" cy="581025"/>
              </a:xfrm>
              <a:prstGeom prst="rect">
                <a:avLst/>
              </a:prstGeom>
            </p:spPr>
            <p:txBody>
              <a:bodyPr anchor="ctr" rtlCol="false" tIns="50800" lIns="50800" bIns="50800" rIns="50800"/>
              <a:lstStyle/>
              <a:p>
                <a:pPr algn="ctr">
                  <a:lnSpc>
                    <a:spcPts val="2488"/>
                  </a:lnSpc>
                </a:pPr>
              </a:p>
            </p:txBody>
          </p:sp>
        </p:grpSp>
        <p:grpSp>
          <p:nvGrpSpPr>
            <p:cNvPr name="Group 18" id="18"/>
            <p:cNvGrpSpPr/>
            <p:nvPr/>
          </p:nvGrpSpPr>
          <p:grpSpPr>
            <a:xfrm rot="0">
              <a:off x="105336" y="0"/>
              <a:ext cx="1298272" cy="1510717"/>
              <a:chOff x="0" y="0"/>
              <a:chExt cx="698500" cy="812800"/>
            </a:xfrm>
          </p:grpSpPr>
          <p:sp>
            <p:nvSpPr>
              <p:cNvPr name="Freeform 19" id="19"/>
              <p:cNvSpPr/>
              <p:nvPr/>
            </p:nvSpPr>
            <p:spPr>
              <a:xfrm flipH="false" flipV="false" rot="0">
                <a:off x="0" y="10552"/>
                <a:ext cx="698500" cy="791696"/>
              </a:xfrm>
              <a:custGeom>
                <a:avLst/>
                <a:gdLst/>
                <a:ahLst/>
                <a:cxnLst/>
                <a:rect r="r" b="b" t="t" l="l"/>
                <a:pathLst>
                  <a:path h="791696" w="698500">
                    <a:moveTo>
                      <a:pt x="396747" y="17083"/>
                    </a:moveTo>
                    <a:lnTo>
                      <a:pt x="651003" y="165013"/>
                    </a:lnTo>
                    <a:cubicBezTo>
                      <a:pt x="680409" y="182123"/>
                      <a:pt x="698500" y="213578"/>
                      <a:pt x="698500" y="247599"/>
                    </a:cubicBezTo>
                    <a:lnTo>
                      <a:pt x="698500" y="544097"/>
                    </a:lnTo>
                    <a:cubicBezTo>
                      <a:pt x="698500" y="578118"/>
                      <a:pt x="680409" y="609573"/>
                      <a:pt x="651003" y="626683"/>
                    </a:cubicBezTo>
                    <a:lnTo>
                      <a:pt x="396747" y="774613"/>
                    </a:lnTo>
                    <a:cubicBezTo>
                      <a:pt x="367386" y="791696"/>
                      <a:pt x="331114" y="791696"/>
                      <a:pt x="301753" y="774613"/>
                    </a:cubicBezTo>
                    <a:lnTo>
                      <a:pt x="47497" y="626683"/>
                    </a:lnTo>
                    <a:cubicBezTo>
                      <a:pt x="18091" y="609573"/>
                      <a:pt x="0" y="578118"/>
                      <a:pt x="0" y="544097"/>
                    </a:cubicBezTo>
                    <a:lnTo>
                      <a:pt x="0" y="247599"/>
                    </a:lnTo>
                    <a:cubicBezTo>
                      <a:pt x="0" y="213578"/>
                      <a:pt x="18091" y="182123"/>
                      <a:pt x="47497" y="165013"/>
                    </a:cubicBezTo>
                    <a:lnTo>
                      <a:pt x="301753" y="17083"/>
                    </a:lnTo>
                    <a:cubicBezTo>
                      <a:pt x="331114" y="0"/>
                      <a:pt x="367386" y="0"/>
                      <a:pt x="396747" y="17083"/>
                    </a:cubicBezTo>
                    <a:close/>
                  </a:path>
                </a:pathLst>
              </a:custGeom>
              <a:solidFill>
                <a:srgbClr val="FCFDFE"/>
              </a:solidFill>
            </p:spPr>
          </p:sp>
          <p:sp>
            <p:nvSpPr>
              <p:cNvPr name="TextBox 20" id="20"/>
              <p:cNvSpPr txBox="true"/>
              <p:nvPr/>
            </p:nvSpPr>
            <p:spPr>
              <a:xfrm>
                <a:off x="0" y="92075"/>
                <a:ext cx="698500" cy="581025"/>
              </a:xfrm>
              <a:prstGeom prst="rect">
                <a:avLst/>
              </a:prstGeom>
            </p:spPr>
            <p:txBody>
              <a:bodyPr anchor="ctr" rtlCol="false" tIns="50800" lIns="50800" bIns="50800" rIns="50800"/>
              <a:lstStyle/>
              <a:p>
                <a:pPr algn="ctr">
                  <a:lnSpc>
                    <a:spcPts val="2488"/>
                  </a:lnSpc>
                </a:pPr>
              </a:p>
            </p:txBody>
          </p:sp>
        </p:grpSp>
      </p:grpSp>
      <p:grpSp>
        <p:nvGrpSpPr>
          <p:cNvPr name="Group 21" id="21"/>
          <p:cNvGrpSpPr/>
          <p:nvPr/>
        </p:nvGrpSpPr>
        <p:grpSpPr>
          <a:xfrm rot="0">
            <a:off x="1186746" y="5193591"/>
            <a:ext cx="1131708" cy="1349995"/>
            <a:chOff x="0" y="0"/>
            <a:chExt cx="1508944" cy="1799993"/>
          </a:xfrm>
        </p:grpSpPr>
        <p:sp>
          <p:nvSpPr>
            <p:cNvPr name="Freeform 22" id="22"/>
            <p:cNvSpPr/>
            <p:nvPr/>
          </p:nvSpPr>
          <p:spPr>
            <a:xfrm flipH="false" flipV="false" rot="5400000">
              <a:off x="-116491" y="174558"/>
              <a:ext cx="1741926" cy="1508944"/>
            </a:xfrm>
            <a:custGeom>
              <a:avLst/>
              <a:gdLst/>
              <a:ahLst/>
              <a:cxnLst/>
              <a:rect r="r" b="b" t="t" l="l"/>
              <a:pathLst>
                <a:path h="1508944" w="1741926">
                  <a:moveTo>
                    <a:pt x="0" y="0"/>
                  </a:moveTo>
                  <a:lnTo>
                    <a:pt x="1741926" y="0"/>
                  </a:lnTo>
                  <a:lnTo>
                    <a:pt x="1741926" y="1508944"/>
                  </a:lnTo>
                  <a:lnTo>
                    <a:pt x="0" y="1508944"/>
                  </a:lnTo>
                  <a:lnTo>
                    <a:pt x="0" y="0"/>
                  </a:lnTo>
                  <a:close/>
                </a:path>
              </a:pathLst>
            </a:custGeom>
            <a:blipFill>
              <a:blip r:embed="rId2">
                <a:alphaModFix amt="24000"/>
              </a:blip>
              <a:stretch>
                <a:fillRect l="0" t="0" r="0" b="0"/>
              </a:stretch>
            </a:blipFill>
            <a:ln cap="sq">
              <a:noFill/>
              <a:prstDash val="solid"/>
              <a:miter/>
            </a:ln>
          </p:spPr>
        </p:sp>
        <p:grpSp>
          <p:nvGrpSpPr>
            <p:cNvPr name="Group 23" id="23"/>
            <p:cNvGrpSpPr/>
            <p:nvPr/>
          </p:nvGrpSpPr>
          <p:grpSpPr>
            <a:xfrm rot="0">
              <a:off x="105336" y="79225"/>
              <a:ext cx="1298272" cy="1510717"/>
              <a:chOff x="0" y="0"/>
              <a:chExt cx="698500" cy="812800"/>
            </a:xfrm>
          </p:grpSpPr>
          <p:sp>
            <p:nvSpPr>
              <p:cNvPr name="Freeform 24" id="24"/>
              <p:cNvSpPr/>
              <p:nvPr/>
            </p:nvSpPr>
            <p:spPr>
              <a:xfrm flipH="false" flipV="false" rot="0">
                <a:off x="0" y="10552"/>
                <a:ext cx="698500" cy="791696"/>
              </a:xfrm>
              <a:custGeom>
                <a:avLst/>
                <a:gdLst/>
                <a:ahLst/>
                <a:cxnLst/>
                <a:rect r="r" b="b" t="t" l="l"/>
                <a:pathLst>
                  <a:path h="791696" w="698500">
                    <a:moveTo>
                      <a:pt x="396747" y="17083"/>
                    </a:moveTo>
                    <a:lnTo>
                      <a:pt x="651003" y="165013"/>
                    </a:lnTo>
                    <a:cubicBezTo>
                      <a:pt x="680409" y="182123"/>
                      <a:pt x="698500" y="213578"/>
                      <a:pt x="698500" y="247599"/>
                    </a:cubicBezTo>
                    <a:lnTo>
                      <a:pt x="698500" y="544097"/>
                    </a:lnTo>
                    <a:cubicBezTo>
                      <a:pt x="698500" y="578118"/>
                      <a:pt x="680409" y="609573"/>
                      <a:pt x="651003" y="626683"/>
                    </a:cubicBezTo>
                    <a:lnTo>
                      <a:pt x="396747" y="774613"/>
                    </a:lnTo>
                    <a:cubicBezTo>
                      <a:pt x="367386" y="791696"/>
                      <a:pt x="331114" y="791696"/>
                      <a:pt x="301753" y="774613"/>
                    </a:cubicBezTo>
                    <a:lnTo>
                      <a:pt x="47497" y="626683"/>
                    </a:lnTo>
                    <a:cubicBezTo>
                      <a:pt x="18091" y="609573"/>
                      <a:pt x="0" y="578118"/>
                      <a:pt x="0" y="544097"/>
                    </a:cubicBezTo>
                    <a:lnTo>
                      <a:pt x="0" y="247599"/>
                    </a:lnTo>
                    <a:cubicBezTo>
                      <a:pt x="0" y="213578"/>
                      <a:pt x="18091" y="182123"/>
                      <a:pt x="47497" y="165013"/>
                    </a:cubicBezTo>
                    <a:lnTo>
                      <a:pt x="301753" y="17083"/>
                    </a:lnTo>
                    <a:cubicBezTo>
                      <a:pt x="331114" y="0"/>
                      <a:pt x="367386" y="0"/>
                      <a:pt x="396747" y="17083"/>
                    </a:cubicBezTo>
                    <a:close/>
                  </a:path>
                </a:pathLst>
              </a:custGeom>
              <a:solidFill>
                <a:srgbClr val="E9EBF4"/>
              </a:solidFill>
            </p:spPr>
          </p:sp>
          <p:sp>
            <p:nvSpPr>
              <p:cNvPr name="TextBox 25" id="25"/>
              <p:cNvSpPr txBox="true"/>
              <p:nvPr/>
            </p:nvSpPr>
            <p:spPr>
              <a:xfrm>
                <a:off x="0" y="92075"/>
                <a:ext cx="698500" cy="581025"/>
              </a:xfrm>
              <a:prstGeom prst="rect">
                <a:avLst/>
              </a:prstGeom>
            </p:spPr>
            <p:txBody>
              <a:bodyPr anchor="ctr" rtlCol="false" tIns="50800" lIns="50800" bIns="50800" rIns="50800"/>
              <a:lstStyle/>
              <a:p>
                <a:pPr algn="ctr">
                  <a:lnSpc>
                    <a:spcPts val="2488"/>
                  </a:lnSpc>
                </a:pPr>
              </a:p>
            </p:txBody>
          </p:sp>
        </p:grpSp>
        <p:grpSp>
          <p:nvGrpSpPr>
            <p:cNvPr name="Group 26" id="26"/>
            <p:cNvGrpSpPr/>
            <p:nvPr/>
          </p:nvGrpSpPr>
          <p:grpSpPr>
            <a:xfrm rot="0">
              <a:off x="105336" y="0"/>
              <a:ext cx="1298272" cy="1510717"/>
              <a:chOff x="0" y="0"/>
              <a:chExt cx="698500" cy="812800"/>
            </a:xfrm>
          </p:grpSpPr>
          <p:sp>
            <p:nvSpPr>
              <p:cNvPr name="Freeform 27" id="27"/>
              <p:cNvSpPr/>
              <p:nvPr/>
            </p:nvSpPr>
            <p:spPr>
              <a:xfrm flipH="false" flipV="false" rot="0">
                <a:off x="0" y="10552"/>
                <a:ext cx="698500" cy="791696"/>
              </a:xfrm>
              <a:custGeom>
                <a:avLst/>
                <a:gdLst/>
                <a:ahLst/>
                <a:cxnLst/>
                <a:rect r="r" b="b" t="t" l="l"/>
                <a:pathLst>
                  <a:path h="791696" w="698500">
                    <a:moveTo>
                      <a:pt x="396747" y="17083"/>
                    </a:moveTo>
                    <a:lnTo>
                      <a:pt x="651003" y="165013"/>
                    </a:lnTo>
                    <a:cubicBezTo>
                      <a:pt x="680409" y="182123"/>
                      <a:pt x="698500" y="213578"/>
                      <a:pt x="698500" y="247599"/>
                    </a:cubicBezTo>
                    <a:lnTo>
                      <a:pt x="698500" y="544097"/>
                    </a:lnTo>
                    <a:cubicBezTo>
                      <a:pt x="698500" y="578118"/>
                      <a:pt x="680409" y="609573"/>
                      <a:pt x="651003" y="626683"/>
                    </a:cubicBezTo>
                    <a:lnTo>
                      <a:pt x="396747" y="774613"/>
                    </a:lnTo>
                    <a:cubicBezTo>
                      <a:pt x="367386" y="791696"/>
                      <a:pt x="331114" y="791696"/>
                      <a:pt x="301753" y="774613"/>
                    </a:cubicBezTo>
                    <a:lnTo>
                      <a:pt x="47497" y="626683"/>
                    </a:lnTo>
                    <a:cubicBezTo>
                      <a:pt x="18091" y="609573"/>
                      <a:pt x="0" y="578118"/>
                      <a:pt x="0" y="544097"/>
                    </a:cubicBezTo>
                    <a:lnTo>
                      <a:pt x="0" y="247599"/>
                    </a:lnTo>
                    <a:cubicBezTo>
                      <a:pt x="0" y="213578"/>
                      <a:pt x="18091" y="182123"/>
                      <a:pt x="47497" y="165013"/>
                    </a:cubicBezTo>
                    <a:lnTo>
                      <a:pt x="301753" y="17083"/>
                    </a:lnTo>
                    <a:cubicBezTo>
                      <a:pt x="331114" y="0"/>
                      <a:pt x="367386" y="0"/>
                      <a:pt x="396747" y="17083"/>
                    </a:cubicBezTo>
                    <a:close/>
                  </a:path>
                </a:pathLst>
              </a:custGeom>
              <a:solidFill>
                <a:srgbClr val="FCFDFE"/>
              </a:solidFill>
            </p:spPr>
          </p:sp>
          <p:sp>
            <p:nvSpPr>
              <p:cNvPr name="TextBox 28" id="28"/>
              <p:cNvSpPr txBox="true"/>
              <p:nvPr/>
            </p:nvSpPr>
            <p:spPr>
              <a:xfrm>
                <a:off x="0" y="92075"/>
                <a:ext cx="698500" cy="581025"/>
              </a:xfrm>
              <a:prstGeom prst="rect">
                <a:avLst/>
              </a:prstGeom>
            </p:spPr>
            <p:txBody>
              <a:bodyPr anchor="ctr" rtlCol="false" tIns="50800" lIns="50800" bIns="50800" rIns="50800"/>
              <a:lstStyle/>
              <a:p>
                <a:pPr algn="ctr">
                  <a:lnSpc>
                    <a:spcPts val="2488"/>
                  </a:lnSpc>
                </a:pPr>
              </a:p>
            </p:txBody>
          </p:sp>
        </p:grpSp>
      </p:grpSp>
      <p:grpSp>
        <p:nvGrpSpPr>
          <p:cNvPr name="Group 29" id="29"/>
          <p:cNvGrpSpPr/>
          <p:nvPr/>
        </p:nvGrpSpPr>
        <p:grpSpPr>
          <a:xfrm rot="0">
            <a:off x="15969546" y="5193591"/>
            <a:ext cx="1131708" cy="1349995"/>
            <a:chOff x="0" y="0"/>
            <a:chExt cx="1508944" cy="1799993"/>
          </a:xfrm>
        </p:grpSpPr>
        <p:sp>
          <p:nvSpPr>
            <p:cNvPr name="Freeform 30" id="30"/>
            <p:cNvSpPr/>
            <p:nvPr/>
          </p:nvSpPr>
          <p:spPr>
            <a:xfrm flipH="false" flipV="false" rot="5400000">
              <a:off x="-116491" y="174558"/>
              <a:ext cx="1741926" cy="1508944"/>
            </a:xfrm>
            <a:custGeom>
              <a:avLst/>
              <a:gdLst/>
              <a:ahLst/>
              <a:cxnLst/>
              <a:rect r="r" b="b" t="t" l="l"/>
              <a:pathLst>
                <a:path h="1508944" w="1741926">
                  <a:moveTo>
                    <a:pt x="0" y="0"/>
                  </a:moveTo>
                  <a:lnTo>
                    <a:pt x="1741926" y="0"/>
                  </a:lnTo>
                  <a:lnTo>
                    <a:pt x="1741926" y="1508944"/>
                  </a:lnTo>
                  <a:lnTo>
                    <a:pt x="0" y="1508944"/>
                  </a:lnTo>
                  <a:lnTo>
                    <a:pt x="0" y="0"/>
                  </a:lnTo>
                  <a:close/>
                </a:path>
              </a:pathLst>
            </a:custGeom>
            <a:blipFill>
              <a:blip r:embed="rId2">
                <a:alphaModFix amt="24000"/>
              </a:blip>
              <a:stretch>
                <a:fillRect l="0" t="0" r="0" b="0"/>
              </a:stretch>
            </a:blipFill>
            <a:ln cap="sq">
              <a:noFill/>
              <a:prstDash val="solid"/>
              <a:miter/>
            </a:ln>
          </p:spPr>
        </p:sp>
        <p:grpSp>
          <p:nvGrpSpPr>
            <p:cNvPr name="Group 31" id="31"/>
            <p:cNvGrpSpPr/>
            <p:nvPr/>
          </p:nvGrpSpPr>
          <p:grpSpPr>
            <a:xfrm rot="0">
              <a:off x="105336" y="79225"/>
              <a:ext cx="1298272" cy="1510717"/>
              <a:chOff x="0" y="0"/>
              <a:chExt cx="698500" cy="812800"/>
            </a:xfrm>
          </p:grpSpPr>
          <p:sp>
            <p:nvSpPr>
              <p:cNvPr name="Freeform 32" id="32"/>
              <p:cNvSpPr/>
              <p:nvPr/>
            </p:nvSpPr>
            <p:spPr>
              <a:xfrm flipH="false" flipV="false" rot="0">
                <a:off x="0" y="10552"/>
                <a:ext cx="698500" cy="791696"/>
              </a:xfrm>
              <a:custGeom>
                <a:avLst/>
                <a:gdLst/>
                <a:ahLst/>
                <a:cxnLst/>
                <a:rect r="r" b="b" t="t" l="l"/>
                <a:pathLst>
                  <a:path h="791696" w="698500">
                    <a:moveTo>
                      <a:pt x="396747" y="17083"/>
                    </a:moveTo>
                    <a:lnTo>
                      <a:pt x="651003" y="165013"/>
                    </a:lnTo>
                    <a:cubicBezTo>
                      <a:pt x="680409" y="182123"/>
                      <a:pt x="698500" y="213578"/>
                      <a:pt x="698500" y="247599"/>
                    </a:cubicBezTo>
                    <a:lnTo>
                      <a:pt x="698500" y="544097"/>
                    </a:lnTo>
                    <a:cubicBezTo>
                      <a:pt x="698500" y="578118"/>
                      <a:pt x="680409" y="609573"/>
                      <a:pt x="651003" y="626683"/>
                    </a:cubicBezTo>
                    <a:lnTo>
                      <a:pt x="396747" y="774613"/>
                    </a:lnTo>
                    <a:cubicBezTo>
                      <a:pt x="367386" y="791696"/>
                      <a:pt x="331114" y="791696"/>
                      <a:pt x="301753" y="774613"/>
                    </a:cubicBezTo>
                    <a:lnTo>
                      <a:pt x="47497" y="626683"/>
                    </a:lnTo>
                    <a:cubicBezTo>
                      <a:pt x="18091" y="609573"/>
                      <a:pt x="0" y="578118"/>
                      <a:pt x="0" y="544097"/>
                    </a:cubicBezTo>
                    <a:lnTo>
                      <a:pt x="0" y="247599"/>
                    </a:lnTo>
                    <a:cubicBezTo>
                      <a:pt x="0" y="213578"/>
                      <a:pt x="18091" y="182123"/>
                      <a:pt x="47497" y="165013"/>
                    </a:cubicBezTo>
                    <a:lnTo>
                      <a:pt x="301753" y="17083"/>
                    </a:lnTo>
                    <a:cubicBezTo>
                      <a:pt x="331114" y="0"/>
                      <a:pt x="367386" y="0"/>
                      <a:pt x="396747" y="17083"/>
                    </a:cubicBezTo>
                    <a:close/>
                  </a:path>
                </a:pathLst>
              </a:custGeom>
              <a:solidFill>
                <a:srgbClr val="E9EBF4"/>
              </a:solidFill>
            </p:spPr>
          </p:sp>
          <p:sp>
            <p:nvSpPr>
              <p:cNvPr name="TextBox 33" id="33"/>
              <p:cNvSpPr txBox="true"/>
              <p:nvPr/>
            </p:nvSpPr>
            <p:spPr>
              <a:xfrm>
                <a:off x="0" y="92075"/>
                <a:ext cx="698500" cy="581025"/>
              </a:xfrm>
              <a:prstGeom prst="rect">
                <a:avLst/>
              </a:prstGeom>
            </p:spPr>
            <p:txBody>
              <a:bodyPr anchor="ctr" rtlCol="false" tIns="50800" lIns="50800" bIns="50800" rIns="50800"/>
              <a:lstStyle/>
              <a:p>
                <a:pPr algn="ctr">
                  <a:lnSpc>
                    <a:spcPts val="2488"/>
                  </a:lnSpc>
                </a:pPr>
              </a:p>
            </p:txBody>
          </p:sp>
        </p:grpSp>
        <p:grpSp>
          <p:nvGrpSpPr>
            <p:cNvPr name="Group 34" id="34"/>
            <p:cNvGrpSpPr/>
            <p:nvPr/>
          </p:nvGrpSpPr>
          <p:grpSpPr>
            <a:xfrm rot="0">
              <a:off x="105336" y="0"/>
              <a:ext cx="1298272" cy="1510717"/>
              <a:chOff x="0" y="0"/>
              <a:chExt cx="698500" cy="812800"/>
            </a:xfrm>
          </p:grpSpPr>
          <p:sp>
            <p:nvSpPr>
              <p:cNvPr name="Freeform 35" id="35"/>
              <p:cNvSpPr/>
              <p:nvPr/>
            </p:nvSpPr>
            <p:spPr>
              <a:xfrm flipH="false" flipV="false" rot="0">
                <a:off x="0" y="10552"/>
                <a:ext cx="698500" cy="791696"/>
              </a:xfrm>
              <a:custGeom>
                <a:avLst/>
                <a:gdLst/>
                <a:ahLst/>
                <a:cxnLst/>
                <a:rect r="r" b="b" t="t" l="l"/>
                <a:pathLst>
                  <a:path h="791696" w="698500">
                    <a:moveTo>
                      <a:pt x="396747" y="17083"/>
                    </a:moveTo>
                    <a:lnTo>
                      <a:pt x="651003" y="165013"/>
                    </a:lnTo>
                    <a:cubicBezTo>
                      <a:pt x="680409" y="182123"/>
                      <a:pt x="698500" y="213578"/>
                      <a:pt x="698500" y="247599"/>
                    </a:cubicBezTo>
                    <a:lnTo>
                      <a:pt x="698500" y="544097"/>
                    </a:lnTo>
                    <a:cubicBezTo>
                      <a:pt x="698500" y="578118"/>
                      <a:pt x="680409" y="609573"/>
                      <a:pt x="651003" y="626683"/>
                    </a:cubicBezTo>
                    <a:lnTo>
                      <a:pt x="396747" y="774613"/>
                    </a:lnTo>
                    <a:cubicBezTo>
                      <a:pt x="367386" y="791696"/>
                      <a:pt x="331114" y="791696"/>
                      <a:pt x="301753" y="774613"/>
                    </a:cubicBezTo>
                    <a:lnTo>
                      <a:pt x="47497" y="626683"/>
                    </a:lnTo>
                    <a:cubicBezTo>
                      <a:pt x="18091" y="609573"/>
                      <a:pt x="0" y="578118"/>
                      <a:pt x="0" y="544097"/>
                    </a:cubicBezTo>
                    <a:lnTo>
                      <a:pt x="0" y="247599"/>
                    </a:lnTo>
                    <a:cubicBezTo>
                      <a:pt x="0" y="213578"/>
                      <a:pt x="18091" y="182123"/>
                      <a:pt x="47497" y="165013"/>
                    </a:cubicBezTo>
                    <a:lnTo>
                      <a:pt x="301753" y="17083"/>
                    </a:lnTo>
                    <a:cubicBezTo>
                      <a:pt x="331114" y="0"/>
                      <a:pt x="367386" y="0"/>
                      <a:pt x="396747" y="17083"/>
                    </a:cubicBezTo>
                    <a:close/>
                  </a:path>
                </a:pathLst>
              </a:custGeom>
              <a:solidFill>
                <a:srgbClr val="FCFDFE"/>
              </a:solidFill>
            </p:spPr>
          </p:sp>
          <p:sp>
            <p:nvSpPr>
              <p:cNvPr name="TextBox 36" id="36"/>
              <p:cNvSpPr txBox="true"/>
              <p:nvPr/>
            </p:nvSpPr>
            <p:spPr>
              <a:xfrm>
                <a:off x="0" y="92075"/>
                <a:ext cx="698500" cy="581025"/>
              </a:xfrm>
              <a:prstGeom prst="rect">
                <a:avLst/>
              </a:prstGeom>
            </p:spPr>
            <p:txBody>
              <a:bodyPr anchor="ctr" rtlCol="false" tIns="50800" lIns="50800" bIns="50800" rIns="50800"/>
              <a:lstStyle/>
              <a:p>
                <a:pPr algn="ctr">
                  <a:lnSpc>
                    <a:spcPts val="2488"/>
                  </a:lnSpc>
                </a:pPr>
              </a:p>
            </p:txBody>
          </p:sp>
        </p:grpSp>
      </p:grpSp>
      <p:grpSp>
        <p:nvGrpSpPr>
          <p:cNvPr name="Group 37" id="37"/>
          <p:cNvGrpSpPr/>
          <p:nvPr/>
        </p:nvGrpSpPr>
        <p:grpSpPr>
          <a:xfrm rot="0">
            <a:off x="12273846" y="4562143"/>
            <a:ext cx="1131708" cy="1306445"/>
            <a:chOff x="0" y="0"/>
            <a:chExt cx="1508944" cy="1741926"/>
          </a:xfrm>
        </p:grpSpPr>
        <p:sp>
          <p:nvSpPr>
            <p:cNvPr name="Freeform 38" id="38"/>
            <p:cNvSpPr/>
            <p:nvPr/>
          </p:nvSpPr>
          <p:spPr>
            <a:xfrm flipH="false" flipV="false" rot="5400000">
              <a:off x="-116491" y="116491"/>
              <a:ext cx="1741926" cy="1508944"/>
            </a:xfrm>
            <a:custGeom>
              <a:avLst/>
              <a:gdLst/>
              <a:ahLst/>
              <a:cxnLst/>
              <a:rect r="r" b="b" t="t" l="l"/>
              <a:pathLst>
                <a:path h="1508944" w="1741926">
                  <a:moveTo>
                    <a:pt x="0" y="0"/>
                  </a:moveTo>
                  <a:lnTo>
                    <a:pt x="1741926" y="0"/>
                  </a:lnTo>
                  <a:lnTo>
                    <a:pt x="1741926" y="1508944"/>
                  </a:lnTo>
                  <a:lnTo>
                    <a:pt x="0" y="1508944"/>
                  </a:lnTo>
                  <a:lnTo>
                    <a:pt x="0" y="0"/>
                  </a:lnTo>
                  <a:close/>
                </a:path>
              </a:pathLst>
            </a:custGeom>
            <a:blipFill>
              <a:blip r:embed="rId2">
                <a:alphaModFix amt="24000"/>
              </a:blip>
              <a:stretch>
                <a:fillRect l="0" t="0" r="0" b="0"/>
              </a:stretch>
            </a:blipFill>
            <a:ln cap="sq">
              <a:noFill/>
              <a:prstDash val="solid"/>
              <a:miter/>
            </a:ln>
          </p:spPr>
        </p:sp>
        <p:grpSp>
          <p:nvGrpSpPr>
            <p:cNvPr name="Group 39" id="39"/>
            <p:cNvGrpSpPr/>
            <p:nvPr/>
          </p:nvGrpSpPr>
          <p:grpSpPr>
            <a:xfrm rot="0">
              <a:off x="105336" y="21158"/>
              <a:ext cx="1298272" cy="1510717"/>
              <a:chOff x="0" y="0"/>
              <a:chExt cx="698500" cy="812800"/>
            </a:xfrm>
          </p:grpSpPr>
          <p:sp>
            <p:nvSpPr>
              <p:cNvPr name="Freeform 40" id="40"/>
              <p:cNvSpPr/>
              <p:nvPr/>
            </p:nvSpPr>
            <p:spPr>
              <a:xfrm flipH="false" flipV="false" rot="0">
                <a:off x="0" y="10552"/>
                <a:ext cx="698500" cy="791696"/>
              </a:xfrm>
              <a:custGeom>
                <a:avLst/>
                <a:gdLst/>
                <a:ahLst/>
                <a:cxnLst/>
                <a:rect r="r" b="b" t="t" l="l"/>
                <a:pathLst>
                  <a:path h="791696" w="698500">
                    <a:moveTo>
                      <a:pt x="396747" y="17083"/>
                    </a:moveTo>
                    <a:lnTo>
                      <a:pt x="651003" y="165013"/>
                    </a:lnTo>
                    <a:cubicBezTo>
                      <a:pt x="680409" y="182123"/>
                      <a:pt x="698500" y="213578"/>
                      <a:pt x="698500" y="247599"/>
                    </a:cubicBezTo>
                    <a:lnTo>
                      <a:pt x="698500" y="544097"/>
                    </a:lnTo>
                    <a:cubicBezTo>
                      <a:pt x="698500" y="578118"/>
                      <a:pt x="680409" y="609573"/>
                      <a:pt x="651003" y="626683"/>
                    </a:cubicBezTo>
                    <a:lnTo>
                      <a:pt x="396747" y="774613"/>
                    </a:lnTo>
                    <a:cubicBezTo>
                      <a:pt x="367386" y="791696"/>
                      <a:pt x="331114" y="791696"/>
                      <a:pt x="301753" y="774613"/>
                    </a:cubicBezTo>
                    <a:lnTo>
                      <a:pt x="47497" y="626683"/>
                    </a:lnTo>
                    <a:cubicBezTo>
                      <a:pt x="18091" y="609573"/>
                      <a:pt x="0" y="578118"/>
                      <a:pt x="0" y="544097"/>
                    </a:cubicBezTo>
                    <a:lnTo>
                      <a:pt x="0" y="247599"/>
                    </a:lnTo>
                    <a:cubicBezTo>
                      <a:pt x="0" y="213578"/>
                      <a:pt x="18091" y="182123"/>
                      <a:pt x="47497" y="165013"/>
                    </a:cubicBezTo>
                    <a:lnTo>
                      <a:pt x="301753" y="17083"/>
                    </a:lnTo>
                    <a:cubicBezTo>
                      <a:pt x="331114" y="0"/>
                      <a:pt x="367386" y="0"/>
                      <a:pt x="396747" y="17083"/>
                    </a:cubicBezTo>
                    <a:close/>
                  </a:path>
                </a:pathLst>
              </a:custGeom>
              <a:solidFill>
                <a:srgbClr val="E9EBF4"/>
              </a:solidFill>
            </p:spPr>
          </p:sp>
          <p:sp>
            <p:nvSpPr>
              <p:cNvPr name="TextBox 41" id="41"/>
              <p:cNvSpPr txBox="true"/>
              <p:nvPr/>
            </p:nvSpPr>
            <p:spPr>
              <a:xfrm>
                <a:off x="0" y="92075"/>
                <a:ext cx="698500" cy="581025"/>
              </a:xfrm>
              <a:prstGeom prst="rect">
                <a:avLst/>
              </a:prstGeom>
            </p:spPr>
            <p:txBody>
              <a:bodyPr anchor="ctr" rtlCol="false" tIns="50800" lIns="50800" bIns="50800" rIns="50800"/>
              <a:lstStyle/>
              <a:p>
                <a:pPr algn="ctr">
                  <a:lnSpc>
                    <a:spcPts val="2488"/>
                  </a:lnSpc>
                </a:pPr>
              </a:p>
            </p:txBody>
          </p:sp>
        </p:grpSp>
      </p:grpSp>
      <p:sp>
        <p:nvSpPr>
          <p:cNvPr name="TextBox 42" id="42"/>
          <p:cNvSpPr txBox="true"/>
          <p:nvPr/>
        </p:nvSpPr>
        <p:spPr>
          <a:xfrm rot="0">
            <a:off x="304800" y="7196510"/>
            <a:ext cx="2895600" cy="2490089"/>
          </a:xfrm>
          <a:prstGeom prst="rect">
            <a:avLst/>
          </a:prstGeom>
        </p:spPr>
        <p:txBody>
          <a:bodyPr anchor="t" rtlCol="false" tIns="0" lIns="0" bIns="0" rIns="0">
            <a:spAutoFit/>
          </a:bodyPr>
          <a:lstStyle/>
          <a:p>
            <a:pPr algn="ctr">
              <a:lnSpc>
                <a:spcPts val="2487"/>
              </a:lnSpc>
            </a:pPr>
            <a:r>
              <a:rPr lang="en-US" sz="1599">
                <a:solidFill>
                  <a:srgbClr val="000000"/>
                </a:solidFill>
                <a:latin typeface="Canva Sans"/>
                <a:ea typeface="Canva Sans"/>
                <a:cs typeface="Canva Sans"/>
                <a:sym typeface="Canva Sans"/>
              </a:rPr>
              <a:t>Bui</a:t>
            </a:r>
            <a:r>
              <a:rPr lang="en-US" sz="1599">
                <a:solidFill>
                  <a:srgbClr val="000000"/>
                </a:solidFill>
                <a:latin typeface="Canva Sans"/>
                <a:ea typeface="Canva Sans"/>
                <a:cs typeface="Canva Sans"/>
                <a:sym typeface="Canva Sans"/>
              </a:rPr>
              <a:t>ld a dynamic SSIS data integration pipeline supporting both initial and incremental loads, with a staging layer for controlled and repeatable data movement.</a:t>
            </a:r>
          </a:p>
          <a:p>
            <a:pPr algn="ctr">
              <a:lnSpc>
                <a:spcPts val="2487"/>
              </a:lnSpc>
            </a:pPr>
          </a:p>
        </p:txBody>
      </p:sp>
      <p:sp>
        <p:nvSpPr>
          <p:cNvPr name="TextBox 43" id="43"/>
          <p:cNvSpPr txBox="true"/>
          <p:nvPr/>
        </p:nvSpPr>
        <p:spPr>
          <a:xfrm rot="0">
            <a:off x="4076700" y="6725023"/>
            <a:ext cx="2895600" cy="1861439"/>
          </a:xfrm>
          <a:prstGeom prst="rect">
            <a:avLst/>
          </a:prstGeom>
        </p:spPr>
        <p:txBody>
          <a:bodyPr anchor="t" rtlCol="false" tIns="0" lIns="0" bIns="0" rIns="0">
            <a:spAutoFit/>
          </a:bodyPr>
          <a:lstStyle/>
          <a:p>
            <a:pPr algn="ctr">
              <a:lnSpc>
                <a:spcPts val="2487"/>
              </a:lnSpc>
            </a:pPr>
            <a:r>
              <a:rPr lang="en-US" sz="1599">
                <a:solidFill>
                  <a:srgbClr val="000000"/>
                </a:solidFill>
                <a:latin typeface="Canva Sans"/>
                <a:ea typeface="Canva Sans"/>
                <a:cs typeface="Canva Sans"/>
                <a:sym typeface="Canva Sans"/>
              </a:rPr>
              <a:t>Implem</a:t>
            </a:r>
            <a:r>
              <a:rPr lang="en-US" sz="1599">
                <a:solidFill>
                  <a:srgbClr val="000000"/>
                </a:solidFill>
                <a:latin typeface="Canva Sans"/>
                <a:ea typeface="Canva Sans"/>
                <a:cs typeface="Canva Sans"/>
                <a:sym typeface="Canva Sans"/>
              </a:rPr>
              <a:t>ent a star schema with columnstore indexes and apply Slowly Changing Dimensions (SCD) to ensure accurate historical tracking and fast analytics.</a:t>
            </a:r>
          </a:p>
        </p:txBody>
      </p:sp>
      <p:sp>
        <p:nvSpPr>
          <p:cNvPr name="TextBox 44" id="44"/>
          <p:cNvSpPr txBox="true"/>
          <p:nvPr/>
        </p:nvSpPr>
        <p:spPr>
          <a:xfrm rot="0">
            <a:off x="304800" y="6743810"/>
            <a:ext cx="2895600" cy="303742"/>
          </a:xfrm>
          <a:prstGeom prst="rect">
            <a:avLst/>
          </a:prstGeom>
        </p:spPr>
        <p:txBody>
          <a:bodyPr anchor="t" rtlCol="false" tIns="0" lIns="0" bIns="0" rIns="0">
            <a:spAutoFit/>
          </a:bodyPr>
          <a:lstStyle/>
          <a:p>
            <a:pPr algn="ctr">
              <a:lnSpc>
                <a:spcPts val="2333"/>
              </a:lnSpc>
            </a:pPr>
            <a:r>
              <a:rPr lang="en-US" sz="2000" b="true">
                <a:solidFill>
                  <a:srgbClr val="041F60"/>
                </a:solidFill>
                <a:latin typeface="Gotham Bold"/>
                <a:ea typeface="Gotham Bold"/>
                <a:cs typeface="Gotham Bold"/>
                <a:sym typeface="Gotham Bold"/>
              </a:rPr>
              <a:t>Data Integration</a:t>
            </a:r>
          </a:p>
        </p:txBody>
      </p:sp>
      <p:sp>
        <p:nvSpPr>
          <p:cNvPr name="TextBox 45" id="45"/>
          <p:cNvSpPr txBox="true"/>
          <p:nvPr/>
        </p:nvSpPr>
        <p:spPr>
          <a:xfrm rot="0">
            <a:off x="304800" y="4454556"/>
            <a:ext cx="2895600" cy="421428"/>
          </a:xfrm>
          <a:prstGeom prst="rect">
            <a:avLst/>
          </a:prstGeom>
        </p:spPr>
        <p:txBody>
          <a:bodyPr anchor="t" rtlCol="false" tIns="0" lIns="0" bIns="0" rIns="0">
            <a:spAutoFit/>
          </a:bodyPr>
          <a:lstStyle/>
          <a:p>
            <a:pPr algn="ctr">
              <a:lnSpc>
                <a:spcPts val="3266"/>
              </a:lnSpc>
            </a:pPr>
            <a:r>
              <a:rPr lang="en-US" sz="2799">
                <a:solidFill>
                  <a:srgbClr val="041F60"/>
                </a:solidFill>
                <a:latin typeface="Gotham"/>
                <a:ea typeface="Gotham"/>
                <a:cs typeface="Gotham"/>
                <a:sym typeface="Gotham"/>
              </a:rPr>
              <a:t>1</a:t>
            </a:r>
          </a:p>
        </p:txBody>
      </p:sp>
      <p:sp>
        <p:nvSpPr>
          <p:cNvPr name="TextBox 46" id="46"/>
          <p:cNvSpPr txBox="true"/>
          <p:nvPr/>
        </p:nvSpPr>
        <p:spPr>
          <a:xfrm rot="0">
            <a:off x="4000500" y="5924672"/>
            <a:ext cx="2895600" cy="599017"/>
          </a:xfrm>
          <a:prstGeom prst="rect">
            <a:avLst/>
          </a:prstGeom>
        </p:spPr>
        <p:txBody>
          <a:bodyPr anchor="t" rtlCol="false" tIns="0" lIns="0" bIns="0" rIns="0">
            <a:spAutoFit/>
          </a:bodyPr>
          <a:lstStyle/>
          <a:p>
            <a:pPr algn="ctr">
              <a:lnSpc>
                <a:spcPts val="2333"/>
              </a:lnSpc>
            </a:pPr>
            <a:r>
              <a:rPr lang="en-US" sz="2000" b="true">
                <a:solidFill>
                  <a:srgbClr val="041F60"/>
                </a:solidFill>
                <a:latin typeface="Gotham Bold"/>
                <a:ea typeface="Gotham Bold"/>
                <a:cs typeface="Gotham Bold"/>
                <a:sym typeface="Gotham Bold"/>
              </a:rPr>
              <a:t>Data Warehouse Design</a:t>
            </a:r>
          </a:p>
        </p:txBody>
      </p:sp>
      <p:sp>
        <p:nvSpPr>
          <p:cNvPr name="TextBox 47" id="47"/>
          <p:cNvSpPr txBox="true"/>
          <p:nvPr/>
        </p:nvSpPr>
        <p:spPr>
          <a:xfrm rot="0">
            <a:off x="4000500" y="3783056"/>
            <a:ext cx="2895600" cy="421428"/>
          </a:xfrm>
          <a:prstGeom prst="rect">
            <a:avLst/>
          </a:prstGeom>
        </p:spPr>
        <p:txBody>
          <a:bodyPr anchor="t" rtlCol="false" tIns="0" lIns="0" bIns="0" rIns="0">
            <a:spAutoFit/>
          </a:bodyPr>
          <a:lstStyle/>
          <a:p>
            <a:pPr algn="ctr">
              <a:lnSpc>
                <a:spcPts val="3266"/>
              </a:lnSpc>
            </a:pPr>
            <a:r>
              <a:rPr lang="en-US" sz="2799">
                <a:solidFill>
                  <a:srgbClr val="041F60"/>
                </a:solidFill>
                <a:latin typeface="Gotham"/>
                <a:ea typeface="Gotham"/>
                <a:cs typeface="Gotham"/>
                <a:sym typeface="Gotham"/>
              </a:rPr>
              <a:t>2</a:t>
            </a:r>
          </a:p>
        </p:txBody>
      </p:sp>
      <p:sp>
        <p:nvSpPr>
          <p:cNvPr name="TextBox 48" id="48"/>
          <p:cNvSpPr txBox="true"/>
          <p:nvPr/>
        </p:nvSpPr>
        <p:spPr>
          <a:xfrm rot="0">
            <a:off x="7696200" y="6333400"/>
            <a:ext cx="2895600" cy="1861439"/>
          </a:xfrm>
          <a:prstGeom prst="rect">
            <a:avLst/>
          </a:prstGeom>
        </p:spPr>
        <p:txBody>
          <a:bodyPr anchor="t" rtlCol="false" tIns="0" lIns="0" bIns="0" rIns="0">
            <a:spAutoFit/>
          </a:bodyPr>
          <a:lstStyle/>
          <a:p>
            <a:pPr algn="ctr">
              <a:lnSpc>
                <a:spcPts val="2487"/>
              </a:lnSpc>
            </a:pPr>
            <a:r>
              <a:rPr lang="en-US" sz="1599">
                <a:solidFill>
                  <a:srgbClr val="000000"/>
                </a:solidFill>
                <a:latin typeface="Canva Sans"/>
                <a:ea typeface="Canva Sans"/>
                <a:cs typeface="Canva Sans"/>
                <a:sym typeface="Canva Sans"/>
              </a:rPr>
              <a:t>M</a:t>
            </a:r>
            <a:r>
              <a:rPr lang="en-US" sz="1599">
                <a:solidFill>
                  <a:srgbClr val="000000"/>
                </a:solidFill>
                <a:latin typeface="Canva Sans"/>
                <a:ea typeface="Canva Sans"/>
                <a:cs typeface="Canva Sans"/>
                <a:sym typeface="Canva Sans"/>
              </a:rPr>
              <a:t>inimize the impact on OLTP systems by isolating analytical workloads, extracting only required data, and optimizing queries for efficiency.</a:t>
            </a:r>
          </a:p>
        </p:txBody>
      </p:sp>
      <p:sp>
        <p:nvSpPr>
          <p:cNvPr name="TextBox 49" id="49"/>
          <p:cNvSpPr txBox="true"/>
          <p:nvPr/>
        </p:nvSpPr>
        <p:spPr>
          <a:xfrm rot="0">
            <a:off x="7696200" y="5638922"/>
            <a:ext cx="2895600" cy="599017"/>
          </a:xfrm>
          <a:prstGeom prst="rect">
            <a:avLst/>
          </a:prstGeom>
        </p:spPr>
        <p:txBody>
          <a:bodyPr anchor="t" rtlCol="false" tIns="0" lIns="0" bIns="0" rIns="0">
            <a:spAutoFit/>
          </a:bodyPr>
          <a:lstStyle/>
          <a:p>
            <a:pPr algn="ctr">
              <a:lnSpc>
                <a:spcPts val="2333"/>
              </a:lnSpc>
            </a:pPr>
            <a:r>
              <a:rPr lang="en-US" sz="2000" b="true">
                <a:solidFill>
                  <a:srgbClr val="041F60"/>
                </a:solidFill>
                <a:latin typeface="Gotham Bold"/>
                <a:ea typeface="Gotham Bold"/>
                <a:cs typeface="Gotham Bold"/>
                <a:sym typeface="Gotham Bold"/>
              </a:rPr>
              <a:t>Performance Optimization</a:t>
            </a:r>
          </a:p>
        </p:txBody>
      </p:sp>
      <p:sp>
        <p:nvSpPr>
          <p:cNvPr name="TextBox 50" id="50"/>
          <p:cNvSpPr txBox="true"/>
          <p:nvPr/>
        </p:nvSpPr>
        <p:spPr>
          <a:xfrm rot="0">
            <a:off x="7696200" y="3497306"/>
            <a:ext cx="2895600" cy="421428"/>
          </a:xfrm>
          <a:prstGeom prst="rect">
            <a:avLst/>
          </a:prstGeom>
        </p:spPr>
        <p:txBody>
          <a:bodyPr anchor="t" rtlCol="false" tIns="0" lIns="0" bIns="0" rIns="0">
            <a:spAutoFit/>
          </a:bodyPr>
          <a:lstStyle/>
          <a:p>
            <a:pPr algn="ctr">
              <a:lnSpc>
                <a:spcPts val="3266"/>
              </a:lnSpc>
            </a:pPr>
            <a:r>
              <a:rPr lang="en-US" sz="2799">
                <a:solidFill>
                  <a:srgbClr val="041F60"/>
                </a:solidFill>
                <a:latin typeface="Gotham"/>
                <a:ea typeface="Gotham"/>
                <a:cs typeface="Gotham"/>
                <a:sym typeface="Gotham"/>
              </a:rPr>
              <a:t>3</a:t>
            </a:r>
          </a:p>
        </p:txBody>
      </p:sp>
      <p:sp>
        <p:nvSpPr>
          <p:cNvPr name="TextBox 51" id="51"/>
          <p:cNvSpPr txBox="true"/>
          <p:nvPr/>
        </p:nvSpPr>
        <p:spPr>
          <a:xfrm rot="0">
            <a:off x="11391900" y="6725023"/>
            <a:ext cx="2895600" cy="1232789"/>
          </a:xfrm>
          <a:prstGeom prst="rect">
            <a:avLst/>
          </a:prstGeom>
        </p:spPr>
        <p:txBody>
          <a:bodyPr anchor="t" rtlCol="false" tIns="0" lIns="0" bIns="0" rIns="0">
            <a:spAutoFit/>
          </a:bodyPr>
          <a:lstStyle/>
          <a:p>
            <a:pPr algn="ctr">
              <a:lnSpc>
                <a:spcPts val="2487"/>
              </a:lnSpc>
            </a:pPr>
            <a:r>
              <a:rPr lang="en-US" sz="1599">
                <a:solidFill>
                  <a:srgbClr val="000000"/>
                </a:solidFill>
                <a:latin typeface="Canva Sans"/>
                <a:ea typeface="Canva Sans"/>
                <a:cs typeface="Canva Sans"/>
                <a:sym typeface="Canva Sans"/>
              </a:rPr>
              <a:t>D</a:t>
            </a:r>
            <a:r>
              <a:rPr lang="en-US" sz="1599">
                <a:solidFill>
                  <a:srgbClr val="000000"/>
                </a:solidFill>
                <a:latin typeface="Canva Sans"/>
                <a:ea typeface="Canva Sans"/>
                <a:cs typeface="Canva Sans"/>
                <a:sym typeface="Canva Sans"/>
              </a:rPr>
              <a:t>evelop Power BI dashboards with KPIs for providing a quick business snapshot for decision-makers</a:t>
            </a:r>
          </a:p>
        </p:txBody>
      </p:sp>
      <p:sp>
        <p:nvSpPr>
          <p:cNvPr name="TextBox 52" id="52"/>
          <p:cNvSpPr txBox="true"/>
          <p:nvPr/>
        </p:nvSpPr>
        <p:spPr>
          <a:xfrm rot="0">
            <a:off x="11391900" y="5924672"/>
            <a:ext cx="2895600" cy="599017"/>
          </a:xfrm>
          <a:prstGeom prst="rect">
            <a:avLst/>
          </a:prstGeom>
        </p:spPr>
        <p:txBody>
          <a:bodyPr anchor="t" rtlCol="false" tIns="0" lIns="0" bIns="0" rIns="0">
            <a:spAutoFit/>
          </a:bodyPr>
          <a:lstStyle/>
          <a:p>
            <a:pPr algn="ctr">
              <a:lnSpc>
                <a:spcPts val="2333"/>
              </a:lnSpc>
            </a:pPr>
            <a:r>
              <a:rPr lang="en-US" sz="2000" b="true">
                <a:solidFill>
                  <a:srgbClr val="041F60"/>
                </a:solidFill>
                <a:latin typeface="Gotham Bold"/>
                <a:ea typeface="Gotham Bold"/>
                <a:cs typeface="Gotham Bold"/>
                <a:sym typeface="Gotham Bold"/>
              </a:rPr>
              <a:t>Business Intelligence Dashboards</a:t>
            </a:r>
          </a:p>
        </p:txBody>
      </p:sp>
      <p:sp>
        <p:nvSpPr>
          <p:cNvPr name="TextBox 53" id="53"/>
          <p:cNvSpPr txBox="true"/>
          <p:nvPr/>
        </p:nvSpPr>
        <p:spPr>
          <a:xfrm rot="0">
            <a:off x="11391900" y="3783056"/>
            <a:ext cx="2895600" cy="421428"/>
          </a:xfrm>
          <a:prstGeom prst="rect">
            <a:avLst/>
          </a:prstGeom>
        </p:spPr>
        <p:txBody>
          <a:bodyPr anchor="t" rtlCol="false" tIns="0" lIns="0" bIns="0" rIns="0">
            <a:spAutoFit/>
          </a:bodyPr>
          <a:lstStyle/>
          <a:p>
            <a:pPr algn="ctr">
              <a:lnSpc>
                <a:spcPts val="3266"/>
              </a:lnSpc>
            </a:pPr>
            <a:r>
              <a:rPr lang="en-US" sz="2799">
                <a:solidFill>
                  <a:srgbClr val="041F60"/>
                </a:solidFill>
                <a:latin typeface="Gotham"/>
                <a:ea typeface="Gotham"/>
                <a:cs typeface="Gotham"/>
                <a:sym typeface="Gotham"/>
              </a:rPr>
              <a:t>4</a:t>
            </a:r>
          </a:p>
        </p:txBody>
      </p:sp>
      <p:sp>
        <p:nvSpPr>
          <p:cNvPr name="TextBox 54" id="54"/>
          <p:cNvSpPr txBox="true"/>
          <p:nvPr/>
        </p:nvSpPr>
        <p:spPr>
          <a:xfrm rot="0">
            <a:off x="15087600" y="7196510"/>
            <a:ext cx="2895600" cy="1547114"/>
          </a:xfrm>
          <a:prstGeom prst="rect">
            <a:avLst/>
          </a:prstGeom>
        </p:spPr>
        <p:txBody>
          <a:bodyPr anchor="t" rtlCol="false" tIns="0" lIns="0" bIns="0" rIns="0">
            <a:spAutoFit/>
          </a:bodyPr>
          <a:lstStyle/>
          <a:p>
            <a:pPr algn="ctr">
              <a:lnSpc>
                <a:spcPts val="2487"/>
              </a:lnSpc>
            </a:pPr>
            <a:r>
              <a:rPr lang="en-US" sz="1599">
                <a:solidFill>
                  <a:srgbClr val="000000"/>
                </a:solidFill>
                <a:latin typeface="Canva Sans"/>
                <a:ea typeface="Canva Sans"/>
                <a:cs typeface="Canva Sans"/>
                <a:sym typeface="Canva Sans"/>
              </a:rPr>
              <a:t>Ena</a:t>
            </a:r>
            <a:r>
              <a:rPr lang="en-US" sz="1599">
                <a:solidFill>
                  <a:srgbClr val="000000"/>
                </a:solidFill>
                <a:latin typeface="Canva Sans"/>
                <a:ea typeface="Canva Sans"/>
                <a:cs typeface="Canva Sans"/>
                <a:sym typeface="Canva Sans"/>
              </a:rPr>
              <a:t>ble flexible decision making with maps, filters, and drill-downs, empowering stakeholders with interactive, data-driven insights.</a:t>
            </a:r>
          </a:p>
        </p:txBody>
      </p:sp>
      <p:sp>
        <p:nvSpPr>
          <p:cNvPr name="TextBox 55" id="55"/>
          <p:cNvSpPr txBox="true"/>
          <p:nvPr/>
        </p:nvSpPr>
        <p:spPr>
          <a:xfrm rot="0">
            <a:off x="15087600" y="6743810"/>
            <a:ext cx="2895600" cy="303742"/>
          </a:xfrm>
          <a:prstGeom prst="rect">
            <a:avLst/>
          </a:prstGeom>
        </p:spPr>
        <p:txBody>
          <a:bodyPr anchor="t" rtlCol="false" tIns="0" lIns="0" bIns="0" rIns="0">
            <a:spAutoFit/>
          </a:bodyPr>
          <a:lstStyle/>
          <a:p>
            <a:pPr algn="ctr">
              <a:lnSpc>
                <a:spcPts val="2333"/>
              </a:lnSpc>
            </a:pPr>
            <a:r>
              <a:rPr lang="en-US" sz="2000" b="true">
                <a:solidFill>
                  <a:srgbClr val="041F60"/>
                </a:solidFill>
                <a:latin typeface="Gotham Bold"/>
                <a:ea typeface="Gotham Bold"/>
                <a:cs typeface="Gotham Bold"/>
                <a:sym typeface="Gotham Bold"/>
              </a:rPr>
              <a:t>Service Analytics</a:t>
            </a:r>
          </a:p>
        </p:txBody>
      </p:sp>
      <p:sp>
        <p:nvSpPr>
          <p:cNvPr name="TextBox 56" id="56"/>
          <p:cNvSpPr txBox="true"/>
          <p:nvPr/>
        </p:nvSpPr>
        <p:spPr>
          <a:xfrm rot="0">
            <a:off x="15087600" y="4454556"/>
            <a:ext cx="2895600" cy="421428"/>
          </a:xfrm>
          <a:prstGeom prst="rect">
            <a:avLst/>
          </a:prstGeom>
        </p:spPr>
        <p:txBody>
          <a:bodyPr anchor="t" rtlCol="false" tIns="0" lIns="0" bIns="0" rIns="0">
            <a:spAutoFit/>
          </a:bodyPr>
          <a:lstStyle/>
          <a:p>
            <a:pPr algn="ctr">
              <a:lnSpc>
                <a:spcPts val="3266"/>
              </a:lnSpc>
            </a:pPr>
            <a:r>
              <a:rPr lang="en-US" sz="2799">
                <a:solidFill>
                  <a:srgbClr val="041F60"/>
                </a:solidFill>
                <a:latin typeface="Gotham"/>
                <a:ea typeface="Gotham"/>
                <a:cs typeface="Gotham"/>
                <a:sym typeface="Gotham"/>
              </a:rPr>
              <a:t>5</a:t>
            </a:r>
          </a:p>
        </p:txBody>
      </p:sp>
      <p:sp>
        <p:nvSpPr>
          <p:cNvPr name="Freeform 57" id="57"/>
          <p:cNvSpPr/>
          <p:nvPr/>
        </p:nvSpPr>
        <p:spPr>
          <a:xfrm flipH="false" flipV="false" rot="0">
            <a:off x="16305925" y="5538035"/>
            <a:ext cx="458949" cy="458949"/>
          </a:xfrm>
          <a:custGeom>
            <a:avLst/>
            <a:gdLst/>
            <a:ahLst/>
            <a:cxnLst/>
            <a:rect r="r" b="b" t="t" l="l"/>
            <a:pathLst>
              <a:path h="458949" w="458949">
                <a:moveTo>
                  <a:pt x="0" y="0"/>
                </a:moveTo>
                <a:lnTo>
                  <a:pt x="458950" y="0"/>
                </a:lnTo>
                <a:lnTo>
                  <a:pt x="458950" y="458949"/>
                </a:lnTo>
                <a:lnTo>
                  <a:pt x="0" y="4589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8" id="5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5</a:t>
            </a:r>
          </a:p>
        </p:txBody>
      </p:sp>
      <p:sp>
        <p:nvSpPr>
          <p:cNvPr name="TextBox 59" id="59"/>
          <p:cNvSpPr txBox="true"/>
          <p:nvPr/>
        </p:nvSpPr>
        <p:spPr>
          <a:xfrm rot="0">
            <a:off x="8714261" y="4406972"/>
            <a:ext cx="995593" cy="795151"/>
          </a:xfrm>
          <a:prstGeom prst="rect">
            <a:avLst/>
          </a:prstGeom>
        </p:spPr>
        <p:txBody>
          <a:bodyPr anchor="t" rtlCol="false" tIns="0" lIns="0" bIns="0" rIns="0">
            <a:spAutoFit/>
          </a:bodyPr>
          <a:lstStyle/>
          <a:p>
            <a:pPr algn="ctr">
              <a:lnSpc>
                <a:spcPts val="6713"/>
              </a:lnSpc>
              <a:spcBef>
                <a:spcPct val="0"/>
              </a:spcBef>
            </a:pPr>
            <a:r>
              <a:rPr lang="en-US" sz="4315">
                <a:solidFill>
                  <a:srgbClr val="000000"/>
                </a:solidFill>
                <a:latin typeface="Canva Sans"/>
                <a:ea typeface="Canva Sans"/>
                <a:cs typeface="Canva Sans"/>
                <a:sym typeface="Canva Sans"/>
              </a:rPr>
              <a:t>⚡ </a:t>
            </a:r>
          </a:p>
        </p:txBody>
      </p:sp>
      <p:sp>
        <p:nvSpPr>
          <p:cNvPr name="TextBox 60" id="60"/>
          <p:cNvSpPr txBox="true"/>
          <p:nvPr/>
        </p:nvSpPr>
        <p:spPr>
          <a:xfrm rot="0">
            <a:off x="5047644" y="4747651"/>
            <a:ext cx="801312" cy="625949"/>
          </a:xfrm>
          <a:prstGeom prst="rect">
            <a:avLst/>
          </a:prstGeom>
        </p:spPr>
        <p:txBody>
          <a:bodyPr anchor="t" rtlCol="false" tIns="0" lIns="0" bIns="0" rIns="0">
            <a:spAutoFit/>
          </a:bodyPr>
          <a:lstStyle/>
          <a:p>
            <a:pPr algn="ctr">
              <a:lnSpc>
                <a:spcPts val="5266"/>
              </a:lnSpc>
              <a:spcBef>
                <a:spcPct val="0"/>
              </a:spcBef>
            </a:pPr>
            <a:r>
              <a:rPr lang="en-US" sz="3385">
                <a:solidFill>
                  <a:srgbClr val="000000"/>
                </a:solidFill>
                <a:latin typeface="Canva Sans"/>
                <a:ea typeface="Canva Sans"/>
                <a:cs typeface="Canva Sans"/>
                <a:sym typeface="Canva Sans"/>
              </a:rPr>
              <a:t> 🏛️ </a:t>
            </a:r>
          </a:p>
        </p:txBody>
      </p:sp>
      <p:sp>
        <p:nvSpPr>
          <p:cNvPr name="TextBox 61" id="61"/>
          <p:cNvSpPr txBox="true"/>
          <p:nvPr/>
        </p:nvSpPr>
        <p:spPr>
          <a:xfrm rot="0">
            <a:off x="1361114" y="5423735"/>
            <a:ext cx="782971" cy="627274"/>
          </a:xfrm>
          <a:prstGeom prst="rect">
            <a:avLst/>
          </a:prstGeom>
        </p:spPr>
        <p:txBody>
          <a:bodyPr anchor="t" rtlCol="false" tIns="0" lIns="0" bIns="0" rIns="0">
            <a:spAutoFit/>
          </a:bodyPr>
          <a:lstStyle/>
          <a:p>
            <a:pPr algn="ctr">
              <a:lnSpc>
                <a:spcPts val="5279"/>
              </a:lnSpc>
              <a:spcBef>
                <a:spcPct val="0"/>
              </a:spcBef>
            </a:pPr>
            <a:r>
              <a:rPr lang="en-US" sz="3394">
                <a:solidFill>
                  <a:srgbClr val="000000"/>
                </a:solidFill>
                <a:latin typeface="Canva Sans"/>
                <a:ea typeface="Canva Sans"/>
                <a:cs typeface="Canva Sans"/>
                <a:sym typeface="Canva Sans"/>
              </a:rPr>
              <a:t>🔄</a:t>
            </a:r>
          </a:p>
        </p:txBody>
      </p:sp>
      <p:sp>
        <p:nvSpPr>
          <p:cNvPr name="TextBox 62" id="62"/>
          <p:cNvSpPr txBox="true"/>
          <p:nvPr/>
        </p:nvSpPr>
        <p:spPr>
          <a:xfrm rot="0">
            <a:off x="11915775" y="4814432"/>
            <a:ext cx="1847850" cy="559168"/>
          </a:xfrm>
          <a:prstGeom prst="rect">
            <a:avLst/>
          </a:prstGeom>
        </p:spPr>
        <p:txBody>
          <a:bodyPr anchor="t" rtlCol="false" tIns="0" lIns="0" bIns="0" rIns="0">
            <a:spAutoFit/>
          </a:bodyPr>
          <a:lstStyle/>
          <a:p>
            <a:pPr algn="ctr">
              <a:lnSpc>
                <a:spcPts val="4571"/>
              </a:lnSpc>
              <a:spcBef>
                <a:spcPct val="0"/>
              </a:spcBef>
            </a:pPr>
            <a:r>
              <a:rPr lang="en-US" sz="3265">
                <a:solidFill>
                  <a:srgbClr val="000000"/>
                </a:solidFill>
                <a:latin typeface="Canva Sans"/>
                <a:ea typeface="Canva Sans"/>
                <a:cs typeface="Canva Sans"/>
                <a:sym typeface="Canva Sans"/>
              </a:rPr>
              <a:t>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1104313" y="3384493"/>
            <a:ext cx="6938953" cy="5620552"/>
          </a:xfrm>
          <a:custGeom>
            <a:avLst/>
            <a:gdLst/>
            <a:ahLst/>
            <a:cxnLst/>
            <a:rect r="r" b="b" t="t" l="l"/>
            <a:pathLst>
              <a:path h="5620552" w="6938953">
                <a:moveTo>
                  <a:pt x="0" y="0"/>
                </a:moveTo>
                <a:lnTo>
                  <a:pt x="6938954" y="0"/>
                </a:lnTo>
                <a:lnTo>
                  <a:pt x="6938954" y="5620553"/>
                </a:lnTo>
                <a:lnTo>
                  <a:pt x="0" y="56205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621295" y="652723"/>
            <a:ext cx="13045409" cy="721995"/>
          </a:xfrm>
          <a:prstGeom prst="rect">
            <a:avLst/>
          </a:prstGeom>
        </p:spPr>
        <p:txBody>
          <a:bodyPr anchor="t" rtlCol="false" tIns="0" lIns="0" bIns="0" rIns="0">
            <a:spAutoFit/>
          </a:bodyPr>
          <a:lstStyle/>
          <a:p>
            <a:pPr algn="ctr">
              <a:lnSpc>
                <a:spcPts val="5625"/>
              </a:lnSpc>
            </a:pPr>
            <a:r>
              <a:rPr lang="en-US" sz="4800" b="true">
                <a:solidFill>
                  <a:srgbClr val="041F60"/>
                </a:solidFill>
                <a:latin typeface="Gotham Bold"/>
                <a:ea typeface="Gotham Bold"/>
                <a:cs typeface="Gotham Bold"/>
                <a:sym typeface="Gotham Bold"/>
              </a:rPr>
              <a:t>From Data to Insights</a:t>
            </a:r>
          </a:p>
        </p:txBody>
      </p:sp>
      <p:sp>
        <p:nvSpPr>
          <p:cNvPr name="AutoShape 4" id="4"/>
          <p:cNvSpPr/>
          <p:nvPr/>
        </p:nvSpPr>
        <p:spPr>
          <a:xfrm>
            <a:off x="6523444" y="4686763"/>
            <a:ext cx="2134826" cy="0"/>
          </a:xfrm>
          <a:prstGeom prst="line">
            <a:avLst/>
          </a:prstGeom>
          <a:ln cap="rnd" w="66675">
            <a:solidFill>
              <a:srgbClr val="CADBE8"/>
            </a:solidFill>
            <a:prstDash val="sysDot"/>
            <a:headEnd type="none" len="sm" w="sm"/>
            <a:tailEnd type="none" len="sm" w="sm"/>
          </a:ln>
        </p:spPr>
      </p:sp>
      <p:sp>
        <p:nvSpPr>
          <p:cNvPr name="TextBox 5" id="5"/>
          <p:cNvSpPr txBox="true"/>
          <p:nvPr/>
        </p:nvSpPr>
        <p:spPr>
          <a:xfrm rot="0">
            <a:off x="11887200" y="4360881"/>
            <a:ext cx="4648200" cy="918464"/>
          </a:xfrm>
          <a:prstGeom prst="rect">
            <a:avLst/>
          </a:prstGeom>
        </p:spPr>
        <p:txBody>
          <a:bodyPr anchor="t" rtlCol="false" tIns="0" lIns="0" bIns="0" rIns="0">
            <a:spAutoFit/>
          </a:bodyPr>
          <a:lstStyle/>
          <a:p>
            <a:pPr algn="l">
              <a:lnSpc>
                <a:spcPts val="2487"/>
              </a:lnSpc>
            </a:pPr>
            <a:r>
              <a:rPr lang="en-US" sz="1599">
                <a:solidFill>
                  <a:srgbClr val="000000"/>
                </a:solidFill>
                <a:latin typeface="Canva Sans"/>
                <a:ea typeface="Canva Sans"/>
                <a:cs typeface="Canva Sans"/>
                <a:sym typeface="Canva Sans"/>
              </a:rPr>
              <a:t>connected the warehouse</a:t>
            </a:r>
            <a:r>
              <a:rPr lang="en-US" sz="1599">
                <a:solidFill>
                  <a:srgbClr val="000000"/>
                </a:solidFill>
                <a:latin typeface="Canva Sans"/>
                <a:ea typeface="Canva Sans"/>
                <a:cs typeface="Canva Sans"/>
                <a:sym typeface="Canva Sans"/>
              </a:rPr>
              <a:t> to Power BI and created interactive dashboards showing KPIs, trends, and profitability.</a:t>
            </a:r>
          </a:p>
        </p:txBody>
      </p:sp>
      <p:sp>
        <p:nvSpPr>
          <p:cNvPr name="TextBox 6" id="6"/>
          <p:cNvSpPr txBox="true"/>
          <p:nvPr/>
        </p:nvSpPr>
        <p:spPr>
          <a:xfrm rot="0">
            <a:off x="2624136" y="4539443"/>
            <a:ext cx="3899309" cy="304165"/>
          </a:xfrm>
          <a:prstGeom prst="rect">
            <a:avLst/>
          </a:prstGeom>
        </p:spPr>
        <p:txBody>
          <a:bodyPr anchor="t" rtlCol="false" tIns="0" lIns="0" bIns="0" rIns="0">
            <a:spAutoFit/>
          </a:bodyPr>
          <a:lstStyle/>
          <a:p>
            <a:pPr algn="ctr">
              <a:lnSpc>
                <a:spcPts val="2450"/>
              </a:lnSpc>
            </a:pPr>
            <a:r>
              <a:rPr lang="en-US" sz="2100" b="true">
                <a:solidFill>
                  <a:srgbClr val="041F60"/>
                </a:solidFill>
                <a:latin typeface="Gotham Bold"/>
                <a:ea typeface="Gotham Bold"/>
                <a:cs typeface="Gotham Bold"/>
                <a:sym typeface="Gotham Bold"/>
              </a:rPr>
              <a:t>Dashboard Development</a:t>
            </a:r>
          </a:p>
        </p:txBody>
      </p:sp>
      <p:sp>
        <p:nvSpPr>
          <p:cNvPr name="AutoShape 7" id="7"/>
          <p:cNvSpPr/>
          <p:nvPr/>
        </p:nvSpPr>
        <p:spPr>
          <a:xfrm>
            <a:off x="9680889" y="4686079"/>
            <a:ext cx="1821752" cy="0"/>
          </a:xfrm>
          <a:prstGeom prst="line">
            <a:avLst/>
          </a:prstGeom>
          <a:ln cap="rnd" w="66675">
            <a:solidFill>
              <a:srgbClr val="CADBE8"/>
            </a:solidFill>
            <a:prstDash val="sysDot"/>
            <a:headEnd type="none" len="sm" w="sm"/>
            <a:tailEnd type="none" len="sm" w="sm"/>
          </a:ln>
        </p:spPr>
      </p:sp>
      <p:sp>
        <p:nvSpPr>
          <p:cNvPr name="Freeform 8" id="8"/>
          <p:cNvSpPr/>
          <p:nvPr/>
        </p:nvSpPr>
        <p:spPr>
          <a:xfrm flipH="false" flipV="false" rot="0">
            <a:off x="8734265" y="4352247"/>
            <a:ext cx="819470" cy="817981"/>
          </a:xfrm>
          <a:custGeom>
            <a:avLst/>
            <a:gdLst/>
            <a:ahLst/>
            <a:cxnLst/>
            <a:rect r="r" b="b" t="t" l="l"/>
            <a:pathLst>
              <a:path h="817981" w="819470">
                <a:moveTo>
                  <a:pt x="0" y="0"/>
                </a:moveTo>
                <a:lnTo>
                  <a:pt x="819470" y="0"/>
                </a:lnTo>
                <a:lnTo>
                  <a:pt x="819470" y="817981"/>
                </a:lnTo>
                <a:lnTo>
                  <a:pt x="0" y="817981"/>
                </a:lnTo>
                <a:lnTo>
                  <a:pt x="0" y="0"/>
                </a:lnTo>
                <a:close/>
              </a:path>
            </a:pathLst>
          </a:custGeom>
          <a:blipFill>
            <a:blip r:embed="rId4">
              <a:alphaModFix amt="50000"/>
            </a:blip>
            <a:stretch>
              <a:fillRect l="0" t="0" r="0" b="0"/>
            </a:stretch>
          </a:blipFill>
        </p:spPr>
      </p:sp>
      <p:sp>
        <p:nvSpPr>
          <p:cNvPr name="AutoShape 9" id="9"/>
          <p:cNvSpPr/>
          <p:nvPr/>
        </p:nvSpPr>
        <p:spPr>
          <a:xfrm flipV="true">
            <a:off x="6308528" y="5949312"/>
            <a:ext cx="2349742" cy="0"/>
          </a:xfrm>
          <a:prstGeom prst="line">
            <a:avLst/>
          </a:prstGeom>
          <a:ln cap="rnd" w="66675">
            <a:solidFill>
              <a:srgbClr val="6AD572"/>
            </a:solidFill>
            <a:prstDash val="sysDot"/>
            <a:headEnd type="none" len="sm" w="sm"/>
            <a:tailEnd type="none" len="sm" w="sm"/>
          </a:ln>
        </p:spPr>
      </p:sp>
      <p:sp>
        <p:nvSpPr>
          <p:cNvPr name="TextBox 10" id="10"/>
          <p:cNvSpPr txBox="true"/>
          <p:nvPr/>
        </p:nvSpPr>
        <p:spPr>
          <a:xfrm rot="0">
            <a:off x="11887200" y="5623430"/>
            <a:ext cx="4648200" cy="918464"/>
          </a:xfrm>
          <a:prstGeom prst="rect">
            <a:avLst/>
          </a:prstGeom>
        </p:spPr>
        <p:txBody>
          <a:bodyPr anchor="t" rtlCol="false" tIns="0" lIns="0" bIns="0" rIns="0">
            <a:spAutoFit/>
          </a:bodyPr>
          <a:lstStyle/>
          <a:p>
            <a:pPr algn="l">
              <a:lnSpc>
                <a:spcPts val="2487"/>
              </a:lnSpc>
            </a:pPr>
            <a:r>
              <a:rPr lang="en-US" sz="1599">
                <a:solidFill>
                  <a:srgbClr val="000000"/>
                </a:solidFill>
                <a:latin typeface="Canva Sans"/>
                <a:ea typeface="Canva Sans"/>
                <a:cs typeface="Canva Sans"/>
                <a:sym typeface="Canva Sans"/>
              </a:rPr>
              <a:t>imp</a:t>
            </a:r>
            <a:r>
              <a:rPr lang="en-US" sz="1599">
                <a:solidFill>
                  <a:srgbClr val="000000"/>
                </a:solidFill>
                <a:latin typeface="Canva Sans"/>
                <a:ea typeface="Canva Sans"/>
                <a:cs typeface="Canva Sans"/>
                <a:sym typeface="Canva Sans"/>
              </a:rPr>
              <a:t>lemented a star schema with fact and dimension tables, optimized with columnstore indexes and SCD logic.</a:t>
            </a:r>
          </a:p>
        </p:txBody>
      </p:sp>
      <p:sp>
        <p:nvSpPr>
          <p:cNvPr name="TextBox 11" id="11"/>
          <p:cNvSpPr txBox="true"/>
          <p:nvPr/>
        </p:nvSpPr>
        <p:spPr>
          <a:xfrm rot="0">
            <a:off x="2839052" y="5801992"/>
            <a:ext cx="3469477" cy="304165"/>
          </a:xfrm>
          <a:prstGeom prst="rect">
            <a:avLst/>
          </a:prstGeom>
        </p:spPr>
        <p:txBody>
          <a:bodyPr anchor="t" rtlCol="false" tIns="0" lIns="0" bIns="0" rIns="0">
            <a:spAutoFit/>
          </a:bodyPr>
          <a:lstStyle/>
          <a:p>
            <a:pPr algn="ctr">
              <a:lnSpc>
                <a:spcPts val="2450"/>
              </a:lnSpc>
            </a:pPr>
            <a:r>
              <a:rPr lang="en-US" sz="2100" b="true">
                <a:solidFill>
                  <a:srgbClr val="041F60"/>
                </a:solidFill>
                <a:latin typeface="Gotham Bold"/>
                <a:ea typeface="Gotham Bold"/>
                <a:cs typeface="Gotham Bold"/>
                <a:sym typeface="Gotham Bold"/>
              </a:rPr>
              <a:t>Data Warehouse Design</a:t>
            </a:r>
          </a:p>
        </p:txBody>
      </p:sp>
      <p:sp>
        <p:nvSpPr>
          <p:cNvPr name="AutoShape 12" id="12"/>
          <p:cNvSpPr/>
          <p:nvPr/>
        </p:nvSpPr>
        <p:spPr>
          <a:xfrm flipV="true">
            <a:off x="9680889" y="5948628"/>
            <a:ext cx="1821752" cy="0"/>
          </a:xfrm>
          <a:prstGeom prst="line">
            <a:avLst/>
          </a:prstGeom>
          <a:ln cap="rnd" w="66675">
            <a:solidFill>
              <a:srgbClr val="6AD572"/>
            </a:solidFill>
            <a:prstDash val="sysDot"/>
            <a:headEnd type="none" len="sm" w="sm"/>
            <a:tailEnd type="none" len="sm" w="sm"/>
          </a:ln>
        </p:spPr>
      </p:sp>
      <p:sp>
        <p:nvSpPr>
          <p:cNvPr name="Freeform 13" id="13"/>
          <p:cNvSpPr/>
          <p:nvPr/>
        </p:nvSpPr>
        <p:spPr>
          <a:xfrm flipH="false" flipV="false" rot="0">
            <a:off x="8734265" y="5614797"/>
            <a:ext cx="819470" cy="817981"/>
          </a:xfrm>
          <a:custGeom>
            <a:avLst/>
            <a:gdLst/>
            <a:ahLst/>
            <a:cxnLst/>
            <a:rect r="r" b="b" t="t" l="l"/>
            <a:pathLst>
              <a:path h="817981" w="819470">
                <a:moveTo>
                  <a:pt x="0" y="0"/>
                </a:moveTo>
                <a:lnTo>
                  <a:pt x="819470" y="0"/>
                </a:lnTo>
                <a:lnTo>
                  <a:pt x="819470" y="817980"/>
                </a:lnTo>
                <a:lnTo>
                  <a:pt x="0" y="817980"/>
                </a:lnTo>
                <a:lnTo>
                  <a:pt x="0" y="0"/>
                </a:lnTo>
                <a:close/>
              </a:path>
            </a:pathLst>
          </a:custGeom>
          <a:blipFill>
            <a:blip r:embed="rId4">
              <a:alphaModFix amt="50000"/>
            </a:blip>
            <a:stretch>
              <a:fillRect l="0" t="0" r="0" b="0"/>
            </a:stretch>
          </a:blipFill>
        </p:spPr>
      </p:sp>
      <p:grpSp>
        <p:nvGrpSpPr>
          <p:cNvPr name="Group 14" id="14"/>
          <p:cNvGrpSpPr/>
          <p:nvPr/>
        </p:nvGrpSpPr>
        <p:grpSpPr>
          <a:xfrm rot="0">
            <a:off x="8765070" y="5526085"/>
            <a:ext cx="757861" cy="757861"/>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EBF4"/>
            </a:solidFill>
          </p:spPr>
        </p:sp>
        <p:sp>
          <p:nvSpPr>
            <p:cNvPr name="TextBox 16" id="16"/>
            <p:cNvSpPr txBox="true"/>
            <p:nvPr/>
          </p:nvSpPr>
          <p:spPr>
            <a:xfrm>
              <a:off x="76200" y="28575"/>
              <a:ext cx="660400" cy="708025"/>
            </a:xfrm>
            <a:prstGeom prst="rect">
              <a:avLst/>
            </a:prstGeom>
          </p:spPr>
          <p:txBody>
            <a:bodyPr anchor="ctr" rtlCol="false" tIns="36939" lIns="36939" bIns="36939" rIns="36939"/>
            <a:lstStyle/>
            <a:p>
              <a:pPr algn="ctr">
                <a:lnSpc>
                  <a:spcPts val="2488"/>
                </a:lnSpc>
              </a:pPr>
            </a:p>
          </p:txBody>
        </p:sp>
      </p:grpSp>
      <p:grpSp>
        <p:nvGrpSpPr>
          <p:cNvPr name="Group 17" id="17"/>
          <p:cNvGrpSpPr/>
          <p:nvPr/>
        </p:nvGrpSpPr>
        <p:grpSpPr>
          <a:xfrm rot="0">
            <a:off x="8765070" y="5465847"/>
            <a:ext cx="757861" cy="757861"/>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CFDFE"/>
            </a:solidFill>
          </p:spPr>
        </p:sp>
        <p:sp>
          <p:nvSpPr>
            <p:cNvPr name="TextBox 19" id="19"/>
            <p:cNvSpPr txBox="true"/>
            <p:nvPr/>
          </p:nvSpPr>
          <p:spPr>
            <a:xfrm>
              <a:off x="76200" y="28575"/>
              <a:ext cx="660400" cy="708025"/>
            </a:xfrm>
            <a:prstGeom prst="rect">
              <a:avLst/>
            </a:prstGeom>
          </p:spPr>
          <p:txBody>
            <a:bodyPr anchor="ctr" rtlCol="false" tIns="36939" lIns="36939" bIns="36939" rIns="36939"/>
            <a:lstStyle/>
            <a:p>
              <a:pPr algn="ctr">
                <a:lnSpc>
                  <a:spcPts val="2488"/>
                </a:lnSpc>
              </a:pPr>
            </a:p>
          </p:txBody>
        </p:sp>
      </p:grpSp>
      <p:sp>
        <p:nvSpPr>
          <p:cNvPr name="AutoShape 20" id="20"/>
          <p:cNvSpPr/>
          <p:nvPr/>
        </p:nvSpPr>
        <p:spPr>
          <a:xfrm>
            <a:off x="5997570" y="7211861"/>
            <a:ext cx="2660701" cy="0"/>
          </a:xfrm>
          <a:prstGeom prst="line">
            <a:avLst/>
          </a:prstGeom>
          <a:ln cap="rnd" w="66675">
            <a:solidFill>
              <a:srgbClr val="65A6FE"/>
            </a:solidFill>
            <a:prstDash val="sysDot"/>
            <a:headEnd type="none" len="sm" w="sm"/>
            <a:tailEnd type="none" len="sm" w="sm"/>
          </a:ln>
        </p:spPr>
      </p:sp>
      <p:sp>
        <p:nvSpPr>
          <p:cNvPr name="TextBox 21" id="21"/>
          <p:cNvSpPr txBox="true"/>
          <p:nvPr/>
        </p:nvSpPr>
        <p:spPr>
          <a:xfrm rot="0">
            <a:off x="3150010" y="6912141"/>
            <a:ext cx="2847559" cy="608965"/>
          </a:xfrm>
          <a:prstGeom prst="rect">
            <a:avLst/>
          </a:prstGeom>
        </p:spPr>
        <p:txBody>
          <a:bodyPr anchor="t" rtlCol="false" tIns="0" lIns="0" bIns="0" rIns="0">
            <a:spAutoFit/>
          </a:bodyPr>
          <a:lstStyle/>
          <a:p>
            <a:pPr algn="ctr">
              <a:lnSpc>
                <a:spcPts val="2450"/>
              </a:lnSpc>
            </a:pPr>
            <a:r>
              <a:rPr lang="en-US" sz="2100" b="true">
                <a:solidFill>
                  <a:srgbClr val="041F60"/>
                </a:solidFill>
                <a:latin typeface="Gotham Bold"/>
                <a:ea typeface="Gotham Bold"/>
                <a:cs typeface="Gotham Bold"/>
                <a:sym typeface="Gotham Bold"/>
              </a:rPr>
              <a:t>ETL Pipeline Development</a:t>
            </a:r>
          </a:p>
        </p:txBody>
      </p:sp>
      <p:sp>
        <p:nvSpPr>
          <p:cNvPr name="TextBox 22" id="22"/>
          <p:cNvSpPr txBox="true"/>
          <p:nvPr/>
        </p:nvSpPr>
        <p:spPr>
          <a:xfrm rot="0">
            <a:off x="11887200" y="6885979"/>
            <a:ext cx="4648200" cy="918464"/>
          </a:xfrm>
          <a:prstGeom prst="rect">
            <a:avLst/>
          </a:prstGeom>
        </p:spPr>
        <p:txBody>
          <a:bodyPr anchor="t" rtlCol="false" tIns="0" lIns="0" bIns="0" rIns="0">
            <a:spAutoFit/>
          </a:bodyPr>
          <a:lstStyle/>
          <a:p>
            <a:pPr algn="l">
              <a:lnSpc>
                <a:spcPts val="2487"/>
              </a:lnSpc>
            </a:pPr>
            <a:r>
              <a:rPr lang="en-US" sz="1599">
                <a:solidFill>
                  <a:srgbClr val="000000"/>
                </a:solidFill>
                <a:latin typeface="Canva Sans"/>
                <a:ea typeface="Canva Sans"/>
                <a:cs typeface="Canva Sans"/>
                <a:sym typeface="Canva Sans"/>
              </a:rPr>
              <a:t>bui</a:t>
            </a:r>
            <a:r>
              <a:rPr lang="en-US" sz="1599">
                <a:solidFill>
                  <a:srgbClr val="000000"/>
                </a:solidFill>
                <a:latin typeface="Canva Sans"/>
                <a:ea typeface="Canva Sans"/>
                <a:cs typeface="Canva Sans"/>
                <a:sym typeface="Canva Sans"/>
              </a:rPr>
              <a:t>lt SSIS pipelines for both initial and incremental loads, applying transformations and data quality checks.</a:t>
            </a:r>
          </a:p>
        </p:txBody>
      </p:sp>
      <p:sp>
        <p:nvSpPr>
          <p:cNvPr name="AutoShape 23" id="23"/>
          <p:cNvSpPr/>
          <p:nvPr/>
        </p:nvSpPr>
        <p:spPr>
          <a:xfrm flipV="true">
            <a:off x="9680889" y="7211178"/>
            <a:ext cx="1821752" cy="0"/>
          </a:xfrm>
          <a:prstGeom prst="line">
            <a:avLst/>
          </a:prstGeom>
          <a:ln cap="rnd" w="66675">
            <a:solidFill>
              <a:srgbClr val="65A6FE"/>
            </a:solidFill>
            <a:prstDash val="sysDot"/>
            <a:headEnd type="none" len="sm" w="sm"/>
            <a:tailEnd type="none" len="sm" w="sm"/>
          </a:ln>
        </p:spPr>
      </p:sp>
      <p:sp>
        <p:nvSpPr>
          <p:cNvPr name="Freeform 24" id="24"/>
          <p:cNvSpPr/>
          <p:nvPr/>
        </p:nvSpPr>
        <p:spPr>
          <a:xfrm flipH="false" flipV="false" rot="0">
            <a:off x="8734265" y="6877346"/>
            <a:ext cx="819470" cy="817981"/>
          </a:xfrm>
          <a:custGeom>
            <a:avLst/>
            <a:gdLst/>
            <a:ahLst/>
            <a:cxnLst/>
            <a:rect r="r" b="b" t="t" l="l"/>
            <a:pathLst>
              <a:path h="817981" w="819470">
                <a:moveTo>
                  <a:pt x="0" y="0"/>
                </a:moveTo>
                <a:lnTo>
                  <a:pt x="819470" y="0"/>
                </a:lnTo>
                <a:lnTo>
                  <a:pt x="819470" y="817980"/>
                </a:lnTo>
                <a:lnTo>
                  <a:pt x="0" y="817980"/>
                </a:lnTo>
                <a:lnTo>
                  <a:pt x="0" y="0"/>
                </a:lnTo>
                <a:close/>
              </a:path>
            </a:pathLst>
          </a:custGeom>
          <a:blipFill>
            <a:blip r:embed="rId4">
              <a:alphaModFix amt="50000"/>
            </a:blip>
            <a:stretch>
              <a:fillRect l="0" t="0" r="0" b="0"/>
            </a:stretch>
          </a:blipFill>
        </p:spPr>
      </p:sp>
      <p:grpSp>
        <p:nvGrpSpPr>
          <p:cNvPr name="Group 25" id="25"/>
          <p:cNvGrpSpPr/>
          <p:nvPr/>
        </p:nvGrpSpPr>
        <p:grpSpPr>
          <a:xfrm rot="0">
            <a:off x="8765070" y="6788634"/>
            <a:ext cx="757861" cy="757861"/>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EBF4"/>
            </a:solidFill>
          </p:spPr>
        </p:sp>
        <p:sp>
          <p:nvSpPr>
            <p:cNvPr name="TextBox 27" id="27"/>
            <p:cNvSpPr txBox="true"/>
            <p:nvPr/>
          </p:nvSpPr>
          <p:spPr>
            <a:xfrm>
              <a:off x="76200" y="28575"/>
              <a:ext cx="660400" cy="708025"/>
            </a:xfrm>
            <a:prstGeom prst="rect">
              <a:avLst/>
            </a:prstGeom>
          </p:spPr>
          <p:txBody>
            <a:bodyPr anchor="ctr" rtlCol="false" tIns="36939" lIns="36939" bIns="36939" rIns="36939"/>
            <a:lstStyle/>
            <a:p>
              <a:pPr algn="ctr">
                <a:lnSpc>
                  <a:spcPts val="2488"/>
                </a:lnSpc>
              </a:pPr>
            </a:p>
          </p:txBody>
        </p:sp>
      </p:grpSp>
      <p:grpSp>
        <p:nvGrpSpPr>
          <p:cNvPr name="Group 28" id="28"/>
          <p:cNvGrpSpPr/>
          <p:nvPr/>
        </p:nvGrpSpPr>
        <p:grpSpPr>
          <a:xfrm rot="0">
            <a:off x="8765070" y="6728396"/>
            <a:ext cx="757861" cy="757861"/>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CFDFE"/>
            </a:solidFill>
          </p:spPr>
        </p:sp>
        <p:sp>
          <p:nvSpPr>
            <p:cNvPr name="TextBox 30" id="30"/>
            <p:cNvSpPr txBox="true"/>
            <p:nvPr/>
          </p:nvSpPr>
          <p:spPr>
            <a:xfrm>
              <a:off x="76200" y="28575"/>
              <a:ext cx="660400" cy="708025"/>
            </a:xfrm>
            <a:prstGeom prst="rect">
              <a:avLst/>
            </a:prstGeom>
          </p:spPr>
          <p:txBody>
            <a:bodyPr anchor="ctr" rtlCol="false" tIns="36939" lIns="36939" bIns="36939" rIns="36939"/>
            <a:lstStyle/>
            <a:p>
              <a:pPr algn="ctr">
                <a:lnSpc>
                  <a:spcPts val="2488"/>
                </a:lnSpc>
              </a:pPr>
            </a:p>
          </p:txBody>
        </p:sp>
      </p:grpSp>
      <p:sp>
        <p:nvSpPr>
          <p:cNvPr name="AutoShape 31" id="31"/>
          <p:cNvSpPr/>
          <p:nvPr/>
        </p:nvSpPr>
        <p:spPr>
          <a:xfrm>
            <a:off x="5660216" y="8505443"/>
            <a:ext cx="2998054" cy="0"/>
          </a:xfrm>
          <a:prstGeom prst="line">
            <a:avLst/>
          </a:prstGeom>
          <a:ln cap="rnd" w="66675">
            <a:solidFill>
              <a:srgbClr val="667198"/>
            </a:solidFill>
            <a:prstDash val="sysDot"/>
            <a:headEnd type="none" len="sm" w="sm"/>
            <a:tailEnd type="none" len="sm" w="sm"/>
          </a:ln>
        </p:spPr>
      </p:sp>
      <p:sp>
        <p:nvSpPr>
          <p:cNvPr name="TextBox 32" id="32"/>
          <p:cNvSpPr txBox="true"/>
          <p:nvPr/>
        </p:nvSpPr>
        <p:spPr>
          <a:xfrm rot="0">
            <a:off x="3487364" y="8205723"/>
            <a:ext cx="2172852" cy="608965"/>
          </a:xfrm>
          <a:prstGeom prst="rect">
            <a:avLst/>
          </a:prstGeom>
        </p:spPr>
        <p:txBody>
          <a:bodyPr anchor="t" rtlCol="false" tIns="0" lIns="0" bIns="0" rIns="0">
            <a:spAutoFit/>
          </a:bodyPr>
          <a:lstStyle/>
          <a:p>
            <a:pPr algn="ctr">
              <a:lnSpc>
                <a:spcPts val="2450"/>
              </a:lnSpc>
            </a:pPr>
            <a:r>
              <a:rPr lang="en-US" sz="2100" b="true">
                <a:solidFill>
                  <a:srgbClr val="FFFFFF"/>
                </a:solidFill>
                <a:latin typeface="Gotham Bold"/>
                <a:ea typeface="Gotham Bold"/>
                <a:cs typeface="Gotham Bold"/>
                <a:sym typeface="Gotham Bold"/>
              </a:rPr>
              <a:t>Data Extraction &amp; Staging</a:t>
            </a:r>
          </a:p>
        </p:txBody>
      </p:sp>
      <p:sp>
        <p:nvSpPr>
          <p:cNvPr name="TextBox 33" id="33"/>
          <p:cNvSpPr txBox="true"/>
          <p:nvPr/>
        </p:nvSpPr>
        <p:spPr>
          <a:xfrm rot="0">
            <a:off x="11887200" y="8179561"/>
            <a:ext cx="4648200" cy="918464"/>
          </a:xfrm>
          <a:prstGeom prst="rect">
            <a:avLst/>
          </a:prstGeom>
        </p:spPr>
        <p:txBody>
          <a:bodyPr anchor="t" rtlCol="false" tIns="0" lIns="0" bIns="0" rIns="0">
            <a:spAutoFit/>
          </a:bodyPr>
          <a:lstStyle/>
          <a:p>
            <a:pPr algn="l">
              <a:lnSpc>
                <a:spcPts val="2487"/>
              </a:lnSpc>
            </a:pPr>
            <a:r>
              <a:rPr lang="en-US" sz="1599">
                <a:solidFill>
                  <a:srgbClr val="000000"/>
                </a:solidFill>
                <a:latin typeface="Canva Sans"/>
                <a:ea typeface="Canva Sans"/>
                <a:cs typeface="Canva Sans"/>
                <a:sym typeface="Canva Sans"/>
              </a:rPr>
              <a:t>pull</a:t>
            </a:r>
            <a:r>
              <a:rPr lang="en-US" sz="1599">
                <a:solidFill>
                  <a:srgbClr val="000000"/>
                </a:solidFill>
                <a:latin typeface="Canva Sans"/>
                <a:ea typeface="Canva Sans"/>
                <a:cs typeface="Canva Sans"/>
                <a:sym typeface="Canva Sans"/>
              </a:rPr>
              <a:t>ed data from OLTP systems into a staging layer to prepare for controlled, repeatable loading</a:t>
            </a:r>
          </a:p>
        </p:txBody>
      </p:sp>
      <p:sp>
        <p:nvSpPr>
          <p:cNvPr name="AutoShape 34" id="34"/>
          <p:cNvSpPr/>
          <p:nvPr/>
        </p:nvSpPr>
        <p:spPr>
          <a:xfrm>
            <a:off x="9680889" y="8504759"/>
            <a:ext cx="1821752" cy="0"/>
          </a:xfrm>
          <a:prstGeom prst="line">
            <a:avLst/>
          </a:prstGeom>
          <a:ln cap="rnd" w="66675">
            <a:solidFill>
              <a:srgbClr val="667198"/>
            </a:solidFill>
            <a:prstDash val="sysDot"/>
            <a:headEnd type="none" len="sm" w="sm"/>
            <a:tailEnd type="none" len="sm" w="sm"/>
          </a:ln>
        </p:spPr>
      </p:sp>
      <p:sp>
        <p:nvSpPr>
          <p:cNvPr name="Freeform 35" id="35"/>
          <p:cNvSpPr/>
          <p:nvPr/>
        </p:nvSpPr>
        <p:spPr>
          <a:xfrm flipH="false" flipV="false" rot="0">
            <a:off x="8734265" y="8139895"/>
            <a:ext cx="819470" cy="817981"/>
          </a:xfrm>
          <a:custGeom>
            <a:avLst/>
            <a:gdLst/>
            <a:ahLst/>
            <a:cxnLst/>
            <a:rect r="r" b="b" t="t" l="l"/>
            <a:pathLst>
              <a:path h="817981" w="819470">
                <a:moveTo>
                  <a:pt x="0" y="0"/>
                </a:moveTo>
                <a:lnTo>
                  <a:pt x="819470" y="0"/>
                </a:lnTo>
                <a:lnTo>
                  <a:pt x="819470" y="817981"/>
                </a:lnTo>
                <a:lnTo>
                  <a:pt x="0" y="817981"/>
                </a:lnTo>
                <a:lnTo>
                  <a:pt x="0" y="0"/>
                </a:lnTo>
                <a:close/>
              </a:path>
            </a:pathLst>
          </a:custGeom>
          <a:blipFill>
            <a:blip r:embed="rId4">
              <a:alphaModFix amt="50000"/>
            </a:blip>
            <a:stretch>
              <a:fillRect l="0" t="0" r="0" b="0"/>
            </a:stretch>
          </a:blipFill>
        </p:spPr>
      </p:sp>
      <p:grpSp>
        <p:nvGrpSpPr>
          <p:cNvPr name="Group 36" id="36"/>
          <p:cNvGrpSpPr/>
          <p:nvPr/>
        </p:nvGrpSpPr>
        <p:grpSpPr>
          <a:xfrm rot="0">
            <a:off x="8765070" y="8051183"/>
            <a:ext cx="757861" cy="757861"/>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EBF4"/>
            </a:solidFill>
          </p:spPr>
        </p:sp>
        <p:sp>
          <p:nvSpPr>
            <p:cNvPr name="TextBox 38" id="38"/>
            <p:cNvSpPr txBox="true"/>
            <p:nvPr/>
          </p:nvSpPr>
          <p:spPr>
            <a:xfrm>
              <a:off x="76200" y="28575"/>
              <a:ext cx="660400" cy="708025"/>
            </a:xfrm>
            <a:prstGeom prst="rect">
              <a:avLst/>
            </a:prstGeom>
          </p:spPr>
          <p:txBody>
            <a:bodyPr anchor="ctr" rtlCol="false" tIns="36939" lIns="36939" bIns="36939" rIns="36939"/>
            <a:lstStyle/>
            <a:p>
              <a:pPr algn="ctr">
                <a:lnSpc>
                  <a:spcPts val="2488"/>
                </a:lnSpc>
              </a:pPr>
            </a:p>
          </p:txBody>
        </p:sp>
      </p:grpSp>
      <p:grpSp>
        <p:nvGrpSpPr>
          <p:cNvPr name="Group 39" id="39"/>
          <p:cNvGrpSpPr/>
          <p:nvPr/>
        </p:nvGrpSpPr>
        <p:grpSpPr>
          <a:xfrm rot="0">
            <a:off x="8765070" y="7990945"/>
            <a:ext cx="757861" cy="757861"/>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CFDFE"/>
            </a:solidFill>
          </p:spPr>
        </p:sp>
        <p:sp>
          <p:nvSpPr>
            <p:cNvPr name="TextBox 41" id="41"/>
            <p:cNvSpPr txBox="true"/>
            <p:nvPr/>
          </p:nvSpPr>
          <p:spPr>
            <a:xfrm>
              <a:off x="76200" y="28575"/>
              <a:ext cx="660400" cy="708025"/>
            </a:xfrm>
            <a:prstGeom prst="rect">
              <a:avLst/>
            </a:prstGeom>
          </p:spPr>
          <p:txBody>
            <a:bodyPr anchor="ctr" rtlCol="false" tIns="36939" lIns="36939" bIns="36939" rIns="36939"/>
            <a:lstStyle/>
            <a:p>
              <a:pPr algn="ctr">
                <a:lnSpc>
                  <a:spcPts val="2488"/>
                </a:lnSpc>
              </a:pPr>
            </a:p>
          </p:txBody>
        </p:sp>
      </p:grpSp>
      <p:sp>
        <p:nvSpPr>
          <p:cNvPr name="TextBox 42" id="4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6</a:t>
            </a:r>
          </a:p>
        </p:txBody>
      </p:sp>
      <p:sp>
        <p:nvSpPr>
          <p:cNvPr name="TextBox 43" id="43"/>
          <p:cNvSpPr txBox="true"/>
          <p:nvPr/>
        </p:nvSpPr>
        <p:spPr>
          <a:xfrm rot="0">
            <a:off x="8452125" y="8131936"/>
            <a:ext cx="1383749" cy="537246"/>
          </a:xfrm>
          <a:prstGeom prst="rect">
            <a:avLst/>
          </a:prstGeom>
        </p:spPr>
        <p:txBody>
          <a:bodyPr anchor="t" rtlCol="false" tIns="0" lIns="0" bIns="0" rIns="0">
            <a:spAutoFit/>
          </a:bodyPr>
          <a:lstStyle/>
          <a:p>
            <a:pPr algn="ctr">
              <a:lnSpc>
                <a:spcPts val="4544"/>
              </a:lnSpc>
              <a:spcBef>
                <a:spcPct val="0"/>
              </a:spcBef>
            </a:pPr>
            <a:r>
              <a:rPr lang="en-US" sz="2921">
                <a:solidFill>
                  <a:srgbClr val="000000"/>
                </a:solidFill>
                <a:latin typeface="Canva Sans"/>
                <a:ea typeface="Canva Sans"/>
                <a:cs typeface="Canva Sans"/>
                <a:sym typeface="Canva Sans"/>
              </a:rPr>
              <a:t> 🗄️ </a:t>
            </a:r>
          </a:p>
        </p:txBody>
      </p:sp>
      <p:sp>
        <p:nvSpPr>
          <p:cNvPr name="TextBox 44" id="44"/>
          <p:cNvSpPr txBox="true"/>
          <p:nvPr/>
        </p:nvSpPr>
        <p:spPr>
          <a:xfrm rot="0">
            <a:off x="8383354" y="6828829"/>
            <a:ext cx="1521293" cy="590705"/>
          </a:xfrm>
          <a:prstGeom prst="rect">
            <a:avLst/>
          </a:prstGeom>
        </p:spPr>
        <p:txBody>
          <a:bodyPr anchor="t" rtlCol="false" tIns="0" lIns="0" bIns="0" rIns="0">
            <a:spAutoFit/>
          </a:bodyPr>
          <a:lstStyle/>
          <a:p>
            <a:pPr algn="ctr">
              <a:lnSpc>
                <a:spcPts val="4996"/>
              </a:lnSpc>
              <a:spcBef>
                <a:spcPct val="0"/>
              </a:spcBef>
            </a:pPr>
            <a:r>
              <a:rPr lang="en-US" sz="3211">
                <a:solidFill>
                  <a:srgbClr val="000000"/>
                </a:solidFill>
                <a:latin typeface="Canva Sans"/>
                <a:ea typeface="Canva Sans"/>
                <a:cs typeface="Canva Sans"/>
                <a:sym typeface="Canva Sans"/>
              </a:rPr>
              <a:t> 🔄 </a:t>
            </a:r>
          </a:p>
        </p:txBody>
      </p:sp>
      <p:sp>
        <p:nvSpPr>
          <p:cNvPr name="TextBox 45" id="45"/>
          <p:cNvSpPr txBox="true"/>
          <p:nvPr/>
        </p:nvSpPr>
        <p:spPr>
          <a:xfrm rot="0">
            <a:off x="8452125" y="5562500"/>
            <a:ext cx="1383749" cy="537246"/>
          </a:xfrm>
          <a:prstGeom prst="rect">
            <a:avLst/>
          </a:prstGeom>
        </p:spPr>
        <p:txBody>
          <a:bodyPr anchor="t" rtlCol="false" tIns="0" lIns="0" bIns="0" rIns="0">
            <a:spAutoFit/>
          </a:bodyPr>
          <a:lstStyle/>
          <a:p>
            <a:pPr algn="ctr">
              <a:lnSpc>
                <a:spcPts val="4544"/>
              </a:lnSpc>
              <a:spcBef>
                <a:spcPct val="0"/>
              </a:spcBef>
            </a:pPr>
            <a:r>
              <a:rPr lang="en-US" sz="2921">
                <a:solidFill>
                  <a:srgbClr val="000000"/>
                </a:solidFill>
                <a:latin typeface="Canva Sans"/>
                <a:ea typeface="Canva Sans"/>
                <a:cs typeface="Canva Sans"/>
                <a:sym typeface="Canva Sans"/>
              </a:rPr>
              <a:t>🏛️</a:t>
            </a:r>
          </a:p>
        </p:txBody>
      </p:sp>
      <p:sp>
        <p:nvSpPr>
          <p:cNvPr name="TextBox 46" id="46"/>
          <p:cNvSpPr txBox="true"/>
          <p:nvPr/>
        </p:nvSpPr>
        <p:spPr>
          <a:xfrm rot="0">
            <a:off x="8886127" y="3874204"/>
            <a:ext cx="515746" cy="1143968"/>
          </a:xfrm>
          <a:prstGeom prst="rect">
            <a:avLst/>
          </a:prstGeom>
        </p:spPr>
        <p:txBody>
          <a:bodyPr anchor="t" rtlCol="false" tIns="0" lIns="0" bIns="0" rIns="0">
            <a:spAutoFit/>
          </a:bodyPr>
          <a:lstStyle/>
          <a:p>
            <a:pPr algn="ctr">
              <a:lnSpc>
                <a:spcPts val="4691"/>
              </a:lnSpc>
              <a:spcBef>
                <a:spcPct val="0"/>
              </a:spcBef>
            </a:pPr>
            <a:r>
              <a:rPr lang="en-US" sz="3015">
                <a:solidFill>
                  <a:srgbClr val="000000"/>
                </a:solidFill>
                <a:latin typeface="Canva Sans"/>
                <a:ea typeface="Canva Sans"/>
                <a:cs typeface="Canva Sans"/>
                <a:sym typeface="Canva Sans"/>
              </a:rPr>
              <a:t> 📊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grpSp>
        <p:nvGrpSpPr>
          <p:cNvPr name="Group 2" id="2"/>
          <p:cNvGrpSpPr/>
          <p:nvPr/>
        </p:nvGrpSpPr>
        <p:grpSpPr>
          <a:xfrm rot="0">
            <a:off x="13176624" y="3372585"/>
            <a:ext cx="4771078" cy="6076215"/>
            <a:chOff x="0" y="0"/>
            <a:chExt cx="6361438" cy="8101620"/>
          </a:xfrm>
        </p:grpSpPr>
        <p:grpSp>
          <p:nvGrpSpPr>
            <p:cNvPr name="Group 3" id="3"/>
            <p:cNvGrpSpPr/>
            <p:nvPr/>
          </p:nvGrpSpPr>
          <p:grpSpPr>
            <a:xfrm rot="0">
              <a:off x="1036009" y="2678838"/>
              <a:ext cx="4431577" cy="4320122"/>
              <a:chOff x="0" y="0"/>
              <a:chExt cx="1325417" cy="1292083"/>
            </a:xfrm>
          </p:grpSpPr>
          <p:sp>
            <p:nvSpPr>
              <p:cNvPr name="Freeform 4" id="4"/>
              <p:cNvSpPr/>
              <p:nvPr/>
            </p:nvSpPr>
            <p:spPr>
              <a:xfrm flipH="false" flipV="false" rot="0">
                <a:off x="0" y="0"/>
                <a:ext cx="1325417" cy="1292083"/>
              </a:xfrm>
              <a:custGeom>
                <a:avLst/>
                <a:gdLst/>
                <a:ahLst/>
                <a:cxnLst/>
                <a:rect r="r" b="b" t="t" l="l"/>
                <a:pathLst>
                  <a:path h="1292083" w="1325417">
                    <a:moveTo>
                      <a:pt x="48916" y="0"/>
                    </a:moveTo>
                    <a:lnTo>
                      <a:pt x="1276502" y="0"/>
                    </a:lnTo>
                    <a:cubicBezTo>
                      <a:pt x="1289475" y="0"/>
                      <a:pt x="1301917" y="5154"/>
                      <a:pt x="1311090" y="14327"/>
                    </a:cubicBezTo>
                    <a:cubicBezTo>
                      <a:pt x="1320264" y="23501"/>
                      <a:pt x="1325417" y="35942"/>
                      <a:pt x="1325417" y="48916"/>
                    </a:cubicBezTo>
                    <a:lnTo>
                      <a:pt x="1325417" y="1243167"/>
                    </a:lnTo>
                    <a:cubicBezTo>
                      <a:pt x="1325417" y="1256140"/>
                      <a:pt x="1320264" y="1268582"/>
                      <a:pt x="1311090" y="1277756"/>
                    </a:cubicBezTo>
                    <a:cubicBezTo>
                      <a:pt x="1301917" y="1286929"/>
                      <a:pt x="1289475" y="1292083"/>
                      <a:pt x="1276502" y="1292083"/>
                    </a:cubicBezTo>
                    <a:lnTo>
                      <a:pt x="48916" y="1292083"/>
                    </a:lnTo>
                    <a:cubicBezTo>
                      <a:pt x="35942" y="1292083"/>
                      <a:pt x="23501" y="1286929"/>
                      <a:pt x="14327" y="1277756"/>
                    </a:cubicBezTo>
                    <a:cubicBezTo>
                      <a:pt x="5154" y="1268582"/>
                      <a:pt x="0" y="1256140"/>
                      <a:pt x="0" y="1243167"/>
                    </a:cubicBezTo>
                    <a:lnTo>
                      <a:pt x="0" y="48916"/>
                    </a:lnTo>
                    <a:cubicBezTo>
                      <a:pt x="0" y="35942"/>
                      <a:pt x="5154" y="23501"/>
                      <a:pt x="14327" y="14327"/>
                    </a:cubicBezTo>
                    <a:cubicBezTo>
                      <a:pt x="23501" y="5154"/>
                      <a:pt x="35942" y="0"/>
                      <a:pt x="48916" y="0"/>
                    </a:cubicBezTo>
                    <a:close/>
                  </a:path>
                </a:pathLst>
              </a:custGeom>
              <a:solidFill>
                <a:srgbClr val="FFFFFF"/>
              </a:solidFill>
            </p:spPr>
          </p:sp>
          <p:sp>
            <p:nvSpPr>
              <p:cNvPr name="TextBox 5" id="5"/>
              <p:cNvSpPr txBox="true"/>
              <p:nvPr/>
            </p:nvSpPr>
            <p:spPr>
              <a:xfrm>
                <a:off x="0" y="-47625"/>
                <a:ext cx="1325417" cy="1339708"/>
              </a:xfrm>
              <a:prstGeom prst="rect">
                <a:avLst/>
              </a:prstGeom>
            </p:spPr>
            <p:txBody>
              <a:bodyPr anchor="ctr" rtlCol="false" tIns="50800" lIns="50800" bIns="50800" rIns="50800"/>
              <a:lstStyle/>
              <a:p>
                <a:pPr algn="ctr">
                  <a:lnSpc>
                    <a:spcPts val="2800"/>
                  </a:lnSpc>
                </a:pPr>
              </a:p>
            </p:txBody>
          </p:sp>
        </p:grpSp>
        <p:sp>
          <p:nvSpPr>
            <p:cNvPr name="Freeform 6" id="6"/>
            <p:cNvSpPr/>
            <p:nvPr/>
          </p:nvSpPr>
          <p:spPr>
            <a:xfrm flipH="true" flipV="false" rot="0">
              <a:off x="771368" y="824340"/>
              <a:ext cx="5590070" cy="2471320"/>
            </a:xfrm>
            <a:custGeom>
              <a:avLst/>
              <a:gdLst/>
              <a:ahLst/>
              <a:cxnLst/>
              <a:rect r="r" b="b" t="t" l="l"/>
              <a:pathLst>
                <a:path h="2471320" w="5590070">
                  <a:moveTo>
                    <a:pt x="5590070" y="0"/>
                  </a:moveTo>
                  <a:lnTo>
                    <a:pt x="0" y="0"/>
                  </a:lnTo>
                  <a:lnTo>
                    <a:pt x="0" y="2471320"/>
                  </a:lnTo>
                  <a:lnTo>
                    <a:pt x="5590070" y="2471320"/>
                  </a:lnTo>
                  <a:lnTo>
                    <a:pt x="5590070" y="0"/>
                  </a:lnTo>
                  <a:close/>
                </a:path>
              </a:pathLst>
            </a:custGeom>
            <a:blipFill>
              <a:blip r:embed="rId2">
                <a:alphaModFix amt="16000"/>
              </a:blip>
              <a:stretch>
                <a:fillRect l="-44229" t="0" r="-85157" b="0"/>
              </a:stretch>
            </a:blipFill>
          </p:spPr>
        </p:sp>
        <p:grpSp>
          <p:nvGrpSpPr>
            <p:cNvPr name="Group 7" id="7"/>
            <p:cNvGrpSpPr/>
            <p:nvPr/>
          </p:nvGrpSpPr>
          <p:grpSpPr>
            <a:xfrm rot="0">
              <a:off x="1036009" y="1102660"/>
              <a:ext cx="4779366" cy="1414704"/>
              <a:chOff x="0" y="0"/>
              <a:chExt cx="2327416" cy="688921"/>
            </a:xfrm>
          </p:grpSpPr>
          <p:sp>
            <p:nvSpPr>
              <p:cNvPr name="Freeform 8" id="8"/>
              <p:cNvSpPr/>
              <p:nvPr/>
            </p:nvSpPr>
            <p:spPr>
              <a:xfrm flipH="false" flipV="false" rot="0">
                <a:off x="0" y="0"/>
                <a:ext cx="2321952" cy="688921"/>
              </a:xfrm>
              <a:custGeom>
                <a:avLst/>
                <a:gdLst/>
                <a:ahLst/>
                <a:cxnLst/>
                <a:rect r="r" b="b" t="t" l="l"/>
                <a:pathLst>
                  <a:path h="688921" w="2321952">
                    <a:moveTo>
                      <a:pt x="2096138" y="0"/>
                    </a:moveTo>
                    <a:lnTo>
                      <a:pt x="28078" y="0"/>
                    </a:lnTo>
                    <a:cubicBezTo>
                      <a:pt x="12571" y="0"/>
                      <a:pt x="0" y="12571"/>
                      <a:pt x="0" y="28078"/>
                    </a:cubicBezTo>
                    <a:lnTo>
                      <a:pt x="0" y="660843"/>
                    </a:lnTo>
                    <a:cubicBezTo>
                      <a:pt x="0" y="676350"/>
                      <a:pt x="12571" y="688921"/>
                      <a:pt x="28078" y="688921"/>
                    </a:cubicBezTo>
                    <a:lnTo>
                      <a:pt x="2096138" y="688921"/>
                    </a:lnTo>
                    <a:cubicBezTo>
                      <a:pt x="2113538" y="688921"/>
                      <a:pt x="2129641" y="679724"/>
                      <a:pt x="2138482" y="664737"/>
                    </a:cubicBezTo>
                    <a:lnTo>
                      <a:pt x="2313150" y="368644"/>
                    </a:lnTo>
                    <a:cubicBezTo>
                      <a:pt x="2321952" y="353723"/>
                      <a:pt x="2321952" y="335198"/>
                      <a:pt x="2313150" y="320277"/>
                    </a:cubicBezTo>
                    <a:lnTo>
                      <a:pt x="2138482" y="24183"/>
                    </a:lnTo>
                    <a:cubicBezTo>
                      <a:pt x="2129641" y="9197"/>
                      <a:pt x="2113538" y="0"/>
                      <a:pt x="2096138" y="0"/>
                    </a:cubicBezTo>
                    <a:close/>
                  </a:path>
                </a:pathLst>
              </a:custGeom>
              <a:solidFill>
                <a:srgbClr val="014E89"/>
              </a:solidFill>
            </p:spPr>
          </p:sp>
          <p:sp>
            <p:nvSpPr>
              <p:cNvPr name="TextBox 9" id="9"/>
              <p:cNvSpPr txBox="true"/>
              <p:nvPr/>
            </p:nvSpPr>
            <p:spPr>
              <a:xfrm>
                <a:off x="0" y="-47625"/>
                <a:ext cx="2213116" cy="736546"/>
              </a:xfrm>
              <a:prstGeom prst="rect">
                <a:avLst/>
              </a:prstGeom>
            </p:spPr>
            <p:txBody>
              <a:bodyPr anchor="ctr" rtlCol="false" tIns="50800" lIns="50800" bIns="50800" rIns="50800"/>
              <a:lstStyle/>
              <a:p>
                <a:pPr algn="ctr">
                  <a:lnSpc>
                    <a:spcPts val="2800"/>
                  </a:lnSpc>
                </a:pPr>
              </a:p>
            </p:txBody>
          </p:sp>
        </p:grpSp>
        <p:grpSp>
          <p:nvGrpSpPr>
            <p:cNvPr name="Group 10" id="10"/>
            <p:cNvGrpSpPr/>
            <p:nvPr/>
          </p:nvGrpSpPr>
          <p:grpSpPr>
            <a:xfrm rot="-5400000">
              <a:off x="-2471132" y="3424074"/>
              <a:ext cx="6195737" cy="1253472"/>
              <a:chOff x="0" y="0"/>
              <a:chExt cx="2227785" cy="450708"/>
            </a:xfrm>
          </p:grpSpPr>
          <p:sp>
            <p:nvSpPr>
              <p:cNvPr name="Freeform 11" id="11"/>
              <p:cNvSpPr/>
              <p:nvPr/>
            </p:nvSpPr>
            <p:spPr>
              <a:xfrm flipH="false" flipV="false" rot="0">
                <a:off x="0" y="0"/>
                <a:ext cx="2227785" cy="450708"/>
              </a:xfrm>
              <a:custGeom>
                <a:avLst/>
                <a:gdLst/>
                <a:ahLst/>
                <a:cxnLst/>
                <a:rect r="r" b="b" t="t" l="l"/>
                <a:pathLst>
                  <a:path h="450708" w="2227785">
                    <a:moveTo>
                      <a:pt x="0" y="0"/>
                    </a:moveTo>
                    <a:lnTo>
                      <a:pt x="2227785" y="0"/>
                    </a:lnTo>
                    <a:lnTo>
                      <a:pt x="2227785" y="450708"/>
                    </a:lnTo>
                    <a:lnTo>
                      <a:pt x="0" y="450708"/>
                    </a:lnTo>
                    <a:close/>
                  </a:path>
                </a:pathLst>
              </a:custGeom>
              <a:solidFill>
                <a:srgbClr val="F3F6F8"/>
              </a:solidFill>
            </p:spPr>
          </p:sp>
          <p:sp>
            <p:nvSpPr>
              <p:cNvPr name="TextBox 12" id="12"/>
              <p:cNvSpPr txBox="true"/>
              <p:nvPr/>
            </p:nvSpPr>
            <p:spPr>
              <a:xfrm>
                <a:off x="0" y="-47625"/>
                <a:ext cx="2227785" cy="498333"/>
              </a:xfrm>
              <a:prstGeom prst="rect">
                <a:avLst/>
              </a:prstGeom>
            </p:spPr>
            <p:txBody>
              <a:bodyPr anchor="ctr" rtlCol="false" tIns="42255" lIns="42255" bIns="42255" rIns="42255"/>
              <a:lstStyle/>
              <a:p>
                <a:pPr algn="ctr">
                  <a:lnSpc>
                    <a:spcPts val="2800"/>
                  </a:lnSpc>
                </a:pPr>
              </a:p>
            </p:txBody>
          </p:sp>
        </p:grpSp>
        <p:sp>
          <p:nvSpPr>
            <p:cNvPr name="Freeform 13" id="13"/>
            <p:cNvSpPr/>
            <p:nvPr/>
          </p:nvSpPr>
          <p:spPr>
            <a:xfrm flipH="false" flipV="false" rot="5400000">
              <a:off x="-2518236" y="3771709"/>
              <a:ext cx="8101620" cy="558203"/>
            </a:xfrm>
            <a:custGeom>
              <a:avLst/>
              <a:gdLst/>
              <a:ahLst/>
              <a:cxnLst/>
              <a:rect r="r" b="b" t="t" l="l"/>
              <a:pathLst>
                <a:path h="558203" w="8101620">
                  <a:moveTo>
                    <a:pt x="0" y="0"/>
                  </a:moveTo>
                  <a:lnTo>
                    <a:pt x="8101619" y="0"/>
                  </a:lnTo>
                  <a:lnTo>
                    <a:pt x="8101619" y="558202"/>
                  </a:lnTo>
                  <a:lnTo>
                    <a:pt x="0" y="558202"/>
                  </a:lnTo>
                  <a:lnTo>
                    <a:pt x="0" y="0"/>
                  </a:lnTo>
                  <a:close/>
                </a:path>
              </a:pathLst>
            </a:custGeom>
            <a:blipFill>
              <a:blip r:embed="rId3"/>
              <a:stretch>
                <a:fillRect l="0" t="0" r="0" b="-279996"/>
              </a:stretch>
            </a:blipFill>
          </p:spPr>
        </p:sp>
        <p:sp>
          <p:nvSpPr>
            <p:cNvPr name="Freeform 14" id="14"/>
            <p:cNvSpPr/>
            <p:nvPr/>
          </p:nvSpPr>
          <p:spPr>
            <a:xfrm flipH="true" flipV="false" rot="0">
              <a:off x="4192976" y="1206126"/>
              <a:ext cx="1431578" cy="1207772"/>
            </a:xfrm>
            <a:custGeom>
              <a:avLst/>
              <a:gdLst/>
              <a:ahLst/>
              <a:cxnLst/>
              <a:rect r="r" b="b" t="t" l="l"/>
              <a:pathLst>
                <a:path h="1207772" w="1431578">
                  <a:moveTo>
                    <a:pt x="1431578" y="0"/>
                  </a:moveTo>
                  <a:lnTo>
                    <a:pt x="0" y="0"/>
                  </a:lnTo>
                  <a:lnTo>
                    <a:pt x="0" y="1207772"/>
                  </a:lnTo>
                  <a:lnTo>
                    <a:pt x="1431578" y="1207772"/>
                  </a:lnTo>
                  <a:lnTo>
                    <a:pt x="1431578" y="0"/>
                  </a:lnTo>
                  <a:close/>
                </a:path>
              </a:pathLst>
            </a:custGeom>
            <a:blipFill>
              <a:blip r:embed="rId4">
                <a:extLst>
                  <a:ext uri="{96DAC541-7B7A-43D3-8B79-37D633B846F1}">
                    <asvg:svgBlip xmlns:asvg="http://schemas.microsoft.com/office/drawing/2016/SVG/main" r:embed="rId5"/>
                  </a:ext>
                </a:extLst>
              </a:blip>
              <a:stretch>
                <a:fillRect l="0" t="0" r="-337750" b="0"/>
              </a:stretch>
            </a:blipFill>
          </p:spPr>
        </p:sp>
      </p:grpSp>
      <p:grpSp>
        <p:nvGrpSpPr>
          <p:cNvPr name="Group 15" id="15"/>
          <p:cNvGrpSpPr/>
          <p:nvPr/>
        </p:nvGrpSpPr>
        <p:grpSpPr>
          <a:xfrm rot="0">
            <a:off x="8784416" y="2515335"/>
            <a:ext cx="4771078" cy="6076215"/>
            <a:chOff x="0" y="0"/>
            <a:chExt cx="6361438" cy="8101620"/>
          </a:xfrm>
        </p:grpSpPr>
        <p:grpSp>
          <p:nvGrpSpPr>
            <p:cNvPr name="Group 16" id="16"/>
            <p:cNvGrpSpPr/>
            <p:nvPr/>
          </p:nvGrpSpPr>
          <p:grpSpPr>
            <a:xfrm rot="0">
              <a:off x="1036009" y="2678838"/>
              <a:ext cx="4431577" cy="4320122"/>
              <a:chOff x="0" y="0"/>
              <a:chExt cx="1325417" cy="1292083"/>
            </a:xfrm>
          </p:grpSpPr>
          <p:sp>
            <p:nvSpPr>
              <p:cNvPr name="Freeform 17" id="17"/>
              <p:cNvSpPr/>
              <p:nvPr/>
            </p:nvSpPr>
            <p:spPr>
              <a:xfrm flipH="false" flipV="false" rot="0">
                <a:off x="0" y="0"/>
                <a:ext cx="1325417" cy="1292083"/>
              </a:xfrm>
              <a:custGeom>
                <a:avLst/>
                <a:gdLst/>
                <a:ahLst/>
                <a:cxnLst/>
                <a:rect r="r" b="b" t="t" l="l"/>
                <a:pathLst>
                  <a:path h="1292083" w="1325417">
                    <a:moveTo>
                      <a:pt x="48916" y="0"/>
                    </a:moveTo>
                    <a:lnTo>
                      <a:pt x="1276502" y="0"/>
                    </a:lnTo>
                    <a:cubicBezTo>
                      <a:pt x="1289475" y="0"/>
                      <a:pt x="1301917" y="5154"/>
                      <a:pt x="1311090" y="14327"/>
                    </a:cubicBezTo>
                    <a:cubicBezTo>
                      <a:pt x="1320264" y="23501"/>
                      <a:pt x="1325417" y="35942"/>
                      <a:pt x="1325417" y="48916"/>
                    </a:cubicBezTo>
                    <a:lnTo>
                      <a:pt x="1325417" y="1243167"/>
                    </a:lnTo>
                    <a:cubicBezTo>
                      <a:pt x="1325417" y="1256140"/>
                      <a:pt x="1320264" y="1268582"/>
                      <a:pt x="1311090" y="1277756"/>
                    </a:cubicBezTo>
                    <a:cubicBezTo>
                      <a:pt x="1301917" y="1286929"/>
                      <a:pt x="1289475" y="1292083"/>
                      <a:pt x="1276502" y="1292083"/>
                    </a:cubicBezTo>
                    <a:lnTo>
                      <a:pt x="48916" y="1292083"/>
                    </a:lnTo>
                    <a:cubicBezTo>
                      <a:pt x="35942" y="1292083"/>
                      <a:pt x="23501" y="1286929"/>
                      <a:pt x="14327" y="1277756"/>
                    </a:cubicBezTo>
                    <a:cubicBezTo>
                      <a:pt x="5154" y="1268582"/>
                      <a:pt x="0" y="1256140"/>
                      <a:pt x="0" y="1243167"/>
                    </a:cubicBezTo>
                    <a:lnTo>
                      <a:pt x="0" y="48916"/>
                    </a:lnTo>
                    <a:cubicBezTo>
                      <a:pt x="0" y="35942"/>
                      <a:pt x="5154" y="23501"/>
                      <a:pt x="14327" y="14327"/>
                    </a:cubicBezTo>
                    <a:cubicBezTo>
                      <a:pt x="23501" y="5154"/>
                      <a:pt x="35942" y="0"/>
                      <a:pt x="48916" y="0"/>
                    </a:cubicBezTo>
                    <a:close/>
                  </a:path>
                </a:pathLst>
              </a:custGeom>
              <a:solidFill>
                <a:srgbClr val="FFFFFF"/>
              </a:solidFill>
            </p:spPr>
          </p:sp>
          <p:sp>
            <p:nvSpPr>
              <p:cNvPr name="TextBox 18" id="18"/>
              <p:cNvSpPr txBox="true"/>
              <p:nvPr/>
            </p:nvSpPr>
            <p:spPr>
              <a:xfrm>
                <a:off x="0" y="-47625"/>
                <a:ext cx="1325417" cy="1339708"/>
              </a:xfrm>
              <a:prstGeom prst="rect">
                <a:avLst/>
              </a:prstGeom>
            </p:spPr>
            <p:txBody>
              <a:bodyPr anchor="ctr" rtlCol="false" tIns="50800" lIns="50800" bIns="50800" rIns="50800"/>
              <a:lstStyle/>
              <a:p>
                <a:pPr algn="ctr">
                  <a:lnSpc>
                    <a:spcPts val="2800"/>
                  </a:lnSpc>
                </a:pPr>
              </a:p>
            </p:txBody>
          </p:sp>
        </p:grpSp>
        <p:sp>
          <p:nvSpPr>
            <p:cNvPr name="Freeform 19" id="19"/>
            <p:cNvSpPr/>
            <p:nvPr/>
          </p:nvSpPr>
          <p:spPr>
            <a:xfrm flipH="true" flipV="false" rot="0">
              <a:off x="771368" y="824340"/>
              <a:ext cx="5590070" cy="2471320"/>
            </a:xfrm>
            <a:custGeom>
              <a:avLst/>
              <a:gdLst/>
              <a:ahLst/>
              <a:cxnLst/>
              <a:rect r="r" b="b" t="t" l="l"/>
              <a:pathLst>
                <a:path h="2471320" w="5590070">
                  <a:moveTo>
                    <a:pt x="5590070" y="0"/>
                  </a:moveTo>
                  <a:lnTo>
                    <a:pt x="0" y="0"/>
                  </a:lnTo>
                  <a:lnTo>
                    <a:pt x="0" y="2471320"/>
                  </a:lnTo>
                  <a:lnTo>
                    <a:pt x="5590070" y="2471320"/>
                  </a:lnTo>
                  <a:lnTo>
                    <a:pt x="5590070" y="0"/>
                  </a:lnTo>
                  <a:close/>
                </a:path>
              </a:pathLst>
            </a:custGeom>
            <a:blipFill>
              <a:blip r:embed="rId2">
                <a:alphaModFix amt="16000"/>
              </a:blip>
              <a:stretch>
                <a:fillRect l="-44229" t="0" r="-85157" b="0"/>
              </a:stretch>
            </a:blipFill>
          </p:spPr>
        </p:sp>
        <p:grpSp>
          <p:nvGrpSpPr>
            <p:cNvPr name="Group 20" id="20"/>
            <p:cNvGrpSpPr/>
            <p:nvPr/>
          </p:nvGrpSpPr>
          <p:grpSpPr>
            <a:xfrm rot="0">
              <a:off x="1036009" y="1102660"/>
              <a:ext cx="4779366" cy="1414704"/>
              <a:chOff x="0" y="0"/>
              <a:chExt cx="2327416" cy="688921"/>
            </a:xfrm>
          </p:grpSpPr>
          <p:sp>
            <p:nvSpPr>
              <p:cNvPr name="Freeform 21" id="21"/>
              <p:cNvSpPr/>
              <p:nvPr/>
            </p:nvSpPr>
            <p:spPr>
              <a:xfrm flipH="false" flipV="false" rot="0">
                <a:off x="0" y="0"/>
                <a:ext cx="2321952" cy="688921"/>
              </a:xfrm>
              <a:custGeom>
                <a:avLst/>
                <a:gdLst/>
                <a:ahLst/>
                <a:cxnLst/>
                <a:rect r="r" b="b" t="t" l="l"/>
                <a:pathLst>
                  <a:path h="688921" w="2321952">
                    <a:moveTo>
                      <a:pt x="2096138" y="0"/>
                    </a:moveTo>
                    <a:lnTo>
                      <a:pt x="28078" y="0"/>
                    </a:lnTo>
                    <a:cubicBezTo>
                      <a:pt x="12571" y="0"/>
                      <a:pt x="0" y="12571"/>
                      <a:pt x="0" y="28078"/>
                    </a:cubicBezTo>
                    <a:lnTo>
                      <a:pt x="0" y="660843"/>
                    </a:lnTo>
                    <a:cubicBezTo>
                      <a:pt x="0" y="676350"/>
                      <a:pt x="12571" y="688921"/>
                      <a:pt x="28078" y="688921"/>
                    </a:cubicBezTo>
                    <a:lnTo>
                      <a:pt x="2096138" y="688921"/>
                    </a:lnTo>
                    <a:cubicBezTo>
                      <a:pt x="2113538" y="688921"/>
                      <a:pt x="2129641" y="679724"/>
                      <a:pt x="2138482" y="664737"/>
                    </a:cubicBezTo>
                    <a:lnTo>
                      <a:pt x="2313150" y="368644"/>
                    </a:lnTo>
                    <a:cubicBezTo>
                      <a:pt x="2321952" y="353723"/>
                      <a:pt x="2321952" y="335198"/>
                      <a:pt x="2313150" y="320277"/>
                    </a:cubicBezTo>
                    <a:lnTo>
                      <a:pt x="2138482" y="24183"/>
                    </a:lnTo>
                    <a:cubicBezTo>
                      <a:pt x="2129641" y="9197"/>
                      <a:pt x="2113538" y="0"/>
                      <a:pt x="2096138" y="0"/>
                    </a:cubicBezTo>
                    <a:close/>
                  </a:path>
                </a:pathLst>
              </a:custGeom>
              <a:solidFill>
                <a:srgbClr val="257FC4"/>
              </a:solidFill>
            </p:spPr>
          </p:sp>
          <p:sp>
            <p:nvSpPr>
              <p:cNvPr name="TextBox 22" id="22"/>
              <p:cNvSpPr txBox="true"/>
              <p:nvPr/>
            </p:nvSpPr>
            <p:spPr>
              <a:xfrm>
                <a:off x="0" y="-47625"/>
                <a:ext cx="2213116" cy="736546"/>
              </a:xfrm>
              <a:prstGeom prst="rect">
                <a:avLst/>
              </a:prstGeom>
            </p:spPr>
            <p:txBody>
              <a:bodyPr anchor="ctr" rtlCol="false" tIns="50800" lIns="50800" bIns="50800" rIns="50800"/>
              <a:lstStyle/>
              <a:p>
                <a:pPr algn="ctr">
                  <a:lnSpc>
                    <a:spcPts val="2800"/>
                  </a:lnSpc>
                </a:pPr>
              </a:p>
            </p:txBody>
          </p:sp>
        </p:grpSp>
        <p:grpSp>
          <p:nvGrpSpPr>
            <p:cNvPr name="Group 23" id="23"/>
            <p:cNvGrpSpPr/>
            <p:nvPr/>
          </p:nvGrpSpPr>
          <p:grpSpPr>
            <a:xfrm rot="-5400000">
              <a:off x="-2471132" y="3424074"/>
              <a:ext cx="6195737" cy="1253472"/>
              <a:chOff x="0" y="0"/>
              <a:chExt cx="2227785" cy="450708"/>
            </a:xfrm>
          </p:grpSpPr>
          <p:sp>
            <p:nvSpPr>
              <p:cNvPr name="Freeform 24" id="24"/>
              <p:cNvSpPr/>
              <p:nvPr/>
            </p:nvSpPr>
            <p:spPr>
              <a:xfrm flipH="false" flipV="false" rot="0">
                <a:off x="0" y="0"/>
                <a:ext cx="2227785" cy="450708"/>
              </a:xfrm>
              <a:custGeom>
                <a:avLst/>
                <a:gdLst/>
                <a:ahLst/>
                <a:cxnLst/>
                <a:rect r="r" b="b" t="t" l="l"/>
                <a:pathLst>
                  <a:path h="450708" w="2227785">
                    <a:moveTo>
                      <a:pt x="0" y="0"/>
                    </a:moveTo>
                    <a:lnTo>
                      <a:pt x="2227785" y="0"/>
                    </a:lnTo>
                    <a:lnTo>
                      <a:pt x="2227785" y="450708"/>
                    </a:lnTo>
                    <a:lnTo>
                      <a:pt x="0" y="450708"/>
                    </a:lnTo>
                    <a:close/>
                  </a:path>
                </a:pathLst>
              </a:custGeom>
              <a:solidFill>
                <a:srgbClr val="F3F6F8"/>
              </a:solidFill>
            </p:spPr>
          </p:sp>
          <p:sp>
            <p:nvSpPr>
              <p:cNvPr name="TextBox 25" id="25"/>
              <p:cNvSpPr txBox="true"/>
              <p:nvPr/>
            </p:nvSpPr>
            <p:spPr>
              <a:xfrm>
                <a:off x="0" y="-47625"/>
                <a:ext cx="2227785" cy="498333"/>
              </a:xfrm>
              <a:prstGeom prst="rect">
                <a:avLst/>
              </a:prstGeom>
            </p:spPr>
            <p:txBody>
              <a:bodyPr anchor="ctr" rtlCol="false" tIns="42255" lIns="42255" bIns="42255" rIns="42255"/>
              <a:lstStyle/>
              <a:p>
                <a:pPr algn="ctr">
                  <a:lnSpc>
                    <a:spcPts val="2800"/>
                  </a:lnSpc>
                </a:pPr>
              </a:p>
            </p:txBody>
          </p:sp>
        </p:grpSp>
        <p:sp>
          <p:nvSpPr>
            <p:cNvPr name="Freeform 26" id="26"/>
            <p:cNvSpPr/>
            <p:nvPr/>
          </p:nvSpPr>
          <p:spPr>
            <a:xfrm flipH="false" flipV="false" rot="5400000">
              <a:off x="-2518236" y="3771709"/>
              <a:ext cx="8101620" cy="558203"/>
            </a:xfrm>
            <a:custGeom>
              <a:avLst/>
              <a:gdLst/>
              <a:ahLst/>
              <a:cxnLst/>
              <a:rect r="r" b="b" t="t" l="l"/>
              <a:pathLst>
                <a:path h="558203" w="8101620">
                  <a:moveTo>
                    <a:pt x="0" y="0"/>
                  </a:moveTo>
                  <a:lnTo>
                    <a:pt x="8101619" y="0"/>
                  </a:lnTo>
                  <a:lnTo>
                    <a:pt x="8101619" y="558202"/>
                  </a:lnTo>
                  <a:lnTo>
                    <a:pt x="0" y="558202"/>
                  </a:lnTo>
                  <a:lnTo>
                    <a:pt x="0" y="0"/>
                  </a:lnTo>
                  <a:close/>
                </a:path>
              </a:pathLst>
            </a:custGeom>
            <a:blipFill>
              <a:blip r:embed="rId3"/>
              <a:stretch>
                <a:fillRect l="0" t="0" r="0" b="-279996"/>
              </a:stretch>
            </a:blipFill>
          </p:spPr>
        </p:sp>
        <p:sp>
          <p:nvSpPr>
            <p:cNvPr name="Freeform 27" id="27"/>
            <p:cNvSpPr/>
            <p:nvPr/>
          </p:nvSpPr>
          <p:spPr>
            <a:xfrm flipH="true" flipV="false" rot="0">
              <a:off x="4192976" y="1206126"/>
              <a:ext cx="1431578" cy="1207772"/>
            </a:xfrm>
            <a:custGeom>
              <a:avLst/>
              <a:gdLst/>
              <a:ahLst/>
              <a:cxnLst/>
              <a:rect r="r" b="b" t="t" l="l"/>
              <a:pathLst>
                <a:path h="1207772" w="1431578">
                  <a:moveTo>
                    <a:pt x="1431578" y="0"/>
                  </a:moveTo>
                  <a:lnTo>
                    <a:pt x="0" y="0"/>
                  </a:lnTo>
                  <a:lnTo>
                    <a:pt x="0" y="1207772"/>
                  </a:lnTo>
                  <a:lnTo>
                    <a:pt x="1431578" y="1207772"/>
                  </a:lnTo>
                  <a:lnTo>
                    <a:pt x="1431578" y="0"/>
                  </a:lnTo>
                  <a:close/>
                </a:path>
              </a:pathLst>
            </a:custGeom>
            <a:blipFill>
              <a:blip r:embed="rId6">
                <a:extLst>
                  <a:ext uri="{96DAC541-7B7A-43D3-8B79-37D633B846F1}">
                    <asvg:svgBlip xmlns:asvg="http://schemas.microsoft.com/office/drawing/2016/SVG/main" r:embed="rId7"/>
                  </a:ext>
                </a:extLst>
              </a:blip>
              <a:stretch>
                <a:fillRect l="0" t="0" r="-337750" b="0"/>
              </a:stretch>
            </a:blipFill>
          </p:spPr>
        </p:sp>
      </p:grpSp>
      <p:grpSp>
        <p:nvGrpSpPr>
          <p:cNvPr name="Group 28" id="28"/>
          <p:cNvGrpSpPr/>
          <p:nvPr/>
        </p:nvGrpSpPr>
        <p:grpSpPr>
          <a:xfrm rot="0">
            <a:off x="4392208" y="3372585"/>
            <a:ext cx="4771078" cy="6076215"/>
            <a:chOff x="0" y="0"/>
            <a:chExt cx="6361438" cy="8101620"/>
          </a:xfrm>
        </p:grpSpPr>
        <p:grpSp>
          <p:nvGrpSpPr>
            <p:cNvPr name="Group 29" id="29"/>
            <p:cNvGrpSpPr/>
            <p:nvPr/>
          </p:nvGrpSpPr>
          <p:grpSpPr>
            <a:xfrm rot="0">
              <a:off x="1036009" y="2678838"/>
              <a:ext cx="4431577" cy="4320122"/>
              <a:chOff x="0" y="0"/>
              <a:chExt cx="1325417" cy="1292083"/>
            </a:xfrm>
          </p:grpSpPr>
          <p:sp>
            <p:nvSpPr>
              <p:cNvPr name="Freeform 30" id="30"/>
              <p:cNvSpPr/>
              <p:nvPr/>
            </p:nvSpPr>
            <p:spPr>
              <a:xfrm flipH="false" flipV="false" rot="0">
                <a:off x="0" y="0"/>
                <a:ext cx="1325417" cy="1292083"/>
              </a:xfrm>
              <a:custGeom>
                <a:avLst/>
                <a:gdLst/>
                <a:ahLst/>
                <a:cxnLst/>
                <a:rect r="r" b="b" t="t" l="l"/>
                <a:pathLst>
                  <a:path h="1292083" w="1325417">
                    <a:moveTo>
                      <a:pt x="48916" y="0"/>
                    </a:moveTo>
                    <a:lnTo>
                      <a:pt x="1276502" y="0"/>
                    </a:lnTo>
                    <a:cubicBezTo>
                      <a:pt x="1289475" y="0"/>
                      <a:pt x="1301917" y="5154"/>
                      <a:pt x="1311090" y="14327"/>
                    </a:cubicBezTo>
                    <a:cubicBezTo>
                      <a:pt x="1320264" y="23501"/>
                      <a:pt x="1325417" y="35942"/>
                      <a:pt x="1325417" y="48916"/>
                    </a:cubicBezTo>
                    <a:lnTo>
                      <a:pt x="1325417" y="1243167"/>
                    </a:lnTo>
                    <a:cubicBezTo>
                      <a:pt x="1325417" y="1256140"/>
                      <a:pt x="1320264" y="1268582"/>
                      <a:pt x="1311090" y="1277756"/>
                    </a:cubicBezTo>
                    <a:cubicBezTo>
                      <a:pt x="1301917" y="1286929"/>
                      <a:pt x="1289475" y="1292083"/>
                      <a:pt x="1276502" y="1292083"/>
                    </a:cubicBezTo>
                    <a:lnTo>
                      <a:pt x="48916" y="1292083"/>
                    </a:lnTo>
                    <a:cubicBezTo>
                      <a:pt x="35942" y="1292083"/>
                      <a:pt x="23501" y="1286929"/>
                      <a:pt x="14327" y="1277756"/>
                    </a:cubicBezTo>
                    <a:cubicBezTo>
                      <a:pt x="5154" y="1268582"/>
                      <a:pt x="0" y="1256140"/>
                      <a:pt x="0" y="1243167"/>
                    </a:cubicBezTo>
                    <a:lnTo>
                      <a:pt x="0" y="48916"/>
                    </a:lnTo>
                    <a:cubicBezTo>
                      <a:pt x="0" y="35942"/>
                      <a:pt x="5154" y="23501"/>
                      <a:pt x="14327" y="14327"/>
                    </a:cubicBezTo>
                    <a:cubicBezTo>
                      <a:pt x="23501" y="5154"/>
                      <a:pt x="35942" y="0"/>
                      <a:pt x="48916" y="0"/>
                    </a:cubicBezTo>
                    <a:close/>
                  </a:path>
                </a:pathLst>
              </a:custGeom>
              <a:solidFill>
                <a:srgbClr val="FFFFFF"/>
              </a:solidFill>
            </p:spPr>
          </p:sp>
          <p:sp>
            <p:nvSpPr>
              <p:cNvPr name="TextBox 31" id="31"/>
              <p:cNvSpPr txBox="true"/>
              <p:nvPr/>
            </p:nvSpPr>
            <p:spPr>
              <a:xfrm>
                <a:off x="0" y="-47625"/>
                <a:ext cx="1325417" cy="1339708"/>
              </a:xfrm>
              <a:prstGeom prst="rect">
                <a:avLst/>
              </a:prstGeom>
            </p:spPr>
            <p:txBody>
              <a:bodyPr anchor="ctr" rtlCol="false" tIns="50800" lIns="50800" bIns="50800" rIns="50800"/>
              <a:lstStyle/>
              <a:p>
                <a:pPr algn="ctr">
                  <a:lnSpc>
                    <a:spcPts val="2800"/>
                  </a:lnSpc>
                </a:pPr>
              </a:p>
            </p:txBody>
          </p:sp>
        </p:grpSp>
        <p:sp>
          <p:nvSpPr>
            <p:cNvPr name="Freeform 32" id="32"/>
            <p:cNvSpPr/>
            <p:nvPr/>
          </p:nvSpPr>
          <p:spPr>
            <a:xfrm flipH="true" flipV="false" rot="0">
              <a:off x="771368" y="824340"/>
              <a:ext cx="5590070" cy="2471320"/>
            </a:xfrm>
            <a:custGeom>
              <a:avLst/>
              <a:gdLst/>
              <a:ahLst/>
              <a:cxnLst/>
              <a:rect r="r" b="b" t="t" l="l"/>
              <a:pathLst>
                <a:path h="2471320" w="5590070">
                  <a:moveTo>
                    <a:pt x="5590070" y="0"/>
                  </a:moveTo>
                  <a:lnTo>
                    <a:pt x="0" y="0"/>
                  </a:lnTo>
                  <a:lnTo>
                    <a:pt x="0" y="2471320"/>
                  </a:lnTo>
                  <a:lnTo>
                    <a:pt x="5590070" y="2471320"/>
                  </a:lnTo>
                  <a:lnTo>
                    <a:pt x="5590070" y="0"/>
                  </a:lnTo>
                  <a:close/>
                </a:path>
              </a:pathLst>
            </a:custGeom>
            <a:blipFill>
              <a:blip r:embed="rId2">
                <a:alphaModFix amt="16000"/>
              </a:blip>
              <a:stretch>
                <a:fillRect l="-44229" t="0" r="-85157" b="0"/>
              </a:stretch>
            </a:blipFill>
          </p:spPr>
        </p:sp>
        <p:grpSp>
          <p:nvGrpSpPr>
            <p:cNvPr name="Group 33" id="33"/>
            <p:cNvGrpSpPr/>
            <p:nvPr/>
          </p:nvGrpSpPr>
          <p:grpSpPr>
            <a:xfrm rot="0">
              <a:off x="1036009" y="1102660"/>
              <a:ext cx="4779366" cy="1414704"/>
              <a:chOff x="0" y="0"/>
              <a:chExt cx="2327416" cy="688921"/>
            </a:xfrm>
          </p:grpSpPr>
          <p:sp>
            <p:nvSpPr>
              <p:cNvPr name="Freeform 34" id="34"/>
              <p:cNvSpPr/>
              <p:nvPr/>
            </p:nvSpPr>
            <p:spPr>
              <a:xfrm flipH="false" flipV="false" rot="0">
                <a:off x="0" y="0"/>
                <a:ext cx="2321952" cy="688921"/>
              </a:xfrm>
              <a:custGeom>
                <a:avLst/>
                <a:gdLst/>
                <a:ahLst/>
                <a:cxnLst/>
                <a:rect r="r" b="b" t="t" l="l"/>
                <a:pathLst>
                  <a:path h="688921" w="2321952">
                    <a:moveTo>
                      <a:pt x="2096138" y="0"/>
                    </a:moveTo>
                    <a:lnTo>
                      <a:pt x="28078" y="0"/>
                    </a:lnTo>
                    <a:cubicBezTo>
                      <a:pt x="12571" y="0"/>
                      <a:pt x="0" y="12571"/>
                      <a:pt x="0" y="28078"/>
                    </a:cubicBezTo>
                    <a:lnTo>
                      <a:pt x="0" y="660843"/>
                    </a:lnTo>
                    <a:cubicBezTo>
                      <a:pt x="0" y="676350"/>
                      <a:pt x="12571" y="688921"/>
                      <a:pt x="28078" y="688921"/>
                    </a:cubicBezTo>
                    <a:lnTo>
                      <a:pt x="2096138" y="688921"/>
                    </a:lnTo>
                    <a:cubicBezTo>
                      <a:pt x="2113538" y="688921"/>
                      <a:pt x="2129641" y="679724"/>
                      <a:pt x="2138482" y="664737"/>
                    </a:cubicBezTo>
                    <a:lnTo>
                      <a:pt x="2313150" y="368644"/>
                    </a:lnTo>
                    <a:cubicBezTo>
                      <a:pt x="2321952" y="353723"/>
                      <a:pt x="2321952" y="335198"/>
                      <a:pt x="2313150" y="320277"/>
                    </a:cubicBezTo>
                    <a:lnTo>
                      <a:pt x="2138482" y="24183"/>
                    </a:lnTo>
                    <a:cubicBezTo>
                      <a:pt x="2129641" y="9197"/>
                      <a:pt x="2113538" y="0"/>
                      <a:pt x="2096138" y="0"/>
                    </a:cubicBezTo>
                    <a:close/>
                  </a:path>
                </a:pathLst>
              </a:custGeom>
              <a:solidFill>
                <a:srgbClr val="F8C59F"/>
              </a:solidFill>
            </p:spPr>
          </p:sp>
          <p:sp>
            <p:nvSpPr>
              <p:cNvPr name="TextBox 35" id="35"/>
              <p:cNvSpPr txBox="true"/>
              <p:nvPr/>
            </p:nvSpPr>
            <p:spPr>
              <a:xfrm>
                <a:off x="0" y="-47625"/>
                <a:ext cx="2213116" cy="736546"/>
              </a:xfrm>
              <a:prstGeom prst="rect">
                <a:avLst/>
              </a:prstGeom>
            </p:spPr>
            <p:txBody>
              <a:bodyPr anchor="ctr" rtlCol="false" tIns="50800" lIns="50800" bIns="50800" rIns="50800"/>
              <a:lstStyle/>
              <a:p>
                <a:pPr algn="ctr">
                  <a:lnSpc>
                    <a:spcPts val="2800"/>
                  </a:lnSpc>
                </a:pPr>
              </a:p>
            </p:txBody>
          </p:sp>
        </p:grpSp>
        <p:grpSp>
          <p:nvGrpSpPr>
            <p:cNvPr name="Group 36" id="36"/>
            <p:cNvGrpSpPr/>
            <p:nvPr/>
          </p:nvGrpSpPr>
          <p:grpSpPr>
            <a:xfrm rot="-5400000">
              <a:off x="-2471132" y="3424074"/>
              <a:ext cx="6195737" cy="1253472"/>
              <a:chOff x="0" y="0"/>
              <a:chExt cx="2227785" cy="450708"/>
            </a:xfrm>
          </p:grpSpPr>
          <p:sp>
            <p:nvSpPr>
              <p:cNvPr name="Freeform 37" id="37"/>
              <p:cNvSpPr/>
              <p:nvPr/>
            </p:nvSpPr>
            <p:spPr>
              <a:xfrm flipH="false" flipV="false" rot="0">
                <a:off x="0" y="0"/>
                <a:ext cx="2227785" cy="450708"/>
              </a:xfrm>
              <a:custGeom>
                <a:avLst/>
                <a:gdLst/>
                <a:ahLst/>
                <a:cxnLst/>
                <a:rect r="r" b="b" t="t" l="l"/>
                <a:pathLst>
                  <a:path h="450708" w="2227785">
                    <a:moveTo>
                      <a:pt x="0" y="0"/>
                    </a:moveTo>
                    <a:lnTo>
                      <a:pt x="2227785" y="0"/>
                    </a:lnTo>
                    <a:lnTo>
                      <a:pt x="2227785" y="450708"/>
                    </a:lnTo>
                    <a:lnTo>
                      <a:pt x="0" y="450708"/>
                    </a:lnTo>
                    <a:close/>
                  </a:path>
                </a:pathLst>
              </a:custGeom>
              <a:solidFill>
                <a:srgbClr val="F3F6F8"/>
              </a:solidFill>
            </p:spPr>
          </p:sp>
          <p:sp>
            <p:nvSpPr>
              <p:cNvPr name="TextBox 38" id="38"/>
              <p:cNvSpPr txBox="true"/>
              <p:nvPr/>
            </p:nvSpPr>
            <p:spPr>
              <a:xfrm>
                <a:off x="0" y="-47625"/>
                <a:ext cx="2227785" cy="498333"/>
              </a:xfrm>
              <a:prstGeom prst="rect">
                <a:avLst/>
              </a:prstGeom>
            </p:spPr>
            <p:txBody>
              <a:bodyPr anchor="ctr" rtlCol="false" tIns="42255" lIns="42255" bIns="42255" rIns="42255"/>
              <a:lstStyle/>
              <a:p>
                <a:pPr algn="ctr">
                  <a:lnSpc>
                    <a:spcPts val="2800"/>
                  </a:lnSpc>
                </a:pPr>
              </a:p>
            </p:txBody>
          </p:sp>
        </p:grpSp>
        <p:sp>
          <p:nvSpPr>
            <p:cNvPr name="Freeform 39" id="39"/>
            <p:cNvSpPr/>
            <p:nvPr/>
          </p:nvSpPr>
          <p:spPr>
            <a:xfrm flipH="false" flipV="false" rot="5400000">
              <a:off x="-2518236" y="3771709"/>
              <a:ext cx="8101620" cy="558203"/>
            </a:xfrm>
            <a:custGeom>
              <a:avLst/>
              <a:gdLst/>
              <a:ahLst/>
              <a:cxnLst/>
              <a:rect r="r" b="b" t="t" l="l"/>
              <a:pathLst>
                <a:path h="558203" w="8101620">
                  <a:moveTo>
                    <a:pt x="0" y="0"/>
                  </a:moveTo>
                  <a:lnTo>
                    <a:pt x="8101619" y="0"/>
                  </a:lnTo>
                  <a:lnTo>
                    <a:pt x="8101619" y="558202"/>
                  </a:lnTo>
                  <a:lnTo>
                    <a:pt x="0" y="558202"/>
                  </a:lnTo>
                  <a:lnTo>
                    <a:pt x="0" y="0"/>
                  </a:lnTo>
                  <a:close/>
                </a:path>
              </a:pathLst>
            </a:custGeom>
            <a:blipFill>
              <a:blip r:embed="rId3"/>
              <a:stretch>
                <a:fillRect l="0" t="0" r="0" b="-279996"/>
              </a:stretch>
            </a:blipFill>
          </p:spPr>
        </p:sp>
        <p:sp>
          <p:nvSpPr>
            <p:cNvPr name="Freeform 40" id="40"/>
            <p:cNvSpPr/>
            <p:nvPr/>
          </p:nvSpPr>
          <p:spPr>
            <a:xfrm flipH="true" flipV="false" rot="0">
              <a:off x="4192976" y="1206126"/>
              <a:ext cx="1431578" cy="1207772"/>
            </a:xfrm>
            <a:custGeom>
              <a:avLst/>
              <a:gdLst/>
              <a:ahLst/>
              <a:cxnLst/>
              <a:rect r="r" b="b" t="t" l="l"/>
              <a:pathLst>
                <a:path h="1207772" w="1431578">
                  <a:moveTo>
                    <a:pt x="1431578" y="0"/>
                  </a:moveTo>
                  <a:lnTo>
                    <a:pt x="0" y="0"/>
                  </a:lnTo>
                  <a:lnTo>
                    <a:pt x="0" y="1207772"/>
                  </a:lnTo>
                  <a:lnTo>
                    <a:pt x="1431578" y="1207772"/>
                  </a:lnTo>
                  <a:lnTo>
                    <a:pt x="1431578" y="0"/>
                  </a:lnTo>
                  <a:close/>
                </a:path>
              </a:pathLst>
            </a:custGeom>
            <a:blipFill>
              <a:blip r:embed="rId8">
                <a:extLst>
                  <a:ext uri="{96DAC541-7B7A-43D3-8B79-37D633B846F1}">
                    <asvg:svgBlip xmlns:asvg="http://schemas.microsoft.com/office/drawing/2016/SVG/main" r:embed="rId9"/>
                  </a:ext>
                </a:extLst>
              </a:blip>
              <a:stretch>
                <a:fillRect l="0" t="0" r="-337750" b="0"/>
              </a:stretch>
            </a:blipFill>
          </p:spPr>
        </p:sp>
      </p:grpSp>
      <p:grpSp>
        <p:nvGrpSpPr>
          <p:cNvPr name="Group 41" id="41"/>
          <p:cNvGrpSpPr/>
          <p:nvPr/>
        </p:nvGrpSpPr>
        <p:grpSpPr>
          <a:xfrm rot="0">
            <a:off x="0" y="2515335"/>
            <a:ext cx="4771078" cy="6076215"/>
            <a:chOff x="0" y="0"/>
            <a:chExt cx="6361438" cy="8101620"/>
          </a:xfrm>
        </p:grpSpPr>
        <p:grpSp>
          <p:nvGrpSpPr>
            <p:cNvPr name="Group 42" id="42"/>
            <p:cNvGrpSpPr/>
            <p:nvPr/>
          </p:nvGrpSpPr>
          <p:grpSpPr>
            <a:xfrm rot="0">
              <a:off x="1036009" y="2678838"/>
              <a:ext cx="4431577" cy="4320122"/>
              <a:chOff x="0" y="0"/>
              <a:chExt cx="1325417" cy="1292083"/>
            </a:xfrm>
          </p:grpSpPr>
          <p:sp>
            <p:nvSpPr>
              <p:cNvPr name="Freeform 43" id="43"/>
              <p:cNvSpPr/>
              <p:nvPr/>
            </p:nvSpPr>
            <p:spPr>
              <a:xfrm flipH="false" flipV="false" rot="0">
                <a:off x="0" y="0"/>
                <a:ext cx="1325417" cy="1292083"/>
              </a:xfrm>
              <a:custGeom>
                <a:avLst/>
                <a:gdLst/>
                <a:ahLst/>
                <a:cxnLst/>
                <a:rect r="r" b="b" t="t" l="l"/>
                <a:pathLst>
                  <a:path h="1292083" w="1325417">
                    <a:moveTo>
                      <a:pt x="48916" y="0"/>
                    </a:moveTo>
                    <a:lnTo>
                      <a:pt x="1276502" y="0"/>
                    </a:lnTo>
                    <a:cubicBezTo>
                      <a:pt x="1289475" y="0"/>
                      <a:pt x="1301917" y="5154"/>
                      <a:pt x="1311090" y="14327"/>
                    </a:cubicBezTo>
                    <a:cubicBezTo>
                      <a:pt x="1320264" y="23501"/>
                      <a:pt x="1325417" y="35942"/>
                      <a:pt x="1325417" y="48916"/>
                    </a:cubicBezTo>
                    <a:lnTo>
                      <a:pt x="1325417" y="1243167"/>
                    </a:lnTo>
                    <a:cubicBezTo>
                      <a:pt x="1325417" y="1256140"/>
                      <a:pt x="1320264" y="1268582"/>
                      <a:pt x="1311090" y="1277756"/>
                    </a:cubicBezTo>
                    <a:cubicBezTo>
                      <a:pt x="1301917" y="1286929"/>
                      <a:pt x="1289475" y="1292083"/>
                      <a:pt x="1276502" y="1292083"/>
                    </a:cubicBezTo>
                    <a:lnTo>
                      <a:pt x="48916" y="1292083"/>
                    </a:lnTo>
                    <a:cubicBezTo>
                      <a:pt x="35942" y="1292083"/>
                      <a:pt x="23501" y="1286929"/>
                      <a:pt x="14327" y="1277756"/>
                    </a:cubicBezTo>
                    <a:cubicBezTo>
                      <a:pt x="5154" y="1268582"/>
                      <a:pt x="0" y="1256140"/>
                      <a:pt x="0" y="1243167"/>
                    </a:cubicBezTo>
                    <a:lnTo>
                      <a:pt x="0" y="48916"/>
                    </a:lnTo>
                    <a:cubicBezTo>
                      <a:pt x="0" y="35942"/>
                      <a:pt x="5154" y="23501"/>
                      <a:pt x="14327" y="14327"/>
                    </a:cubicBezTo>
                    <a:cubicBezTo>
                      <a:pt x="23501" y="5154"/>
                      <a:pt x="35942" y="0"/>
                      <a:pt x="48916" y="0"/>
                    </a:cubicBezTo>
                    <a:close/>
                  </a:path>
                </a:pathLst>
              </a:custGeom>
              <a:solidFill>
                <a:srgbClr val="FFFFFF"/>
              </a:solidFill>
            </p:spPr>
          </p:sp>
          <p:sp>
            <p:nvSpPr>
              <p:cNvPr name="TextBox 44" id="44"/>
              <p:cNvSpPr txBox="true"/>
              <p:nvPr/>
            </p:nvSpPr>
            <p:spPr>
              <a:xfrm>
                <a:off x="0" y="-47625"/>
                <a:ext cx="1325417" cy="1339708"/>
              </a:xfrm>
              <a:prstGeom prst="rect">
                <a:avLst/>
              </a:prstGeom>
            </p:spPr>
            <p:txBody>
              <a:bodyPr anchor="ctr" rtlCol="false" tIns="50800" lIns="50800" bIns="50800" rIns="50800"/>
              <a:lstStyle/>
              <a:p>
                <a:pPr algn="ctr">
                  <a:lnSpc>
                    <a:spcPts val="2800"/>
                  </a:lnSpc>
                </a:pPr>
              </a:p>
            </p:txBody>
          </p:sp>
        </p:grpSp>
        <p:sp>
          <p:nvSpPr>
            <p:cNvPr name="Freeform 45" id="45"/>
            <p:cNvSpPr/>
            <p:nvPr/>
          </p:nvSpPr>
          <p:spPr>
            <a:xfrm flipH="true" flipV="false" rot="0">
              <a:off x="771368" y="824340"/>
              <a:ext cx="5590070" cy="2471320"/>
            </a:xfrm>
            <a:custGeom>
              <a:avLst/>
              <a:gdLst/>
              <a:ahLst/>
              <a:cxnLst/>
              <a:rect r="r" b="b" t="t" l="l"/>
              <a:pathLst>
                <a:path h="2471320" w="5590070">
                  <a:moveTo>
                    <a:pt x="5590070" y="0"/>
                  </a:moveTo>
                  <a:lnTo>
                    <a:pt x="0" y="0"/>
                  </a:lnTo>
                  <a:lnTo>
                    <a:pt x="0" y="2471320"/>
                  </a:lnTo>
                  <a:lnTo>
                    <a:pt x="5590070" y="2471320"/>
                  </a:lnTo>
                  <a:lnTo>
                    <a:pt x="5590070" y="0"/>
                  </a:lnTo>
                  <a:close/>
                </a:path>
              </a:pathLst>
            </a:custGeom>
            <a:blipFill>
              <a:blip r:embed="rId2">
                <a:alphaModFix amt="16000"/>
              </a:blip>
              <a:stretch>
                <a:fillRect l="-44229" t="0" r="-85157" b="0"/>
              </a:stretch>
            </a:blipFill>
          </p:spPr>
        </p:sp>
        <p:grpSp>
          <p:nvGrpSpPr>
            <p:cNvPr name="Group 46" id="46"/>
            <p:cNvGrpSpPr/>
            <p:nvPr/>
          </p:nvGrpSpPr>
          <p:grpSpPr>
            <a:xfrm rot="0">
              <a:off x="1036009" y="1102660"/>
              <a:ext cx="4779366" cy="1414704"/>
              <a:chOff x="0" y="0"/>
              <a:chExt cx="2327416" cy="688921"/>
            </a:xfrm>
          </p:grpSpPr>
          <p:sp>
            <p:nvSpPr>
              <p:cNvPr name="Freeform 47" id="47"/>
              <p:cNvSpPr/>
              <p:nvPr/>
            </p:nvSpPr>
            <p:spPr>
              <a:xfrm flipH="false" flipV="false" rot="0">
                <a:off x="0" y="0"/>
                <a:ext cx="2321952" cy="688921"/>
              </a:xfrm>
              <a:custGeom>
                <a:avLst/>
                <a:gdLst/>
                <a:ahLst/>
                <a:cxnLst/>
                <a:rect r="r" b="b" t="t" l="l"/>
                <a:pathLst>
                  <a:path h="688921" w="2321952">
                    <a:moveTo>
                      <a:pt x="2096138" y="0"/>
                    </a:moveTo>
                    <a:lnTo>
                      <a:pt x="28078" y="0"/>
                    </a:lnTo>
                    <a:cubicBezTo>
                      <a:pt x="12571" y="0"/>
                      <a:pt x="0" y="12571"/>
                      <a:pt x="0" y="28078"/>
                    </a:cubicBezTo>
                    <a:lnTo>
                      <a:pt x="0" y="660843"/>
                    </a:lnTo>
                    <a:cubicBezTo>
                      <a:pt x="0" y="676350"/>
                      <a:pt x="12571" y="688921"/>
                      <a:pt x="28078" y="688921"/>
                    </a:cubicBezTo>
                    <a:lnTo>
                      <a:pt x="2096138" y="688921"/>
                    </a:lnTo>
                    <a:cubicBezTo>
                      <a:pt x="2113538" y="688921"/>
                      <a:pt x="2129641" y="679724"/>
                      <a:pt x="2138482" y="664737"/>
                    </a:cubicBezTo>
                    <a:lnTo>
                      <a:pt x="2313150" y="368644"/>
                    </a:lnTo>
                    <a:cubicBezTo>
                      <a:pt x="2321952" y="353723"/>
                      <a:pt x="2321952" y="335198"/>
                      <a:pt x="2313150" y="320277"/>
                    </a:cubicBezTo>
                    <a:lnTo>
                      <a:pt x="2138482" y="24183"/>
                    </a:lnTo>
                    <a:cubicBezTo>
                      <a:pt x="2129641" y="9197"/>
                      <a:pt x="2113538" y="0"/>
                      <a:pt x="2096138" y="0"/>
                    </a:cubicBezTo>
                    <a:close/>
                  </a:path>
                </a:pathLst>
              </a:custGeom>
              <a:solidFill>
                <a:srgbClr val="FF6D35"/>
              </a:solidFill>
            </p:spPr>
          </p:sp>
          <p:sp>
            <p:nvSpPr>
              <p:cNvPr name="TextBox 48" id="48"/>
              <p:cNvSpPr txBox="true"/>
              <p:nvPr/>
            </p:nvSpPr>
            <p:spPr>
              <a:xfrm>
                <a:off x="0" y="-47625"/>
                <a:ext cx="2213116" cy="736546"/>
              </a:xfrm>
              <a:prstGeom prst="rect">
                <a:avLst/>
              </a:prstGeom>
            </p:spPr>
            <p:txBody>
              <a:bodyPr anchor="ctr" rtlCol="false" tIns="50800" lIns="50800" bIns="50800" rIns="50800"/>
              <a:lstStyle/>
              <a:p>
                <a:pPr algn="ctr">
                  <a:lnSpc>
                    <a:spcPts val="2800"/>
                  </a:lnSpc>
                </a:pPr>
              </a:p>
            </p:txBody>
          </p:sp>
        </p:grpSp>
        <p:grpSp>
          <p:nvGrpSpPr>
            <p:cNvPr name="Group 49" id="49"/>
            <p:cNvGrpSpPr/>
            <p:nvPr/>
          </p:nvGrpSpPr>
          <p:grpSpPr>
            <a:xfrm rot="-5400000">
              <a:off x="-2471132" y="3424074"/>
              <a:ext cx="6195737" cy="1253472"/>
              <a:chOff x="0" y="0"/>
              <a:chExt cx="2227785" cy="450708"/>
            </a:xfrm>
          </p:grpSpPr>
          <p:sp>
            <p:nvSpPr>
              <p:cNvPr name="Freeform 50" id="50"/>
              <p:cNvSpPr/>
              <p:nvPr/>
            </p:nvSpPr>
            <p:spPr>
              <a:xfrm flipH="false" flipV="false" rot="0">
                <a:off x="0" y="0"/>
                <a:ext cx="2227785" cy="450708"/>
              </a:xfrm>
              <a:custGeom>
                <a:avLst/>
                <a:gdLst/>
                <a:ahLst/>
                <a:cxnLst/>
                <a:rect r="r" b="b" t="t" l="l"/>
                <a:pathLst>
                  <a:path h="450708" w="2227785">
                    <a:moveTo>
                      <a:pt x="0" y="0"/>
                    </a:moveTo>
                    <a:lnTo>
                      <a:pt x="2227785" y="0"/>
                    </a:lnTo>
                    <a:lnTo>
                      <a:pt x="2227785" y="450708"/>
                    </a:lnTo>
                    <a:lnTo>
                      <a:pt x="0" y="450708"/>
                    </a:lnTo>
                    <a:close/>
                  </a:path>
                </a:pathLst>
              </a:custGeom>
              <a:solidFill>
                <a:srgbClr val="F3F6F8"/>
              </a:solidFill>
            </p:spPr>
          </p:sp>
          <p:sp>
            <p:nvSpPr>
              <p:cNvPr name="TextBox 51" id="51"/>
              <p:cNvSpPr txBox="true"/>
              <p:nvPr/>
            </p:nvSpPr>
            <p:spPr>
              <a:xfrm>
                <a:off x="0" y="-47625"/>
                <a:ext cx="2227785" cy="498333"/>
              </a:xfrm>
              <a:prstGeom prst="rect">
                <a:avLst/>
              </a:prstGeom>
            </p:spPr>
            <p:txBody>
              <a:bodyPr anchor="ctr" rtlCol="false" tIns="42255" lIns="42255" bIns="42255" rIns="42255"/>
              <a:lstStyle/>
              <a:p>
                <a:pPr algn="ctr">
                  <a:lnSpc>
                    <a:spcPts val="2800"/>
                  </a:lnSpc>
                </a:pPr>
              </a:p>
            </p:txBody>
          </p:sp>
        </p:grpSp>
        <p:sp>
          <p:nvSpPr>
            <p:cNvPr name="Freeform 52" id="52"/>
            <p:cNvSpPr/>
            <p:nvPr/>
          </p:nvSpPr>
          <p:spPr>
            <a:xfrm flipH="false" flipV="false" rot="5400000">
              <a:off x="-2518236" y="3771709"/>
              <a:ext cx="8101620" cy="558203"/>
            </a:xfrm>
            <a:custGeom>
              <a:avLst/>
              <a:gdLst/>
              <a:ahLst/>
              <a:cxnLst/>
              <a:rect r="r" b="b" t="t" l="l"/>
              <a:pathLst>
                <a:path h="558203" w="8101620">
                  <a:moveTo>
                    <a:pt x="0" y="0"/>
                  </a:moveTo>
                  <a:lnTo>
                    <a:pt x="8101619" y="0"/>
                  </a:lnTo>
                  <a:lnTo>
                    <a:pt x="8101619" y="558202"/>
                  </a:lnTo>
                  <a:lnTo>
                    <a:pt x="0" y="558202"/>
                  </a:lnTo>
                  <a:lnTo>
                    <a:pt x="0" y="0"/>
                  </a:lnTo>
                  <a:close/>
                </a:path>
              </a:pathLst>
            </a:custGeom>
            <a:blipFill>
              <a:blip r:embed="rId3"/>
              <a:stretch>
                <a:fillRect l="0" t="0" r="0" b="-279996"/>
              </a:stretch>
            </a:blipFill>
          </p:spPr>
        </p:sp>
        <p:sp>
          <p:nvSpPr>
            <p:cNvPr name="Freeform 53" id="53"/>
            <p:cNvSpPr/>
            <p:nvPr/>
          </p:nvSpPr>
          <p:spPr>
            <a:xfrm flipH="true" flipV="false" rot="0">
              <a:off x="4192976" y="1206126"/>
              <a:ext cx="1431578" cy="1207772"/>
            </a:xfrm>
            <a:custGeom>
              <a:avLst/>
              <a:gdLst/>
              <a:ahLst/>
              <a:cxnLst/>
              <a:rect r="r" b="b" t="t" l="l"/>
              <a:pathLst>
                <a:path h="1207772" w="1431578">
                  <a:moveTo>
                    <a:pt x="1431578" y="0"/>
                  </a:moveTo>
                  <a:lnTo>
                    <a:pt x="0" y="0"/>
                  </a:lnTo>
                  <a:lnTo>
                    <a:pt x="0" y="1207772"/>
                  </a:lnTo>
                  <a:lnTo>
                    <a:pt x="1431578" y="1207772"/>
                  </a:lnTo>
                  <a:lnTo>
                    <a:pt x="1431578" y="0"/>
                  </a:lnTo>
                  <a:close/>
                </a:path>
              </a:pathLst>
            </a:custGeom>
            <a:blipFill>
              <a:blip r:embed="rId10">
                <a:extLst>
                  <a:ext uri="{96DAC541-7B7A-43D3-8B79-37D633B846F1}">
                    <asvg:svgBlip xmlns:asvg="http://schemas.microsoft.com/office/drawing/2016/SVG/main" r:embed="rId11"/>
                  </a:ext>
                </a:extLst>
              </a:blip>
              <a:stretch>
                <a:fillRect l="0" t="0" r="-337750" b="0"/>
              </a:stretch>
            </a:blipFill>
          </p:spPr>
        </p:sp>
      </p:grpSp>
      <p:sp>
        <p:nvSpPr>
          <p:cNvPr name="TextBox 54" id="54"/>
          <p:cNvSpPr txBox="true"/>
          <p:nvPr/>
        </p:nvSpPr>
        <p:spPr>
          <a:xfrm rot="0">
            <a:off x="4648200" y="657225"/>
            <a:ext cx="8991600" cy="868680"/>
          </a:xfrm>
          <a:prstGeom prst="rect">
            <a:avLst/>
          </a:prstGeom>
        </p:spPr>
        <p:txBody>
          <a:bodyPr anchor="t" rtlCol="false" tIns="0" lIns="0" bIns="0" rIns="0">
            <a:spAutoFit/>
          </a:bodyPr>
          <a:lstStyle/>
          <a:p>
            <a:pPr algn="ctr">
              <a:lnSpc>
                <a:spcPts val="6719"/>
              </a:lnSpc>
              <a:spcBef>
                <a:spcPct val="0"/>
              </a:spcBef>
            </a:pPr>
            <a:r>
              <a:rPr lang="en-US" b="true" sz="4800">
                <a:solidFill>
                  <a:srgbClr val="041F60"/>
                </a:solidFill>
                <a:latin typeface="Poppins Bold"/>
                <a:ea typeface="Poppins Bold"/>
                <a:cs typeface="Poppins Bold"/>
                <a:sym typeface="Poppins Bold"/>
              </a:rPr>
              <a:t>R</a:t>
            </a:r>
            <a:r>
              <a:rPr lang="en-US" b="true" sz="4800">
                <a:solidFill>
                  <a:srgbClr val="041F60"/>
                </a:solidFill>
                <a:latin typeface="Poppins Bold"/>
                <a:ea typeface="Poppins Bold"/>
                <a:cs typeface="Poppins Bold"/>
                <a:sym typeface="Poppins Bold"/>
              </a:rPr>
              <a:t>esults &amp; Achievements</a:t>
            </a:r>
          </a:p>
        </p:txBody>
      </p:sp>
      <p:sp>
        <p:nvSpPr>
          <p:cNvPr name="TextBox 55" id="55"/>
          <p:cNvSpPr txBox="true"/>
          <p:nvPr/>
        </p:nvSpPr>
        <p:spPr>
          <a:xfrm rot="0">
            <a:off x="1080332" y="3517501"/>
            <a:ext cx="2120068" cy="603250"/>
          </a:xfrm>
          <a:prstGeom prst="rect">
            <a:avLst/>
          </a:prstGeom>
        </p:spPr>
        <p:txBody>
          <a:bodyPr anchor="t" rtlCol="false" tIns="0" lIns="0" bIns="0" rIns="0">
            <a:spAutoFit/>
          </a:bodyPr>
          <a:lstStyle/>
          <a:p>
            <a:pPr algn="l">
              <a:lnSpc>
                <a:spcPts val="2300"/>
              </a:lnSpc>
            </a:pPr>
            <a:r>
              <a:rPr lang="en-US" sz="2000" b="true">
                <a:solidFill>
                  <a:srgbClr val="FFFFFF"/>
                </a:solidFill>
                <a:latin typeface="Poppins Semi-Bold"/>
                <a:ea typeface="Poppins Semi-Bold"/>
                <a:cs typeface="Poppins Semi-Bold"/>
                <a:sym typeface="Poppins Semi-Bold"/>
              </a:rPr>
              <a:t>Optimiz</a:t>
            </a:r>
            <a:r>
              <a:rPr lang="en-US" b="true" sz="2000">
                <a:solidFill>
                  <a:srgbClr val="FFFFFF"/>
                </a:solidFill>
                <a:latin typeface="Poppins Semi-Bold"/>
                <a:ea typeface="Poppins Semi-Bold"/>
                <a:cs typeface="Poppins Semi-Bold"/>
                <a:sym typeface="Poppins Semi-Bold"/>
              </a:rPr>
              <a:t>ed Data Integration</a:t>
            </a:r>
          </a:p>
        </p:txBody>
      </p:sp>
      <p:sp>
        <p:nvSpPr>
          <p:cNvPr name="TextBox 56" id="56"/>
          <p:cNvSpPr txBox="true"/>
          <p:nvPr/>
        </p:nvSpPr>
        <p:spPr>
          <a:xfrm rot="0">
            <a:off x="5484749" y="4275481"/>
            <a:ext cx="2235099" cy="889000"/>
          </a:xfrm>
          <a:prstGeom prst="rect">
            <a:avLst/>
          </a:prstGeom>
        </p:spPr>
        <p:txBody>
          <a:bodyPr anchor="t" rtlCol="false" tIns="0" lIns="0" bIns="0" rIns="0">
            <a:spAutoFit/>
          </a:bodyPr>
          <a:lstStyle/>
          <a:p>
            <a:pPr algn="l">
              <a:lnSpc>
                <a:spcPts val="2300"/>
              </a:lnSpc>
            </a:pPr>
            <a:r>
              <a:rPr lang="en-US" sz="2000" b="true">
                <a:solidFill>
                  <a:srgbClr val="041F60"/>
                </a:solidFill>
                <a:latin typeface="Poppins Semi-Bold"/>
                <a:ea typeface="Poppins Semi-Bold"/>
                <a:cs typeface="Poppins Semi-Bold"/>
                <a:sym typeface="Poppins Semi-Bold"/>
              </a:rPr>
              <a:t>H</a:t>
            </a:r>
            <a:r>
              <a:rPr lang="en-US" b="true" sz="2000">
                <a:solidFill>
                  <a:srgbClr val="041F60"/>
                </a:solidFill>
                <a:latin typeface="Poppins Semi-Bold"/>
                <a:ea typeface="Poppins Semi-Bold"/>
                <a:cs typeface="Poppins Semi-Bold"/>
                <a:sym typeface="Poppins Semi-Bold"/>
              </a:rPr>
              <a:t>igh Performance Data Warehouse</a:t>
            </a:r>
          </a:p>
        </p:txBody>
      </p:sp>
      <p:sp>
        <p:nvSpPr>
          <p:cNvPr name="TextBox 57" id="57"/>
          <p:cNvSpPr txBox="true"/>
          <p:nvPr/>
        </p:nvSpPr>
        <p:spPr>
          <a:xfrm rot="0">
            <a:off x="1228638" y="4767671"/>
            <a:ext cx="2580382" cy="2379344"/>
          </a:xfrm>
          <a:prstGeom prst="rect">
            <a:avLst/>
          </a:prstGeom>
        </p:spPr>
        <p:txBody>
          <a:bodyPr anchor="t" rtlCol="false" tIns="0" lIns="0" bIns="0" rIns="0">
            <a:spAutoFit/>
          </a:bodyPr>
          <a:lstStyle/>
          <a:p>
            <a:pPr algn="l">
              <a:lnSpc>
                <a:spcPts val="2700"/>
              </a:lnSpc>
            </a:pPr>
            <a:r>
              <a:rPr lang="en-US" sz="1800">
                <a:solidFill>
                  <a:srgbClr val="000000"/>
                </a:solidFill>
                <a:latin typeface="Canva Sans"/>
                <a:ea typeface="Canva Sans"/>
                <a:cs typeface="Canva Sans"/>
                <a:sym typeface="Canva Sans"/>
              </a:rPr>
              <a:t>Built dynamic SSIS</a:t>
            </a:r>
            <a:r>
              <a:rPr lang="en-US" sz="1800">
                <a:solidFill>
                  <a:srgbClr val="000000"/>
                </a:solidFill>
                <a:latin typeface="Canva Sans"/>
                <a:ea typeface="Canva Sans"/>
                <a:cs typeface="Canva Sans"/>
                <a:sym typeface="Canva Sans"/>
              </a:rPr>
              <a:t> pipelines for both initial and incremental loads, ensuring reliable and repeatable data movement.</a:t>
            </a:r>
          </a:p>
          <a:p>
            <a:pPr algn="l">
              <a:lnSpc>
                <a:spcPts val="2700"/>
              </a:lnSpc>
            </a:pPr>
          </a:p>
        </p:txBody>
      </p:sp>
      <p:sp>
        <p:nvSpPr>
          <p:cNvPr name="TextBox 58" id="58"/>
          <p:cNvSpPr txBox="true"/>
          <p:nvPr/>
        </p:nvSpPr>
        <p:spPr>
          <a:xfrm rot="0">
            <a:off x="5639048" y="5624921"/>
            <a:ext cx="2580382" cy="2379344"/>
          </a:xfrm>
          <a:prstGeom prst="rect">
            <a:avLst/>
          </a:prstGeom>
        </p:spPr>
        <p:txBody>
          <a:bodyPr anchor="t" rtlCol="false" tIns="0" lIns="0" bIns="0" rIns="0">
            <a:spAutoFit/>
          </a:bodyPr>
          <a:lstStyle/>
          <a:p>
            <a:pPr algn="l">
              <a:lnSpc>
                <a:spcPts val="2700"/>
              </a:lnSpc>
            </a:pPr>
            <a:r>
              <a:rPr lang="en-US" sz="1800">
                <a:solidFill>
                  <a:srgbClr val="000000"/>
                </a:solidFill>
                <a:latin typeface="Canva Sans"/>
                <a:ea typeface="Canva Sans"/>
                <a:cs typeface="Canva Sans"/>
                <a:sym typeface="Canva Sans"/>
              </a:rPr>
              <a:t>De</a:t>
            </a:r>
            <a:r>
              <a:rPr lang="en-US" sz="1800">
                <a:solidFill>
                  <a:srgbClr val="000000"/>
                </a:solidFill>
                <a:latin typeface="Canva Sans"/>
                <a:ea typeface="Canva Sans"/>
                <a:cs typeface="Canva Sans"/>
                <a:sym typeface="Canva Sans"/>
              </a:rPr>
              <a:t>signed a star schema with columnstore indexes, reducing query time and boosting analytical performance.</a:t>
            </a:r>
          </a:p>
          <a:p>
            <a:pPr algn="l">
              <a:lnSpc>
                <a:spcPts val="2700"/>
              </a:lnSpc>
            </a:pPr>
          </a:p>
        </p:txBody>
      </p:sp>
      <p:sp>
        <p:nvSpPr>
          <p:cNvPr name="TextBox 59" id="59"/>
          <p:cNvSpPr txBox="true"/>
          <p:nvPr/>
        </p:nvSpPr>
        <p:spPr>
          <a:xfrm rot="0">
            <a:off x="9851073" y="3517501"/>
            <a:ext cx="2213966" cy="603250"/>
          </a:xfrm>
          <a:prstGeom prst="rect">
            <a:avLst/>
          </a:prstGeom>
        </p:spPr>
        <p:txBody>
          <a:bodyPr anchor="t" rtlCol="false" tIns="0" lIns="0" bIns="0" rIns="0">
            <a:spAutoFit/>
          </a:bodyPr>
          <a:lstStyle/>
          <a:p>
            <a:pPr algn="l">
              <a:lnSpc>
                <a:spcPts val="2300"/>
              </a:lnSpc>
            </a:pPr>
            <a:r>
              <a:rPr lang="en-US" sz="2000" b="true">
                <a:solidFill>
                  <a:srgbClr val="FFFFFF"/>
                </a:solidFill>
                <a:latin typeface="Poppins Semi-Bold"/>
                <a:ea typeface="Poppins Semi-Bold"/>
                <a:cs typeface="Poppins Semi-Bold"/>
                <a:sym typeface="Poppins Semi-Bold"/>
              </a:rPr>
              <a:t>Improv</a:t>
            </a:r>
            <a:r>
              <a:rPr lang="en-US" b="true" sz="2000">
                <a:solidFill>
                  <a:srgbClr val="FFFFFF"/>
                </a:solidFill>
                <a:latin typeface="Poppins Semi-Bold"/>
                <a:ea typeface="Poppins Semi-Bold"/>
                <a:cs typeface="Poppins Semi-Bold"/>
                <a:sym typeface="Poppins Semi-Bold"/>
              </a:rPr>
              <a:t>ed Query Performance</a:t>
            </a:r>
          </a:p>
        </p:txBody>
      </p:sp>
      <p:sp>
        <p:nvSpPr>
          <p:cNvPr name="TextBox 60" id="60"/>
          <p:cNvSpPr txBox="true"/>
          <p:nvPr/>
        </p:nvSpPr>
        <p:spPr>
          <a:xfrm rot="0">
            <a:off x="10049457" y="4767671"/>
            <a:ext cx="2325499" cy="3076111"/>
          </a:xfrm>
          <a:prstGeom prst="rect">
            <a:avLst/>
          </a:prstGeom>
        </p:spPr>
        <p:txBody>
          <a:bodyPr anchor="t" rtlCol="false" tIns="0" lIns="0" bIns="0" rIns="0">
            <a:spAutoFit/>
          </a:bodyPr>
          <a:lstStyle/>
          <a:p>
            <a:pPr algn="l">
              <a:lnSpc>
                <a:spcPts val="2433"/>
              </a:lnSpc>
            </a:pPr>
            <a:r>
              <a:rPr lang="en-US" sz="1622">
                <a:solidFill>
                  <a:srgbClr val="000000"/>
                </a:solidFill>
                <a:latin typeface="Canva Sans"/>
                <a:ea typeface="Canva Sans"/>
                <a:cs typeface="Canva Sans"/>
                <a:sym typeface="Canva Sans"/>
              </a:rPr>
              <a:t>Impl</a:t>
            </a:r>
            <a:r>
              <a:rPr lang="en-US" sz="1622">
                <a:solidFill>
                  <a:srgbClr val="000000"/>
                </a:solidFill>
                <a:latin typeface="Canva Sans"/>
                <a:ea typeface="Canva Sans"/>
                <a:cs typeface="Canva Sans"/>
                <a:sym typeface="Canva Sans"/>
              </a:rPr>
              <a:t>emented Slowly Changing Dimensions (SCD) to track historical changes and improve time-based insights by  95%+ , Queries ran up to 70% faster compared to OLTP.</a:t>
            </a:r>
          </a:p>
          <a:p>
            <a:pPr algn="l">
              <a:lnSpc>
                <a:spcPts val="2433"/>
              </a:lnSpc>
            </a:pPr>
          </a:p>
        </p:txBody>
      </p:sp>
      <p:sp>
        <p:nvSpPr>
          <p:cNvPr name="TextBox 61" id="61"/>
          <p:cNvSpPr txBox="true"/>
          <p:nvPr/>
        </p:nvSpPr>
        <p:spPr>
          <a:xfrm rot="0">
            <a:off x="14441319" y="4418356"/>
            <a:ext cx="1899641" cy="603250"/>
          </a:xfrm>
          <a:prstGeom prst="rect">
            <a:avLst/>
          </a:prstGeom>
        </p:spPr>
        <p:txBody>
          <a:bodyPr anchor="t" rtlCol="false" tIns="0" lIns="0" bIns="0" rIns="0">
            <a:spAutoFit/>
          </a:bodyPr>
          <a:lstStyle/>
          <a:p>
            <a:pPr algn="l">
              <a:lnSpc>
                <a:spcPts val="2300"/>
              </a:lnSpc>
            </a:pPr>
            <a:r>
              <a:rPr lang="en-US" sz="2000" b="true">
                <a:solidFill>
                  <a:srgbClr val="FFFFFF"/>
                </a:solidFill>
                <a:latin typeface="Poppins Semi-Bold"/>
                <a:ea typeface="Poppins Semi-Bold"/>
                <a:cs typeface="Poppins Semi-Bold"/>
                <a:sym typeface="Poppins Semi-Bold"/>
              </a:rPr>
              <a:t>interactive </a:t>
            </a:r>
            <a:r>
              <a:rPr lang="en-US" b="true" sz="2000">
                <a:solidFill>
                  <a:srgbClr val="FFFFFF"/>
                </a:solidFill>
                <a:latin typeface="Poppins Semi-Bold"/>
                <a:ea typeface="Poppins Semi-Bold"/>
                <a:cs typeface="Poppins Semi-Bold"/>
                <a:sym typeface="Poppins Semi-Bold"/>
              </a:rPr>
              <a:t>Dashboards</a:t>
            </a:r>
          </a:p>
        </p:txBody>
      </p:sp>
      <p:sp>
        <p:nvSpPr>
          <p:cNvPr name="TextBox 62" id="62"/>
          <p:cNvSpPr txBox="true"/>
          <p:nvPr/>
        </p:nvSpPr>
        <p:spPr>
          <a:xfrm rot="0">
            <a:off x="14459867" y="5505818"/>
            <a:ext cx="2443410" cy="2904968"/>
          </a:xfrm>
          <a:prstGeom prst="rect">
            <a:avLst/>
          </a:prstGeom>
        </p:spPr>
        <p:txBody>
          <a:bodyPr anchor="t" rtlCol="false" tIns="0" lIns="0" bIns="0" rIns="0">
            <a:spAutoFit/>
          </a:bodyPr>
          <a:lstStyle/>
          <a:p>
            <a:pPr algn="l">
              <a:lnSpc>
                <a:spcPts val="2556"/>
              </a:lnSpc>
            </a:pPr>
            <a:r>
              <a:rPr lang="en-US" sz="1704">
                <a:solidFill>
                  <a:srgbClr val="000000"/>
                </a:solidFill>
                <a:latin typeface="Canva Sans"/>
                <a:ea typeface="Canva Sans"/>
                <a:cs typeface="Canva Sans"/>
                <a:sym typeface="Canva Sans"/>
              </a:rPr>
              <a:t>De</a:t>
            </a:r>
            <a:r>
              <a:rPr lang="en-US" sz="1704">
                <a:solidFill>
                  <a:srgbClr val="000000"/>
                </a:solidFill>
                <a:latin typeface="Canva Sans"/>
                <a:ea typeface="Canva Sans"/>
                <a:cs typeface="Canva Sans"/>
                <a:sym typeface="Canva Sans"/>
              </a:rPr>
              <a:t>signed interactive Power BI dashboards showing customer behavior, sales trends, product performance, and profitability to increase  increased decision-making speed by 60%.</a:t>
            </a:r>
          </a:p>
        </p:txBody>
      </p:sp>
      <p:sp>
        <p:nvSpPr>
          <p:cNvPr name="Freeform 63" id="63"/>
          <p:cNvSpPr/>
          <p:nvPr/>
        </p:nvSpPr>
        <p:spPr>
          <a:xfrm flipH="false" flipV="false" rot="0">
            <a:off x="12263423" y="3623762"/>
            <a:ext cx="496989" cy="496989"/>
          </a:xfrm>
          <a:custGeom>
            <a:avLst/>
            <a:gdLst/>
            <a:ahLst/>
            <a:cxnLst/>
            <a:rect r="r" b="b" t="t" l="l"/>
            <a:pathLst>
              <a:path h="496989" w="496989">
                <a:moveTo>
                  <a:pt x="0" y="0"/>
                </a:moveTo>
                <a:lnTo>
                  <a:pt x="496989" y="0"/>
                </a:lnTo>
                <a:lnTo>
                  <a:pt x="496989" y="496989"/>
                </a:lnTo>
                <a:lnTo>
                  <a:pt x="0" y="49698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64" id="64"/>
          <p:cNvSpPr/>
          <p:nvPr/>
        </p:nvSpPr>
        <p:spPr>
          <a:xfrm flipH="false" flipV="false" rot="0">
            <a:off x="16654782" y="4481012"/>
            <a:ext cx="496989" cy="496989"/>
          </a:xfrm>
          <a:custGeom>
            <a:avLst/>
            <a:gdLst/>
            <a:ahLst/>
            <a:cxnLst/>
            <a:rect r="r" b="b" t="t" l="l"/>
            <a:pathLst>
              <a:path h="496989" w="496989">
                <a:moveTo>
                  <a:pt x="0" y="0"/>
                </a:moveTo>
                <a:lnTo>
                  <a:pt x="496990" y="0"/>
                </a:lnTo>
                <a:lnTo>
                  <a:pt x="496990" y="496989"/>
                </a:lnTo>
                <a:lnTo>
                  <a:pt x="0" y="49698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65" id="65"/>
          <p:cNvSpPr/>
          <p:nvPr/>
        </p:nvSpPr>
        <p:spPr>
          <a:xfrm flipH="false" flipV="false" rot="0">
            <a:off x="3486150" y="3623762"/>
            <a:ext cx="496989" cy="496989"/>
          </a:xfrm>
          <a:custGeom>
            <a:avLst/>
            <a:gdLst/>
            <a:ahLst/>
            <a:cxnLst/>
            <a:rect r="r" b="b" t="t" l="l"/>
            <a:pathLst>
              <a:path h="496989" w="496989">
                <a:moveTo>
                  <a:pt x="0" y="0"/>
                </a:moveTo>
                <a:lnTo>
                  <a:pt x="496989" y="0"/>
                </a:lnTo>
                <a:lnTo>
                  <a:pt x="496989" y="496989"/>
                </a:lnTo>
                <a:lnTo>
                  <a:pt x="0" y="49698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66" id="6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7</a:t>
            </a:r>
          </a:p>
        </p:txBody>
      </p:sp>
      <p:sp>
        <p:nvSpPr>
          <p:cNvPr name="TextBox 67" id="67"/>
          <p:cNvSpPr txBox="true"/>
          <p:nvPr/>
        </p:nvSpPr>
        <p:spPr>
          <a:xfrm rot="0">
            <a:off x="7719848" y="4366712"/>
            <a:ext cx="801312" cy="625949"/>
          </a:xfrm>
          <a:prstGeom prst="rect">
            <a:avLst/>
          </a:prstGeom>
        </p:spPr>
        <p:txBody>
          <a:bodyPr anchor="t" rtlCol="false" tIns="0" lIns="0" bIns="0" rIns="0">
            <a:spAutoFit/>
          </a:bodyPr>
          <a:lstStyle/>
          <a:p>
            <a:pPr algn="ctr">
              <a:lnSpc>
                <a:spcPts val="5266"/>
              </a:lnSpc>
              <a:spcBef>
                <a:spcPct val="0"/>
              </a:spcBef>
            </a:pPr>
            <a:r>
              <a:rPr lang="en-US" sz="3385">
                <a:solidFill>
                  <a:srgbClr val="000000"/>
                </a:solidFill>
                <a:latin typeface="Canva Sans"/>
                <a:ea typeface="Canva Sans"/>
                <a:cs typeface="Canva Sans"/>
                <a:sym typeface="Canva Sans"/>
              </a:rPr>
              <a:t> 🏛️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10234493" y="1669806"/>
            <a:ext cx="1578952" cy="1034423"/>
          </a:xfrm>
          <a:prstGeom prst="rect">
            <a:avLst/>
          </a:prstGeom>
        </p:spPr>
        <p:txBody>
          <a:bodyPr anchor="t" rtlCol="false" tIns="0" lIns="0" bIns="0" rIns="0">
            <a:spAutoFit/>
          </a:bodyPr>
          <a:lstStyle/>
          <a:p>
            <a:pPr algn="l">
              <a:lnSpc>
                <a:spcPts val="7680"/>
              </a:lnSpc>
            </a:pPr>
            <a:r>
              <a:rPr lang="en-US" sz="8000" spc="-656">
                <a:solidFill>
                  <a:srgbClr val="EFEFEF"/>
                </a:solidFill>
                <a:latin typeface="TT Hoves"/>
                <a:ea typeface="TT Hoves"/>
                <a:cs typeface="TT Hoves"/>
                <a:sym typeface="TT Hoves"/>
              </a:rPr>
              <a:t>01.</a:t>
            </a:r>
          </a:p>
        </p:txBody>
      </p:sp>
      <p:grpSp>
        <p:nvGrpSpPr>
          <p:cNvPr name="Group 3" id="3"/>
          <p:cNvGrpSpPr/>
          <p:nvPr/>
        </p:nvGrpSpPr>
        <p:grpSpPr>
          <a:xfrm rot="0">
            <a:off x="9975489" y="3862348"/>
            <a:ext cx="6998061" cy="2561528"/>
            <a:chOff x="0" y="0"/>
            <a:chExt cx="2342659" cy="857492"/>
          </a:xfrm>
        </p:grpSpPr>
        <p:sp>
          <p:nvSpPr>
            <p:cNvPr name="Freeform 4" id="4"/>
            <p:cNvSpPr/>
            <p:nvPr/>
          </p:nvSpPr>
          <p:spPr>
            <a:xfrm flipH="false" flipV="false" rot="0">
              <a:off x="0" y="0"/>
              <a:ext cx="2342659" cy="857492"/>
            </a:xfrm>
            <a:custGeom>
              <a:avLst/>
              <a:gdLst/>
              <a:ahLst/>
              <a:cxnLst/>
              <a:rect r="r" b="b" t="t" l="l"/>
              <a:pathLst>
                <a:path h="857492" w="2342659">
                  <a:moveTo>
                    <a:pt x="0" y="0"/>
                  </a:moveTo>
                  <a:lnTo>
                    <a:pt x="2342659" y="0"/>
                  </a:lnTo>
                  <a:lnTo>
                    <a:pt x="2342659" y="857492"/>
                  </a:lnTo>
                  <a:lnTo>
                    <a:pt x="0" y="857492"/>
                  </a:lnTo>
                  <a:close/>
                </a:path>
              </a:pathLst>
            </a:custGeom>
            <a:solidFill>
              <a:srgbClr val="0003FF"/>
            </a:solidFill>
          </p:spPr>
        </p:sp>
        <p:sp>
          <p:nvSpPr>
            <p:cNvPr name="TextBox 5" id="5"/>
            <p:cNvSpPr txBox="true"/>
            <p:nvPr/>
          </p:nvSpPr>
          <p:spPr>
            <a:xfrm>
              <a:off x="0" y="104775"/>
              <a:ext cx="2342659" cy="752717"/>
            </a:xfrm>
            <a:prstGeom prst="rect">
              <a:avLst/>
            </a:prstGeom>
          </p:spPr>
          <p:txBody>
            <a:bodyPr anchor="ctr" rtlCol="false" tIns="50800" lIns="50800" bIns="50800" rIns="50800"/>
            <a:lstStyle/>
            <a:p>
              <a:pPr algn="ctr">
                <a:lnSpc>
                  <a:spcPts val="1925"/>
                </a:lnSpc>
              </a:pPr>
            </a:p>
          </p:txBody>
        </p:sp>
      </p:grpSp>
      <p:sp>
        <p:nvSpPr>
          <p:cNvPr name="TextBox 6" id="6"/>
          <p:cNvSpPr txBox="true"/>
          <p:nvPr/>
        </p:nvSpPr>
        <p:spPr>
          <a:xfrm rot="0">
            <a:off x="10078333" y="4843206"/>
            <a:ext cx="1578952" cy="1034423"/>
          </a:xfrm>
          <a:prstGeom prst="rect">
            <a:avLst/>
          </a:prstGeom>
        </p:spPr>
        <p:txBody>
          <a:bodyPr anchor="t" rtlCol="false" tIns="0" lIns="0" bIns="0" rIns="0">
            <a:spAutoFit/>
          </a:bodyPr>
          <a:lstStyle/>
          <a:p>
            <a:pPr algn="l">
              <a:lnSpc>
                <a:spcPts val="7680"/>
              </a:lnSpc>
            </a:pPr>
            <a:r>
              <a:rPr lang="en-US" sz="8000" spc="-656">
                <a:solidFill>
                  <a:srgbClr val="EFEFEF"/>
                </a:solidFill>
                <a:latin typeface="TT Hoves"/>
                <a:ea typeface="TT Hoves"/>
                <a:cs typeface="TT Hoves"/>
                <a:sym typeface="TT Hoves"/>
              </a:rPr>
              <a:t>02.</a:t>
            </a:r>
          </a:p>
        </p:txBody>
      </p:sp>
      <p:sp>
        <p:nvSpPr>
          <p:cNvPr name="TextBox 7" id="7"/>
          <p:cNvSpPr txBox="true"/>
          <p:nvPr/>
        </p:nvSpPr>
        <p:spPr>
          <a:xfrm rot="0">
            <a:off x="12076074" y="4424417"/>
            <a:ext cx="4274961" cy="237814"/>
          </a:xfrm>
          <a:prstGeom prst="rect">
            <a:avLst/>
          </a:prstGeom>
        </p:spPr>
        <p:txBody>
          <a:bodyPr anchor="t" rtlCol="false" tIns="0" lIns="0" bIns="0" rIns="0">
            <a:spAutoFit/>
          </a:bodyPr>
          <a:lstStyle/>
          <a:p>
            <a:pPr algn="just" marL="0" indent="0" lvl="0">
              <a:lnSpc>
                <a:spcPts val="1955"/>
              </a:lnSpc>
              <a:spcBef>
                <a:spcPct val="0"/>
              </a:spcBef>
            </a:pPr>
          </a:p>
        </p:txBody>
      </p:sp>
      <p:sp>
        <p:nvSpPr>
          <p:cNvPr name="TextBox 8" id="8"/>
          <p:cNvSpPr txBox="true"/>
          <p:nvPr/>
        </p:nvSpPr>
        <p:spPr>
          <a:xfrm rot="0">
            <a:off x="325543" y="477943"/>
            <a:ext cx="8443214" cy="2894227"/>
          </a:xfrm>
          <a:prstGeom prst="rect">
            <a:avLst/>
          </a:prstGeom>
        </p:spPr>
        <p:txBody>
          <a:bodyPr anchor="t" rtlCol="false" tIns="0" lIns="0" bIns="0" rIns="0">
            <a:spAutoFit/>
          </a:bodyPr>
          <a:lstStyle/>
          <a:p>
            <a:pPr algn="l">
              <a:lnSpc>
                <a:spcPts val="11252"/>
              </a:lnSpc>
            </a:pPr>
            <a:r>
              <a:rPr lang="en-US" b="true" sz="10716" spc="-525">
                <a:solidFill>
                  <a:srgbClr val="343434"/>
                </a:solidFill>
                <a:latin typeface="TT Hoves Bold"/>
                <a:ea typeface="TT Hoves Bold"/>
                <a:cs typeface="TT Hoves Bold"/>
                <a:sym typeface="TT Hoves Bold"/>
              </a:rPr>
              <a:t>Some Keywords</a:t>
            </a:r>
          </a:p>
        </p:txBody>
      </p:sp>
      <p:sp>
        <p:nvSpPr>
          <p:cNvPr name="TextBox 9" id="9"/>
          <p:cNvSpPr txBox="true"/>
          <p:nvPr/>
        </p:nvSpPr>
        <p:spPr>
          <a:xfrm rot="0">
            <a:off x="11281149" y="4076433"/>
            <a:ext cx="8723737" cy="366280"/>
          </a:xfrm>
          <a:prstGeom prst="rect">
            <a:avLst/>
          </a:prstGeom>
        </p:spPr>
        <p:txBody>
          <a:bodyPr anchor="t" rtlCol="false" tIns="0" lIns="0" bIns="0" rIns="0">
            <a:spAutoFit/>
          </a:bodyPr>
          <a:lstStyle/>
          <a:p>
            <a:pPr algn="l" marL="0" indent="0" lvl="1">
              <a:lnSpc>
                <a:spcPts val="2863"/>
              </a:lnSpc>
              <a:spcBef>
                <a:spcPct val="0"/>
              </a:spcBef>
            </a:pPr>
            <a:r>
              <a:rPr lang="en-US" b="true" sz="2727" spc="-133">
                <a:solidFill>
                  <a:srgbClr val="000000"/>
                </a:solidFill>
                <a:latin typeface="TT Hoves Bold"/>
                <a:ea typeface="TT Hoves Bold"/>
                <a:cs typeface="TT Hoves Bold"/>
                <a:sym typeface="TT Hoves Bold"/>
              </a:rPr>
              <a:t>ETL Pipeline Development in SSIS</a:t>
            </a:r>
          </a:p>
        </p:txBody>
      </p:sp>
      <p:sp>
        <p:nvSpPr>
          <p:cNvPr name="TextBox 10" id="10"/>
          <p:cNvSpPr txBox="true"/>
          <p:nvPr/>
        </p:nvSpPr>
        <p:spPr>
          <a:xfrm rot="0">
            <a:off x="11608885" y="4643181"/>
            <a:ext cx="5160940" cy="1417373"/>
          </a:xfrm>
          <a:prstGeom prst="rect">
            <a:avLst/>
          </a:prstGeom>
        </p:spPr>
        <p:txBody>
          <a:bodyPr anchor="t" rtlCol="false" tIns="0" lIns="0" bIns="0" rIns="0">
            <a:spAutoFit/>
          </a:bodyPr>
          <a:lstStyle/>
          <a:p>
            <a:pPr algn="ctr" marL="194893" indent="-97447" lvl="1">
              <a:lnSpc>
                <a:spcPts val="1263"/>
              </a:lnSpc>
              <a:buFont typeface="Arial"/>
              <a:buChar char="•"/>
            </a:pPr>
            <a:r>
              <a:rPr lang="en-US" b="true" sz="902">
                <a:solidFill>
                  <a:srgbClr val="FFFFFF"/>
                </a:solidFill>
                <a:latin typeface="Canva Sans Bold"/>
                <a:ea typeface="Canva Sans Bold"/>
                <a:cs typeface="Canva Sans Bold"/>
                <a:sym typeface="Canva Sans Bold"/>
              </a:rPr>
              <a:t>Extract:</a:t>
            </a:r>
            <a:r>
              <a:rPr lang="en-US" sz="902">
                <a:solidFill>
                  <a:srgbClr val="FFFFFF"/>
                </a:solidFill>
                <a:latin typeface="Canva Sans"/>
                <a:ea typeface="Canva Sans"/>
                <a:cs typeface="Canva Sans"/>
                <a:sym typeface="Canva Sans"/>
              </a:rPr>
              <a:t> Extracting data from OLTP to Staging (full for dimensions, Updated for facts using watermarking).</a:t>
            </a:r>
          </a:p>
          <a:p>
            <a:pPr algn="ctr">
              <a:lnSpc>
                <a:spcPts val="1263"/>
              </a:lnSpc>
            </a:pPr>
          </a:p>
          <a:p>
            <a:pPr algn="ctr" marL="194893" indent="-97447" lvl="1">
              <a:lnSpc>
                <a:spcPts val="1263"/>
              </a:lnSpc>
              <a:buFont typeface="Arial"/>
              <a:buChar char="•"/>
            </a:pPr>
            <a:r>
              <a:rPr lang="en-US" b="true" sz="902">
                <a:solidFill>
                  <a:srgbClr val="FFFFFF"/>
                </a:solidFill>
                <a:latin typeface="Canva Sans Bold"/>
                <a:ea typeface="Canva Sans Bold"/>
                <a:cs typeface="Canva Sans Bold"/>
                <a:sym typeface="Canva Sans Bold"/>
              </a:rPr>
              <a:t>Transform:</a:t>
            </a:r>
            <a:r>
              <a:rPr lang="en-US" sz="902">
                <a:solidFill>
                  <a:srgbClr val="FFFFFF"/>
                </a:solidFill>
                <a:latin typeface="Canva Sans"/>
                <a:ea typeface="Canva Sans"/>
                <a:cs typeface="Canva Sans"/>
                <a:sym typeface="Canva Sans"/>
              </a:rPr>
              <a:t> Clean, enrich, and apply business logic (e.g., product language filtering, surrogate key mapping).</a:t>
            </a:r>
          </a:p>
          <a:p>
            <a:pPr algn="ctr">
              <a:lnSpc>
                <a:spcPts val="1263"/>
              </a:lnSpc>
            </a:pPr>
          </a:p>
          <a:p>
            <a:pPr algn="ctr" marL="194893" indent="-97447" lvl="1">
              <a:lnSpc>
                <a:spcPts val="1263"/>
              </a:lnSpc>
              <a:buFont typeface="Arial"/>
              <a:buChar char="•"/>
            </a:pPr>
            <a:r>
              <a:rPr lang="en-US" b="true" sz="902">
                <a:solidFill>
                  <a:srgbClr val="FFFFFF"/>
                </a:solidFill>
                <a:latin typeface="Canva Sans Bold"/>
                <a:ea typeface="Canva Sans Bold"/>
                <a:cs typeface="Canva Sans Bold"/>
                <a:sym typeface="Canva Sans Bold"/>
              </a:rPr>
              <a:t>Load:</a:t>
            </a:r>
            <a:r>
              <a:rPr lang="en-US" sz="902">
                <a:solidFill>
                  <a:srgbClr val="FFFFFF"/>
                </a:solidFill>
                <a:latin typeface="Canva Sans"/>
                <a:ea typeface="Canva Sans"/>
                <a:cs typeface="Canva Sans"/>
                <a:sym typeface="Canva Sans"/>
              </a:rPr>
              <a:t> Populate DW dimensions and facts, ensuring consistency, and handling overrides/history where needed.</a:t>
            </a:r>
          </a:p>
          <a:p>
            <a:pPr algn="ctr">
              <a:lnSpc>
                <a:spcPts val="1263"/>
              </a:lnSpc>
            </a:pPr>
          </a:p>
        </p:txBody>
      </p:sp>
      <p:sp>
        <p:nvSpPr>
          <p:cNvPr name="Freeform 11" id="11"/>
          <p:cNvSpPr/>
          <p:nvPr/>
        </p:nvSpPr>
        <p:spPr>
          <a:xfrm flipH="false" flipV="false" rot="0">
            <a:off x="7109490" y="2380277"/>
            <a:ext cx="10480692" cy="5526446"/>
          </a:xfrm>
          <a:custGeom>
            <a:avLst/>
            <a:gdLst/>
            <a:ahLst/>
            <a:cxnLst/>
            <a:rect r="r" b="b" t="t" l="l"/>
            <a:pathLst>
              <a:path h="5526446" w="10480692">
                <a:moveTo>
                  <a:pt x="0" y="0"/>
                </a:moveTo>
                <a:lnTo>
                  <a:pt x="10480691" y="0"/>
                </a:lnTo>
                <a:lnTo>
                  <a:pt x="10480691" y="5526446"/>
                </a:lnTo>
                <a:lnTo>
                  <a:pt x="0" y="5526446"/>
                </a:lnTo>
                <a:lnTo>
                  <a:pt x="0" y="0"/>
                </a:lnTo>
                <a:close/>
              </a:path>
            </a:pathLst>
          </a:custGeom>
          <a:blipFill>
            <a:blip r:embed="rId2"/>
            <a:stretch>
              <a:fillRect l="-68" t="0" r="-68" b="-2549"/>
            </a:stretch>
          </a:blipFill>
        </p:spPr>
      </p:sp>
      <p:sp>
        <p:nvSpPr>
          <p:cNvPr name="TextBox 12" id="1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2617390" y="6499699"/>
            <a:ext cx="11301259" cy="2924201"/>
          </a:xfrm>
          <a:custGeom>
            <a:avLst/>
            <a:gdLst/>
            <a:ahLst/>
            <a:cxnLst/>
            <a:rect r="r" b="b" t="t" l="l"/>
            <a:pathLst>
              <a:path h="2924201" w="11301259">
                <a:moveTo>
                  <a:pt x="0" y="0"/>
                </a:moveTo>
                <a:lnTo>
                  <a:pt x="11301259" y="0"/>
                </a:lnTo>
                <a:lnTo>
                  <a:pt x="11301259" y="2924201"/>
                </a:lnTo>
                <a:lnTo>
                  <a:pt x="0" y="2924201"/>
                </a:lnTo>
                <a:lnTo>
                  <a:pt x="0" y="0"/>
                </a:lnTo>
                <a:close/>
              </a:path>
            </a:pathLst>
          </a:custGeom>
          <a:blipFill>
            <a:blip r:embed="rId2"/>
            <a:stretch>
              <a:fillRect l="0" t="0" r="0" b="0"/>
            </a:stretch>
          </a:blipFill>
        </p:spPr>
      </p:sp>
      <p:sp>
        <p:nvSpPr>
          <p:cNvPr name="TextBox 3" id="3"/>
          <p:cNvSpPr txBox="true"/>
          <p:nvPr/>
        </p:nvSpPr>
        <p:spPr>
          <a:xfrm rot="0">
            <a:off x="121896" y="6906173"/>
            <a:ext cx="2520273" cy="612922"/>
          </a:xfrm>
          <a:prstGeom prst="rect">
            <a:avLst/>
          </a:prstGeom>
        </p:spPr>
        <p:txBody>
          <a:bodyPr anchor="t" rtlCol="false" tIns="0" lIns="0" bIns="0" rIns="0">
            <a:spAutoFit/>
          </a:bodyPr>
          <a:lstStyle/>
          <a:p>
            <a:pPr algn="l" marL="0" indent="0" lvl="1">
              <a:lnSpc>
                <a:spcPts val="4696"/>
              </a:lnSpc>
              <a:spcBef>
                <a:spcPct val="0"/>
              </a:spcBef>
            </a:pPr>
            <a:r>
              <a:rPr lang="en-US" b="true" sz="4472" spc="-219" strike="noStrike" u="none">
                <a:solidFill>
                  <a:srgbClr val="343434"/>
                </a:solidFill>
                <a:latin typeface="TT Hoves Bold"/>
                <a:ea typeface="TT Hoves Bold"/>
                <a:cs typeface="TT Hoves Bold"/>
                <a:sym typeface="TT Hoves Bold"/>
              </a:rPr>
              <a:t>Pipeline</a:t>
            </a:r>
          </a:p>
        </p:txBody>
      </p:sp>
      <p:sp>
        <p:nvSpPr>
          <p:cNvPr name="AutoShape 4" id="4"/>
          <p:cNvSpPr/>
          <p:nvPr/>
        </p:nvSpPr>
        <p:spPr>
          <a:xfrm>
            <a:off x="2059689" y="7519095"/>
            <a:ext cx="557702" cy="442705"/>
          </a:xfrm>
          <a:prstGeom prst="line">
            <a:avLst/>
          </a:prstGeom>
          <a:ln cap="flat" w="38100">
            <a:solidFill>
              <a:srgbClr val="000000"/>
            </a:solidFill>
            <a:prstDash val="solid"/>
            <a:headEnd type="none" len="sm" w="sm"/>
            <a:tailEnd type="none" len="sm" w="sm"/>
          </a:ln>
        </p:spPr>
      </p:sp>
      <p:sp>
        <p:nvSpPr>
          <p:cNvPr name="AutoShape 5" id="5"/>
          <p:cNvSpPr/>
          <p:nvPr/>
        </p:nvSpPr>
        <p:spPr>
          <a:xfrm flipV="true">
            <a:off x="4931407" y="1758152"/>
            <a:ext cx="1620027" cy="630522"/>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0">
            <a:off x="1382033" y="2388673"/>
            <a:ext cx="7098749" cy="3627742"/>
          </a:xfrm>
          <a:custGeom>
            <a:avLst/>
            <a:gdLst/>
            <a:ahLst/>
            <a:cxnLst/>
            <a:rect r="r" b="b" t="t" l="l"/>
            <a:pathLst>
              <a:path h="3627742" w="7098749">
                <a:moveTo>
                  <a:pt x="0" y="0"/>
                </a:moveTo>
                <a:lnTo>
                  <a:pt x="7098748" y="0"/>
                </a:lnTo>
                <a:lnTo>
                  <a:pt x="7098748" y="3627743"/>
                </a:lnTo>
                <a:lnTo>
                  <a:pt x="0" y="3627743"/>
                </a:lnTo>
                <a:lnTo>
                  <a:pt x="0" y="0"/>
                </a:lnTo>
                <a:close/>
              </a:path>
            </a:pathLst>
          </a:custGeom>
          <a:blipFill>
            <a:blip r:embed="rId3"/>
            <a:stretch>
              <a:fillRect l="0" t="-15185" r="0" b="-15185"/>
            </a:stretch>
          </a:blipFill>
        </p:spPr>
      </p:sp>
      <p:sp>
        <p:nvSpPr>
          <p:cNvPr name="AutoShape 7" id="7"/>
          <p:cNvSpPr/>
          <p:nvPr/>
        </p:nvSpPr>
        <p:spPr>
          <a:xfrm flipH="true">
            <a:off x="13649341" y="7388024"/>
            <a:ext cx="1533530" cy="350066"/>
          </a:xfrm>
          <a:prstGeom prst="line">
            <a:avLst/>
          </a:prstGeom>
          <a:ln cap="flat" w="38100">
            <a:solidFill>
              <a:srgbClr val="000000"/>
            </a:solidFill>
            <a:prstDash val="solid"/>
            <a:headEnd type="none" len="sm" w="sm"/>
            <a:tailEnd type="none" len="sm" w="sm"/>
          </a:ln>
        </p:spPr>
      </p:sp>
      <p:sp>
        <p:nvSpPr>
          <p:cNvPr name="Freeform 8" id="8"/>
          <p:cNvSpPr/>
          <p:nvPr/>
        </p:nvSpPr>
        <p:spPr>
          <a:xfrm flipH="false" flipV="false" rot="0">
            <a:off x="8160200" y="5143500"/>
            <a:ext cx="7728167" cy="1197866"/>
          </a:xfrm>
          <a:custGeom>
            <a:avLst/>
            <a:gdLst/>
            <a:ahLst/>
            <a:cxnLst/>
            <a:rect r="r" b="b" t="t" l="l"/>
            <a:pathLst>
              <a:path h="1197866" w="7728167">
                <a:moveTo>
                  <a:pt x="0" y="0"/>
                </a:moveTo>
                <a:lnTo>
                  <a:pt x="7728167" y="0"/>
                </a:lnTo>
                <a:lnTo>
                  <a:pt x="7728167" y="1197866"/>
                </a:lnTo>
                <a:lnTo>
                  <a:pt x="0" y="1197866"/>
                </a:lnTo>
                <a:lnTo>
                  <a:pt x="0" y="0"/>
                </a:lnTo>
                <a:close/>
              </a:path>
            </a:pathLst>
          </a:custGeom>
          <a:blipFill>
            <a:blip r:embed="rId4"/>
            <a:stretch>
              <a:fillRect l="0" t="0" r="0" b="0"/>
            </a:stretch>
          </a:blipFill>
        </p:spPr>
      </p:sp>
      <p:sp>
        <p:nvSpPr>
          <p:cNvPr name="TextBox 9" id="9"/>
          <p:cNvSpPr txBox="true"/>
          <p:nvPr/>
        </p:nvSpPr>
        <p:spPr>
          <a:xfrm rot="0">
            <a:off x="12382394" y="368185"/>
            <a:ext cx="5600954" cy="1894141"/>
          </a:xfrm>
          <a:prstGeom prst="rect">
            <a:avLst/>
          </a:prstGeom>
        </p:spPr>
        <p:txBody>
          <a:bodyPr anchor="t" rtlCol="false" tIns="0" lIns="0" bIns="0" rIns="0">
            <a:spAutoFit/>
          </a:bodyPr>
          <a:lstStyle/>
          <a:p>
            <a:pPr algn="l" marL="0" indent="0" lvl="1">
              <a:lnSpc>
                <a:spcPts val="7347"/>
              </a:lnSpc>
              <a:spcBef>
                <a:spcPct val="0"/>
              </a:spcBef>
            </a:pPr>
            <a:r>
              <a:rPr lang="en-US" b="true" sz="6997" spc="-342" strike="noStrike" u="none">
                <a:solidFill>
                  <a:srgbClr val="343434"/>
                </a:solidFill>
                <a:latin typeface="TT Hoves Bold"/>
                <a:ea typeface="TT Hoves Bold"/>
                <a:cs typeface="TT Hoves Bold"/>
                <a:sym typeface="TT Hoves Bold"/>
              </a:rPr>
              <a:t>Architecture&amp;Pipeline</a:t>
            </a:r>
          </a:p>
        </p:txBody>
      </p:sp>
      <p:sp>
        <p:nvSpPr>
          <p:cNvPr name="TextBox 10" id="10"/>
          <p:cNvSpPr txBox="true"/>
          <p:nvPr/>
        </p:nvSpPr>
        <p:spPr>
          <a:xfrm rot="0">
            <a:off x="5395080" y="1315255"/>
            <a:ext cx="2312707" cy="442896"/>
          </a:xfrm>
          <a:prstGeom prst="rect">
            <a:avLst/>
          </a:prstGeom>
        </p:spPr>
        <p:txBody>
          <a:bodyPr anchor="t" rtlCol="false" tIns="0" lIns="0" bIns="0" rIns="0">
            <a:spAutoFit/>
          </a:bodyPr>
          <a:lstStyle/>
          <a:p>
            <a:pPr algn="l" marL="0" indent="0" lvl="1">
              <a:lnSpc>
                <a:spcPts val="3409"/>
              </a:lnSpc>
              <a:spcBef>
                <a:spcPct val="0"/>
              </a:spcBef>
            </a:pPr>
            <a:r>
              <a:rPr lang="en-US" b="true" sz="3246" spc="-159" strike="noStrike" u="none">
                <a:solidFill>
                  <a:srgbClr val="343434"/>
                </a:solidFill>
                <a:latin typeface="TT Hoves Bold"/>
                <a:ea typeface="TT Hoves Bold"/>
                <a:cs typeface="TT Hoves Bold"/>
                <a:sym typeface="TT Hoves Bold"/>
              </a:rPr>
              <a:t>Architecture</a:t>
            </a:r>
          </a:p>
        </p:txBody>
      </p:sp>
      <p:sp>
        <p:nvSpPr>
          <p:cNvPr name="TextBox 11" id="1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343434"/>
                </a:solidFill>
                <a:latin typeface="Canva Sans"/>
                <a:ea typeface="Canva Sans"/>
                <a:cs typeface="Canva Sans"/>
                <a:sym typeface="Canva Sans"/>
              </a:rPr>
              <a:t>9</a:t>
            </a:r>
          </a:p>
        </p:txBody>
      </p:sp>
      <p:sp>
        <p:nvSpPr>
          <p:cNvPr name="TextBox 12" id="12"/>
          <p:cNvSpPr txBox="true"/>
          <p:nvPr/>
        </p:nvSpPr>
        <p:spPr>
          <a:xfrm rot="0">
            <a:off x="14477375" y="6740320"/>
            <a:ext cx="1410992" cy="647704"/>
          </a:xfrm>
          <a:prstGeom prst="rect">
            <a:avLst/>
          </a:prstGeom>
        </p:spPr>
        <p:txBody>
          <a:bodyPr anchor="t" rtlCol="false" tIns="0" lIns="0" bIns="0" rIns="0">
            <a:spAutoFit/>
          </a:bodyPr>
          <a:lstStyle/>
          <a:p>
            <a:pPr algn="l" marL="0" indent="0" lvl="1">
              <a:lnSpc>
                <a:spcPts val="2526"/>
              </a:lnSpc>
              <a:spcBef>
                <a:spcPct val="0"/>
              </a:spcBef>
            </a:pPr>
            <a:r>
              <a:rPr lang="en-US" b="true" sz="2406" spc="-117" strike="noStrike" u="none">
                <a:solidFill>
                  <a:srgbClr val="343434"/>
                </a:solidFill>
                <a:latin typeface="TT Hoves Bold"/>
                <a:ea typeface="TT Hoves Bold"/>
                <a:cs typeface="TT Hoves Bold"/>
                <a:sym typeface="TT Hoves Bold"/>
              </a:rPr>
              <a:t>Updating Wtermark</a:t>
            </a:r>
          </a:p>
        </p:txBody>
      </p:sp>
      <p:sp>
        <p:nvSpPr>
          <p:cNvPr name="AutoShape 13" id="13"/>
          <p:cNvSpPr/>
          <p:nvPr/>
        </p:nvSpPr>
        <p:spPr>
          <a:xfrm flipH="true" flipV="true">
            <a:off x="10589479" y="6276257"/>
            <a:ext cx="1542625" cy="2122668"/>
          </a:xfrm>
          <a:prstGeom prst="line">
            <a:avLst/>
          </a:prstGeom>
          <a:ln cap="flat" w="38100">
            <a:solidFill>
              <a:srgbClr val="000000"/>
            </a:solidFill>
            <a:prstDash val="solid"/>
            <a:headEnd type="none" len="sm" w="sm"/>
            <a:tailEnd type="none" len="sm" w="sm"/>
          </a:ln>
        </p:spPr>
      </p:sp>
    </p:spTree>
  </p:cSld>
  <p:clrMapOvr>
    <a:masterClrMapping/>
  </p:clrMapOvr>
</p:sld>
</file>

<file path=ppt/slides/slide10.xml><?xml version="1.0" encoding="utf-8"?>
<p:sld xmlns:p="http://schemas.openxmlformats.org/presentationml/2006/main" xmlns:a="http://schemas.openxmlformats.org/drawingml/2006/main">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1530341" y="2719597"/>
            <a:ext cx="6887933" cy="1661227"/>
          </a:xfrm>
          <a:prstGeom prst="rect">
            <a:avLst/>
          </a:prstGeom>
        </p:spPr>
        <p:txBody>
          <a:bodyPr anchor="t" rtlCol="false" tIns="0" lIns="0" bIns="0" rIns="0">
            <a:spAutoFit/>
          </a:bodyPr>
          <a:lstStyle/>
          <a:p>
            <a:pPr algn="ctr" marL="0" indent="0" lvl="1">
              <a:lnSpc>
                <a:spcPts val="12437"/>
              </a:lnSpc>
              <a:spcBef>
                <a:spcPct val="0"/>
              </a:spcBef>
            </a:pPr>
            <a:r>
              <a:rPr lang="en-US" b="true" sz="12822">
                <a:solidFill>
                  <a:srgbClr val="000000"/>
                </a:solidFill>
                <a:latin typeface="TT Hoves Bold"/>
                <a:ea typeface="TT Hoves Bold"/>
                <a:cs typeface="TT Hoves Bold"/>
                <a:sym typeface="TT Hoves Bold"/>
              </a:rPr>
              <a:t>Phase1</a:t>
            </a:r>
          </a:p>
        </p:txBody>
      </p:sp>
      <p:sp>
        <p:nvSpPr>
          <p:cNvPr name="TextBox 3" id="3"/>
          <p:cNvSpPr txBox="true"/>
          <p:nvPr/>
        </p:nvSpPr>
        <p:spPr>
          <a:xfrm rot="0">
            <a:off x="2387226" y="4786546"/>
            <a:ext cx="6031049" cy="1669483"/>
          </a:xfrm>
          <a:prstGeom prst="rect">
            <a:avLst/>
          </a:prstGeom>
        </p:spPr>
        <p:txBody>
          <a:bodyPr anchor="t" rtlCol="false" tIns="0" lIns="0" bIns="0" rIns="0">
            <a:spAutoFit/>
          </a:bodyPr>
          <a:lstStyle/>
          <a:p>
            <a:pPr algn="l" marL="0" indent="0" lvl="1">
              <a:lnSpc>
                <a:spcPts val="4304"/>
              </a:lnSpc>
              <a:spcBef>
                <a:spcPct val="0"/>
              </a:spcBef>
            </a:pPr>
            <a:r>
              <a:rPr lang="en-US" b="true" sz="4099" spc="-200" strike="noStrike" u="none">
                <a:solidFill>
                  <a:srgbClr val="343434"/>
                </a:solidFill>
                <a:latin typeface="TT Hoves Bold"/>
                <a:ea typeface="TT Hoves Bold"/>
                <a:cs typeface="TT Hoves Bold"/>
                <a:sym typeface="TT Hoves Bold"/>
              </a:rPr>
              <a:t>ETL pipeline development and Data Warehouse architecture</a:t>
            </a:r>
          </a:p>
        </p:txBody>
      </p:sp>
      <p:grpSp>
        <p:nvGrpSpPr>
          <p:cNvPr name="Group 4" id="4"/>
          <p:cNvGrpSpPr/>
          <p:nvPr/>
        </p:nvGrpSpPr>
        <p:grpSpPr>
          <a:xfrm rot="0">
            <a:off x="12151348" y="0"/>
            <a:ext cx="6136652" cy="11878896"/>
            <a:chOff x="0" y="0"/>
            <a:chExt cx="1616238" cy="3128598"/>
          </a:xfrm>
        </p:grpSpPr>
        <p:sp>
          <p:nvSpPr>
            <p:cNvPr name="Freeform 5" id="5"/>
            <p:cNvSpPr/>
            <p:nvPr/>
          </p:nvSpPr>
          <p:spPr>
            <a:xfrm flipH="false" flipV="false" rot="0">
              <a:off x="0" y="0"/>
              <a:ext cx="1616238" cy="3128598"/>
            </a:xfrm>
            <a:custGeom>
              <a:avLst/>
              <a:gdLst/>
              <a:ahLst/>
              <a:cxnLst/>
              <a:rect r="r" b="b" t="t" l="l"/>
              <a:pathLst>
                <a:path h="3128598" w="1616238">
                  <a:moveTo>
                    <a:pt x="0" y="0"/>
                  </a:moveTo>
                  <a:lnTo>
                    <a:pt x="1616238" y="0"/>
                  </a:lnTo>
                  <a:lnTo>
                    <a:pt x="1616238" y="3128598"/>
                  </a:lnTo>
                  <a:lnTo>
                    <a:pt x="0" y="3128598"/>
                  </a:lnTo>
                  <a:close/>
                </a:path>
              </a:pathLst>
            </a:custGeom>
            <a:solidFill>
              <a:srgbClr val="0003FF"/>
            </a:solidFill>
          </p:spPr>
        </p:sp>
        <p:sp>
          <p:nvSpPr>
            <p:cNvPr name="TextBox 6" id="6"/>
            <p:cNvSpPr txBox="true"/>
            <p:nvPr/>
          </p:nvSpPr>
          <p:spPr>
            <a:xfrm>
              <a:off x="0" y="-57150"/>
              <a:ext cx="1616238" cy="318574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57323" y="3630528"/>
            <a:ext cx="5211656" cy="6656472"/>
          </a:xfrm>
          <a:custGeom>
            <a:avLst/>
            <a:gdLst/>
            <a:ahLst/>
            <a:cxnLst/>
            <a:rect r="r" b="b" t="t" l="l"/>
            <a:pathLst>
              <a:path h="6656472" w="5211656">
                <a:moveTo>
                  <a:pt x="0" y="0"/>
                </a:moveTo>
                <a:lnTo>
                  <a:pt x="5211657" y="0"/>
                </a:lnTo>
                <a:lnTo>
                  <a:pt x="5211657" y="6656472"/>
                </a:lnTo>
                <a:lnTo>
                  <a:pt x="0" y="6656472"/>
                </a:lnTo>
                <a:lnTo>
                  <a:pt x="0" y="0"/>
                </a:lnTo>
                <a:close/>
              </a:path>
            </a:pathLst>
          </a:custGeom>
          <a:blipFill>
            <a:blip r:embed="rId2"/>
            <a:stretch>
              <a:fillRect l="0" t="0" r="0" b="0"/>
            </a:stretch>
          </a:blipFill>
        </p:spPr>
      </p:sp>
      <p:sp>
        <p:nvSpPr>
          <p:cNvPr name="AutoShape 3" id="3"/>
          <p:cNvSpPr/>
          <p:nvPr/>
        </p:nvSpPr>
        <p:spPr>
          <a:xfrm flipV="true">
            <a:off x="3906041" y="6782436"/>
            <a:ext cx="1119431" cy="352655"/>
          </a:xfrm>
          <a:prstGeom prst="line">
            <a:avLst/>
          </a:prstGeom>
          <a:ln cap="flat" w="38100">
            <a:solidFill>
              <a:srgbClr val="000000"/>
            </a:solidFill>
            <a:prstDash val="solid"/>
            <a:headEnd type="none" len="sm" w="sm"/>
            <a:tailEnd type="none" len="sm" w="sm"/>
          </a:ln>
        </p:spPr>
      </p:sp>
      <p:sp>
        <p:nvSpPr>
          <p:cNvPr name="Freeform 4" id="4"/>
          <p:cNvSpPr/>
          <p:nvPr/>
        </p:nvSpPr>
        <p:spPr>
          <a:xfrm flipH="false" flipV="false" rot="0">
            <a:off x="5025471" y="6429781"/>
            <a:ext cx="4550391" cy="705311"/>
          </a:xfrm>
          <a:custGeom>
            <a:avLst/>
            <a:gdLst/>
            <a:ahLst/>
            <a:cxnLst/>
            <a:rect r="r" b="b" t="t" l="l"/>
            <a:pathLst>
              <a:path h="705311" w="4550391">
                <a:moveTo>
                  <a:pt x="0" y="0"/>
                </a:moveTo>
                <a:lnTo>
                  <a:pt x="4550391" y="0"/>
                </a:lnTo>
                <a:lnTo>
                  <a:pt x="4550391" y="705311"/>
                </a:lnTo>
                <a:lnTo>
                  <a:pt x="0" y="705311"/>
                </a:lnTo>
                <a:lnTo>
                  <a:pt x="0" y="0"/>
                </a:lnTo>
                <a:close/>
              </a:path>
            </a:pathLst>
          </a:custGeom>
          <a:blipFill>
            <a:blip r:embed="rId3"/>
            <a:stretch>
              <a:fillRect l="0" t="0" r="0" b="0"/>
            </a:stretch>
          </a:blipFill>
        </p:spPr>
      </p:sp>
      <p:sp>
        <p:nvSpPr>
          <p:cNvPr name="AutoShape 5" id="5"/>
          <p:cNvSpPr/>
          <p:nvPr/>
        </p:nvSpPr>
        <p:spPr>
          <a:xfrm flipH="true">
            <a:off x="3900317" y="5523886"/>
            <a:ext cx="1447160" cy="0"/>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0">
            <a:off x="5361340" y="8048354"/>
            <a:ext cx="3801396" cy="1148248"/>
          </a:xfrm>
          <a:custGeom>
            <a:avLst/>
            <a:gdLst/>
            <a:ahLst/>
            <a:cxnLst/>
            <a:rect r="r" b="b" t="t" l="l"/>
            <a:pathLst>
              <a:path h="1148248" w="3801396">
                <a:moveTo>
                  <a:pt x="0" y="0"/>
                </a:moveTo>
                <a:lnTo>
                  <a:pt x="3801395" y="0"/>
                </a:lnTo>
                <a:lnTo>
                  <a:pt x="3801395" y="1148248"/>
                </a:lnTo>
                <a:lnTo>
                  <a:pt x="0" y="1148248"/>
                </a:lnTo>
                <a:lnTo>
                  <a:pt x="0" y="0"/>
                </a:lnTo>
                <a:close/>
              </a:path>
            </a:pathLst>
          </a:custGeom>
          <a:blipFill>
            <a:blip r:embed="rId4"/>
            <a:stretch>
              <a:fillRect l="0" t="0" r="0" b="0"/>
            </a:stretch>
          </a:blipFill>
        </p:spPr>
      </p:sp>
      <p:sp>
        <p:nvSpPr>
          <p:cNvPr name="AutoShape 7" id="7"/>
          <p:cNvSpPr/>
          <p:nvPr/>
        </p:nvSpPr>
        <p:spPr>
          <a:xfrm flipH="true">
            <a:off x="3492914" y="8622478"/>
            <a:ext cx="1868426" cy="172177"/>
          </a:xfrm>
          <a:prstGeom prst="line">
            <a:avLst/>
          </a:prstGeom>
          <a:ln cap="flat" w="38100">
            <a:solidFill>
              <a:srgbClr val="000000"/>
            </a:solidFill>
            <a:prstDash val="solid"/>
            <a:headEnd type="none" len="sm" w="sm"/>
            <a:tailEnd type="none" len="sm" w="sm"/>
          </a:ln>
        </p:spPr>
      </p:sp>
      <p:sp>
        <p:nvSpPr>
          <p:cNvPr name="Freeform 8" id="8"/>
          <p:cNvSpPr/>
          <p:nvPr/>
        </p:nvSpPr>
        <p:spPr>
          <a:xfrm flipH="false" flipV="false" rot="0">
            <a:off x="11608671" y="5593462"/>
            <a:ext cx="11301259" cy="211899"/>
          </a:xfrm>
          <a:custGeom>
            <a:avLst/>
            <a:gdLst/>
            <a:ahLst/>
            <a:cxnLst/>
            <a:rect r="r" b="b" t="t" l="l"/>
            <a:pathLst>
              <a:path h="211899" w="11301259">
                <a:moveTo>
                  <a:pt x="0" y="0"/>
                </a:moveTo>
                <a:lnTo>
                  <a:pt x="11301258" y="0"/>
                </a:lnTo>
                <a:lnTo>
                  <a:pt x="11301258" y="211898"/>
                </a:lnTo>
                <a:lnTo>
                  <a:pt x="0" y="211898"/>
                </a:lnTo>
                <a:lnTo>
                  <a:pt x="0" y="0"/>
                </a:lnTo>
                <a:close/>
              </a:path>
            </a:pathLst>
          </a:custGeom>
          <a:blipFill>
            <a:blip r:embed="rId5"/>
            <a:stretch>
              <a:fillRect l="0" t="0" r="0" b="0"/>
            </a:stretch>
          </a:blipFill>
        </p:spPr>
      </p:sp>
      <p:sp>
        <p:nvSpPr>
          <p:cNvPr name="Freeform 9" id="9"/>
          <p:cNvSpPr/>
          <p:nvPr/>
        </p:nvSpPr>
        <p:spPr>
          <a:xfrm flipH="false" flipV="false" rot="0">
            <a:off x="13731377" y="5699411"/>
            <a:ext cx="5590047" cy="3214877"/>
          </a:xfrm>
          <a:custGeom>
            <a:avLst/>
            <a:gdLst/>
            <a:ahLst/>
            <a:cxnLst/>
            <a:rect r="r" b="b" t="t" l="l"/>
            <a:pathLst>
              <a:path h="3214877" w="5590047">
                <a:moveTo>
                  <a:pt x="0" y="0"/>
                </a:moveTo>
                <a:lnTo>
                  <a:pt x="5590047" y="0"/>
                </a:lnTo>
                <a:lnTo>
                  <a:pt x="5590047" y="3214877"/>
                </a:lnTo>
                <a:lnTo>
                  <a:pt x="0" y="3214877"/>
                </a:lnTo>
                <a:lnTo>
                  <a:pt x="0" y="0"/>
                </a:lnTo>
                <a:close/>
              </a:path>
            </a:pathLst>
          </a:custGeom>
          <a:blipFill>
            <a:blip r:embed="rId6"/>
            <a:stretch>
              <a:fillRect l="0" t="0" r="0" b="0"/>
            </a:stretch>
          </a:blipFill>
        </p:spPr>
      </p:sp>
      <p:sp>
        <p:nvSpPr>
          <p:cNvPr name="Freeform 10" id="10"/>
          <p:cNvSpPr/>
          <p:nvPr/>
        </p:nvSpPr>
        <p:spPr>
          <a:xfrm flipH="false" flipV="false" rot="0">
            <a:off x="11344238" y="1657688"/>
            <a:ext cx="11301259" cy="282531"/>
          </a:xfrm>
          <a:custGeom>
            <a:avLst/>
            <a:gdLst/>
            <a:ahLst/>
            <a:cxnLst/>
            <a:rect r="r" b="b" t="t" l="l"/>
            <a:pathLst>
              <a:path h="282531" w="11301259">
                <a:moveTo>
                  <a:pt x="0" y="0"/>
                </a:moveTo>
                <a:lnTo>
                  <a:pt x="11301259" y="0"/>
                </a:lnTo>
                <a:lnTo>
                  <a:pt x="11301259" y="282531"/>
                </a:lnTo>
                <a:lnTo>
                  <a:pt x="0" y="282531"/>
                </a:lnTo>
                <a:lnTo>
                  <a:pt x="0" y="0"/>
                </a:lnTo>
                <a:close/>
              </a:path>
            </a:pathLst>
          </a:custGeom>
          <a:blipFill>
            <a:blip r:embed="rId7"/>
            <a:stretch>
              <a:fillRect l="0" t="0" r="0" b="0"/>
            </a:stretch>
          </a:blipFill>
        </p:spPr>
      </p:sp>
      <p:sp>
        <p:nvSpPr>
          <p:cNvPr name="Freeform 11" id="11"/>
          <p:cNvSpPr/>
          <p:nvPr/>
        </p:nvSpPr>
        <p:spPr>
          <a:xfrm flipH="false" flipV="false" rot="0">
            <a:off x="13393725" y="2217394"/>
            <a:ext cx="5447697" cy="2412164"/>
          </a:xfrm>
          <a:custGeom>
            <a:avLst/>
            <a:gdLst/>
            <a:ahLst/>
            <a:cxnLst/>
            <a:rect r="r" b="b" t="t" l="l"/>
            <a:pathLst>
              <a:path h="2412164" w="5447697">
                <a:moveTo>
                  <a:pt x="0" y="0"/>
                </a:moveTo>
                <a:lnTo>
                  <a:pt x="5447697" y="0"/>
                </a:lnTo>
                <a:lnTo>
                  <a:pt x="5447697" y="2412164"/>
                </a:lnTo>
                <a:lnTo>
                  <a:pt x="0" y="2412164"/>
                </a:lnTo>
                <a:lnTo>
                  <a:pt x="0" y="0"/>
                </a:lnTo>
                <a:close/>
              </a:path>
            </a:pathLst>
          </a:custGeom>
          <a:blipFill>
            <a:blip r:embed="rId8"/>
            <a:stretch>
              <a:fillRect l="0" t="0" r="0" b="0"/>
            </a:stretch>
          </a:blipFill>
        </p:spPr>
      </p:sp>
      <p:sp>
        <p:nvSpPr>
          <p:cNvPr name="TextBox 12" id="12"/>
          <p:cNvSpPr txBox="true"/>
          <p:nvPr/>
        </p:nvSpPr>
        <p:spPr>
          <a:xfrm rot="0">
            <a:off x="549953" y="502232"/>
            <a:ext cx="5882425" cy="1176761"/>
          </a:xfrm>
          <a:prstGeom prst="rect">
            <a:avLst/>
          </a:prstGeom>
        </p:spPr>
        <p:txBody>
          <a:bodyPr anchor="t" rtlCol="false" tIns="0" lIns="0" bIns="0" rIns="0">
            <a:spAutoFit/>
          </a:bodyPr>
          <a:lstStyle/>
          <a:p>
            <a:pPr algn="l" marL="0" indent="0" lvl="1">
              <a:lnSpc>
                <a:spcPts val="8995"/>
              </a:lnSpc>
              <a:spcBef>
                <a:spcPct val="0"/>
              </a:spcBef>
            </a:pPr>
            <a:r>
              <a:rPr lang="en-US" b="true" sz="8567" spc="-419">
                <a:solidFill>
                  <a:srgbClr val="343434"/>
                </a:solidFill>
                <a:latin typeface="TT Hoves Bold"/>
                <a:ea typeface="TT Hoves Bold"/>
                <a:cs typeface="TT Hoves Bold"/>
                <a:sym typeface="TT Hoves Bold"/>
              </a:rPr>
              <a:t>initialization</a:t>
            </a:r>
          </a:p>
        </p:txBody>
      </p:sp>
      <p:sp>
        <p:nvSpPr>
          <p:cNvPr name="TextBox 13" id="1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11</a:t>
            </a:r>
          </a:p>
        </p:txBody>
      </p:sp>
      <p:sp>
        <p:nvSpPr>
          <p:cNvPr name="TextBox 14" id="14"/>
          <p:cNvSpPr txBox="true"/>
          <p:nvPr/>
        </p:nvSpPr>
        <p:spPr>
          <a:xfrm rot="0">
            <a:off x="5347477" y="5227953"/>
            <a:ext cx="2885753" cy="620441"/>
          </a:xfrm>
          <a:prstGeom prst="rect">
            <a:avLst/>
          </a:prstGeom>
        </p:spPr>
        <p:txBody>
          <a:bodyPr anchor="t" rtlCol="false" tIns="0" lIns="0" bIns="0" rIns="0">
            <a:spAutoFit/>
          </a:bodyPr>
          <a:lstStyle/>
          <a:p>
            <a:pPr algn="l" marL="0" indent="0" lvl="1">
              <a:lnSpc>
                <a:spcPts val="2385"/>
              </a:lnSpc>
              <a:spcBef>
                <a:spcPct val="0"/>
              </a:spcBef>
            </a:pPr>
            <a:r>
              <a:rPr lang="en-US" b="true" sz="2272" spc="-111" strike="noStrike" u="none">
                <a:solidFill>
                  <a:srgbClr val="343434"/>
                </a:solidFill>
                <a:latin typeface="TT Hoves Bold"/>
                <a:ea typeface="TT Hoves Bold"/>
                <a:cs typeface="TT Hoves Bold"/>
                <a:sym typeface="TT Hoves Bold"/>
              </a:rPr>
              <a:t>Mechanism of loading (Initial , incremental)</a:t>
            </a:r>
          </a:p>
        </p:txBody>
      </p:sp>
      <p:sp>
        <p:nvSpPr>
          <p:cNvPr name="AutoShape 15" id="15"/>
          <p:cNvSpPr/>
          <p:nvPr/>
        </p:nvSpPr>
        <p:spPr>
          <a:xfrm>
            <a:off x="10503800" y="2993673"/>
            <a:ext cx="2889926" cy="429802"/>
          </a:xfrm>
          <a:prstGeom prst="line">
            <a:avLst/>
          </a:prstGeom>
          <a:ln cap="flat" w="38100">
            <a:solidFill>
              <a:srgbClr val="000000"/>
            </a:solidFill>
            <a:prstDash val="solid"/>
            <a:headEnd type="none" len="sm" w="sm"/>
            <a:tailEnd type="none" len="sm" w="sm"/>
          </a:ln>
        </p:spPr>
      </p:sp>
      <p:sp>
        <p:nvSpPr>
          <p:cNvPr name="AutoShape 16" id="16"/>
          <p:cNvSpPr/>
          <p:nvPr/>
        </p:nvSpPr>
        <p:spPr>
          <a:xfrm flipV="true">
            <a:off x="10503800" y="1798953"/>
            <a:ext cx="840439" cy="1194720"/>
          </a:xfrm>
          <a:prstGeom prst="line">
            <a:avLst/>
          </a:prstGeom>
          <a:ln cap="flat" w="38100">
            <a:solidFill>
              <a:srgbClr val="000000"/>
            </a:solidFill>
            <a:prstDash val="solid"/>
            <a:headEnd type="none" len="sm" w="sm"/>
            <a:tailEnd type="none" len="sm" w="sm"/>
          </a:ln>
        </p:spPr>
      </p:sp>
      <p:sp>
        <p:nvSpPr>
          <p:cNvPr name="TextBox 17" id="17"/>
          <p:cNvSpPr txBox="true"/>
          <p:nvPr/>
        </p:nvSpPr>
        <p:spPr>
          <a:xfrm rot="0">
            <a:off x="9792268" y="2640071"/>
            <a:ext cx="711531" cy="783405"/>
          </a:xfrm>
          <a:prstGeom prst="rect">
            <a:avLst/>
          </a:prstGeom>
        </p:spPr>
        <p:txBody>
          <a:bodyPr anchor="t" rtlCol="false" tIns="0" lIns="0" bIns="0" rIns="0">
            <a:spAutoFit/>
          </a:bodyPr>
          <a:lstStyle/>
          <a:p>
            <a:pPr algn="l" marL="0" indent="0" lvl="1">
              <a:lnSpc>
                <a:spcPts val="5936"/>
              </a:lnSpc>
              <a:spcBef>
                <a:spcPct val="0"/>
              </a:spcBef>
            </a:pPr>
            <a:r>
              <a:rPr lang="en-US" b="true" sz="5653" spc="-277" strike="noStrike" u="none">
                <a:solidFill>
                  <a:srgbClr val="343434"/>
                </a:solidFill>
                <a:latin typeface="TT Hoves Bold"/>
                <a:ea typeface="TT Hoves Bold"/>
                <a:cs typeface="TT Hoves Bold"/>
                <a:sym typeface="TT Hoves Bold"/>
              </a:rPr>
              <a:t>V1</a:t>
            </a:r>
          </a:p>
        </p:txBody>
      </p:sp>
      <p:sp>
        <p:nvSpPr>
          <p:cNvPr name="AutoShape 18" id="18"/>
          <p:cNvSpPr/>
          <p:nvPr/>
        </p:nvSpPr>
        <p:spPr>
          <a:xfrm flipV="true">
            <a:off x="11312705" y="5699411"/>
            <a:ext cx="295966" cy="1194106"/>
          </a:xfrm>
          <a:prstGeom prst="line">
            <a:avLst/>
          </a:prstGeom>
          <a:ln cap="flat" w="38100">
            <a:solidFill>
              <a:srgbClr val="000000"/>
            </a:solidFill>
            <a:prstDash val="solid"/>
            <a:headEnd type="none" len="sm" w="sm"/>
            <a:tailEnd type="none" len="sm" w="sm"/>
          </a:ln>
        </p:spPr>
      </p:sp>
      <p:sp>
        <p:nvSpPr>
          <p:cNvPr name="AutoShape 19" id="19"/>
          <p:cNvSpPr/>
          <p:nvPr/>
        </p:nvSpPr>
        <p:spPr>
          <a:xfrm>
            <a:off x="11312705" y="6893517"/>
            <a:ext cx="2418672" cy="413333"/>
          </a:xfrm>
          <a:prstGeom prst="line">
            <a:avLst/>
          </a:prstGeom>
          <a:ln cap="flat" w="38100">
            <a:solidFill>
              <a:srgbClr val="000000"/>
            </a:solidFill>
            <a:prstDash val="solid"/>
            <a:headEnd type="none" len="sm" w="sm"/>
            <a:tailEnd type="none" len="sm" w="sm"/>
          </a:ln>
        </p:spPr>
      </p:sp>
      <p:sp>
        <p:nvSpPr>
          <p:cNvPr name="TextBox 20" id="20"/>
          <p:cNvSpPr txBox="true"/>
          <p:nvPr/>
        </p:nvSpPr>
        <p:spPr>
          <a:xfrm rot="0">
            <a:off x="10503800" y="6556384"/>
            <a:ext cx="808905" cy="750465"/>
          </a:xfrm>
          <a:prstGeom prst="rect">
            <a:avLst/>
          </a:prstGeom>
        </p:spPr>
        <p:txBody>
          <a:bodyPr anchor="t" rtlCol="false" tIns="0" lIns="0" bIns="0" rIns="0">
            <a:spAutoFit/>
          </a:bodyPr>
          <a:lstStyle/>
          <a:p>
            <a:pPr algn="l" marL="0" indent="0" lvl="1">
              <a:lnSpc>
                <a:spcPts val="5701"/>
              </a:lnSpc>
              <a:spcBef>
                <a:spcPct val="0"/>
              </a:spcBef>
            </a:pPr>
            <a:r>
              <a:rPr lang="en-US" b="true" sz="5430" spc="-266" strike="noStrike" u="none">
                <a:solidFill>
                  <a:srgbClr val="343434"/>
                </a:solidFill>
                <a:latin typeface="TT Hoves Bold"/>
                <a:ea typeface="TT Hoves Bold"/>
                <a:cs typeface="TT Hoves Bold"/>
                <a:sym typeface="TT Hoves Bold"/>
              </a:rPr>
              <a:t>V2</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8000664" y="154846"/>
            <a:ext cx="3751262" cy="5453757"/>
          </a:xfrm>
          <a:custGeom>
            <a:avLst/>
            <a:gdLst/>
            <a:ahLst/>
            <a:cxnLst/>
            <a:rect r="r" b="b" t="t" l="l"/>
            <a:pathLst>
              <a:path h="5453757" w="3751262">
                <a:moveTo>
                  <a:pt x="0" y="0"/>
                </a:moveTo>
                <a:lnTo>
                  <a:pt x="3751262" y="0"/>
                </a:lnTo>
                <a:lnTo>
                  <a:pt x="3751262" y="5453757"/>
                </a:lnTo>
                <a:lnTo>
                  <a:pt x="0" y="5453757"/>
                </a:lnTo>
                <a:lnTo>
                  <a:pt x="0" y="0"/>
                </a:lnTo>
                <a:close/>
              </a:path>
            </a:pathLst>
          </a:custGeom>
          <a:blipFill>
            <a:blip r:embed="rId2"/>
            <a:stretch>
              <a:fillRect l="0" t="0" r="0" b="0"/>
            </a:stretch>
          </a:blipFill>
        </p:spPr>
      </p:sp>
      <p:sp>
        <p:nvSpPr>
          <p:cNvPr name="AutoShape 3" id="3"/>
          <p:cNvSpPr/>
          <p:nvPr/>
        </p:nvSpPr>
        <p:spPr>
          <a:xfrm>
            <a:off x="11350664" y="2881725"/>
            <a:ext cx="1664856" cy="889590"/>
          </a:xfrm>
          <a:prstGeom prst="line">
            <a:avLst/>
          </a:prstGeom>
          <a:ln cap="flat" w="38100">
            <a:solidFill>
              <a:srgbClr val="000000"/>
            </a:solidFill>
            <a:prstDash val="solid"/>
            <a:headEnd type="none" len="sm" w="sm"/>
            <a:tailEnd type="none" len="sm" w="sm"/>
          </a:ln>
        </p:spPr>
      </p:sp>
      <p:sp>
        <p:nvSpPr>
          <p:cNvPr name="Freeform 4" id="4"/>
          <p:cNvSpPr/>
          <p:nvPr/>
        </p:nvSpPr>
        <p:spPr>
          <a:xfrm flipH="false" flipV="false" rot="0">
            <a:off x="13015521" y="3015761"/>
            <a:ext cx="5242693" cy="2408304"/>
          </a:xfrm>
          <a:custGeom>
            <a:avLst/>
            <a:gdLst/>
            <a:ahLst/>
            <a:cxnLst/>
            <a:rect r="r" b="b" t="t" l="l"/>
            <a:pathLst>
              <a:path h="2408304" w="5242693">
                <a:moveTo>
                  <a:pt x="0" y="0"/>
                </a:moveTo>
                <a:lnTo>
                  <a:pt x="5242692" y="0"/>
                </a:lnTo>
                <a:lnTo>
                  <a:pt x="5242692" y="2408304"/>
                </a:lnTo>
                <a:lnTo>
                  <a:pt x="0" y="2408304"/>
                </a:lnTo>
                <a:lnTo>
                  <a:pt x="0" y="0"/>
                </a:lnTo>
                <a:close/>
              </a:path>
            </a:pathLst>
          </a:custGeom>
          <a:blipFill>
            <a:blip r:embed="rId3"/>
            <a:stretch>
              <a:fillRect l="0" t="0" r="0" b="0"/>
            </a:stretch>
          </a:blipFill>
        </p:spPr>
      </p:sp>
      <p:sp>
        <p:nvSpPr>
          <p:cNvPr name="AutoShape 5" id="5"/>
          <p:cNvSpPr/>
          <p:nvPr/>
        </p:nvSpPr>
        <p:spPr>
          <a:xfrm flipH="true">
            <a:off x="8450949" y="4845009"/>
            <a:ext cx="1425346" cy="900567"/>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0">
            <a:off x="3085800" y="5745576"/>
            <a:ext cx="9805016" cy="3785922"/>
          </a:xfrm>
          <a:custGeom>
            <a:avLst/>
            <a:gdLst/>
            <a:ahLst/>
            <a:cxnLst/>
            <a:rect r="r" b="b" t="t" l="l"/>
            <a:pathLst>
              <a:path h="3785922" w="9805016">
                <a:moveTo>
                  <a:pt x="0" y="0"/>
                </a:moveTo>
                <a:lnTo>
                  <a:pt x="9805016" y="0"/>
                </a:lnTo>
                <a:lnTo>
                  <a:pt x="9805016" y="3785922"/>
                </a:lnTo>
                <a:lnTo>
                  <a:pt x="0" y="3785922"/>
                </a:lnTo>
                <a:lnTo>
                  <a:pt x="0" y="0"/>
                </a:lnTo>
                <a:close/>
              </a:path>
            </a:pathLst>
          </a:custGeom>
          <a:blipFill>
            <a:blip r:embed="rId4"/>
            <a:stretch>
              <a:fillRect l="0" t="0" r="-15259" b="0"/>
            </a:stretch>
          </a:blipFill>
        </p:spPr>
      </p:sp>
      <p:sp>
        <p:nvSpPr>
          <p:cNvPr name="AutoShape 7" id="7"/>
          <p:cNvSpPr/>
          <p:nvPr/>
        </p:nvSpPr>
        <p:spPr>
          <a:xfrm flipH="true">
            <a:off x="4099221" y="5132836"/>
            <a:ext cx="807593" cy="1195497"/>
          </a:xfrm>
          <a:prstGeom prst="line">
            <a:avLst/>
          </a:prstGeom>
          <a:ln cap="flat" w="38100">
            <a:solidFill>
              <a:srgbClr val="000000"/>
            </a:solidFill>
            <a:prstDash val="solid"/>
            <a:headEnd type="none" len="sm" w="sm"/>
            <a:tailEnd type="none" len="sm" w="sm"/>
          </a:ln>
        </p:spPr>
      </p:sp>
      <p:sp>
        <p:nvSpPr>
          <p:cNvPr name="AutoShape 8" id="8"/>
          <p:cNvSpPr/>
          <p:nvPr/>
        </p:nvSpPr>
        <p:spPr>
          <a:xfrm>
            <a:off x="2488193" y="6822540"/>
            <a:ext cx="979196" cy="587621"/>
          </a:xfrm>
          <a:prstGeom prst="line">
            <a:avLst/>
          </a:prstGeom>
          <a:ln cap="flat" w="38100">
            <a:solidFill>
              <a:srgbClr val="000000"/>
            </a:solidFill>
            <a:prstDash val="solid"/>
            <a:headEnd type="none" len="sm" w="sm"/>
            <a:tailEnd type="none" len="sm" w="sm"/>
          </a:ln>
        </p:spPr>
      </p:sp>
      <p:sp>
        <p:nvSpPr>
          <p:cNvPr name="Freeform 9" id="9"/>
          <p:cNvSpPr/>
          <p:nvPr/>
        </p:nvSpPr>
        <p:spPr>
          <a:xfrm flipH="false" flipV="false" rot="0">
            <a:off x="13314026" y="1028700"/>
            <a:ext cx="4164737" cy="1275451"/>
          </a:xfrm>
          <a:custGeom>
            <a:avLst/>
            <a:gdLst/>
            <a:ahLst/>
            <a:cxnLst/>
            <a:rect r="r" b="b" t="t" l="l"/>
            <a:pathLst>
              <a:path h="1275451" w="4164737">
                <a:moveTo>
                  <a:pt x="0" y="0"/>
                </a:moveTo>
                <a:lnTo>
                  <a:pt x="4164737" y="0"/>
                </a:lnTo>
                <a:lnTo>
                  <a:pt x="4164737" y="1275451"/>
                </a:lnTo>
                <a:lnTo>
                  <a:pt x="0" y="1275451"/>
                </a:lnTo>
                <a:lnTo>
                  <a:pt x="0" y="0"/>
                </a:lnTo>
                <a:close/>
              </a:path>
            </a:pathLst>
          </a:custGeom>
          <a:blipFill>
            <a:blip r:embed="rId5"/>
            <a:stretch>
              <a:fillRect l="0" t="0" r="0" b="0"/>
            </a:stretch>
          </a:blipFill>
        </p:spPr>
      </p:sp>
      <p:sp>
        <p:nvSpPr>
          <p:cNvPr name="TextBox 10" id="10"/>
          <p:cNvSpPr txBox="true"/>
          <p:nvPr/>
        </p:nvSpPr>
        <p:spPr>
          <a:xfrm rot="0">
            <a:off x="642500" y="152400"/>
            <a:ext cx="7358164" cy="4319904"/>
          </a:xfrm>
          <a:prstGeom prst="rect">
            <a:avLst/>
          </a:prstGeom>
        </p:spPr>
        <p:txBody>
          <a:bodyPr anchor="t" rtlCol="false" tIns="0" lIns="0" bIns="0" rIns="0">
            <a:spAutoFit/>
          </a:bodyPr>
          <a:lstStyle/>
          <a:p>
            <a:pPr algn="l" marL="0" indent="0" lvl="1">
              <a:lnSpc>
                <a:spcPts val="11252"/>
              </a:lnSpc>
              <a:spcBef>
                <a:spcPct val="0"/>
              </a:spcBef>
            </a:pPr>
            <a:r>
              <a:rPr lang="en-US" b="true" sz="10716" spc="-525" strike="noStrike" u="none">
                <a:solidFill>
                  <a:srgbClr val="343434"/>
                </a:solidFill>
                <a:latin typeface="TT Hoves Bold"/>
                <a:ea typeface="TT Hoves Bold"/>
                <a:cs typeface="TT Hoves Bold"/>
                <a:sym typeface="TT Hoves Bold"/>
              </a:rPr>
              <a:t>Load Staging in details</a:t>
            </a:r>
          </a:p>
        </p:txBody>
      </p:sp>
      <p:sp>
        <p:nvSpPr>
          <p:cNvPr name="TextBox 11" id="11"/>
          <p:cNvSpPr txBox="true"/>
          <p:nvPr/>
        </p:nvSpPr>
        <p:spPr>
          <a:xfrm rot="0">
            <a:off x="3858301" y="4873584"/>
            <a:ext cx="2097026" cy="259253"/>
          </a:xfrm>
          <a:prstGeom prst="rect">
            <a:avLst/>
          </a:prstGeom>
        </p:spPr>
        <p:txBody>
          <a:bodyPr anchor="t" rtlCol="false" tIns="0" lIns="0" bIns="0" rIns="0">
            <a:spAutoFit/>
          </a:bodyPr>
          <a:lstStyle/>
          <a:p>
            <a:pPr algn="l" marL="0" indent="0" lvl="1">
              <a:lnSpc>
                <a:spcPts val="1834"/>
              </a:lnSpc>
              <a:spcBef>
                <a:spcPct val="0"/>
              </a:spcBef>
            </a:pPr>
            <a:r>
              <a:rPr lang="en-US" b="true" sz="1891" spc="-88" strike="noStrike" u="none">
                <a:solidFill>
                  <a:srgbClr val="000000"/>
                </a:solidFill>
                <a:latin typeface="TT Hoves Bold"/>
                <a:ea typeface="TT Hoves Bold"/>
                <a:cs typeface="TT Hoves Bold"/>
                <a:sym typeface="TT Hoves Bold"/>
              </a:rPr>
              <a:t>Data Source (OLTP)</a:t>
            </a:r>
          </a:p>
        </p:txBody>
      </p:sp>
      <p:sp>
        <p:nvSpPr>
          <p:cNvPr name="TextBox 12" id="12"/>
          <p:cNvSpPr txBox="true"/>
          <p:nvPr/>
        </p:nvSpPr>
        <p:spPr>
          <a:xfrm rot="0">
            <a:off x="1028700" y="6505634"/>
            <a:ext cx="2295670" cy="316906"/>
          </a:xfrm>
          <a:prstGeom prst="rect">
            <a:avLst/>
          </a:prstGeom>
        </p:spPr>
        <p:txBody>
          <a:bodyPr anchor="t" rtlCol="false" tIns="0" lIns="0" bIns="0" rIns="0">
            <a:spAutoFit/>
          </a:bodyPr>
          <a:lstStyle/>
          <a:p>
            <a:pPr algn="l" marL="0" indent="0" lvl="1">
              <a:lnSpc>
                <a:spcPts val="2389"/>
              </a:lnSpc>
              <a:spcBef>
                <a:spcPct val="0"/>
              </a:spcBef>
            </a:pPr>
            <a:r>
              <a:rPr lang="en-US" b="true" sz="2463" spc="-115" strike="noStrike" u="none">
                <a:solidFill>
                  <a:srgbClr val="000000"/>
                </a:solidFill>
                <a:latin typeface="TT Hoves Bold"/>
                <a:ea typeface="TT Hoves Bold"/>
                <a:cs typeface="TT Hoves Bold"/>
                <a:sym typeface="TT Hoves Bold"/>
              </a:rPr>
              <a:t>Data</a:t>
            </a:r>
            <a:r>
              <a:rPr lang="en-US" b="true" sz="2463" spc="-115" strike="noStrike" u="none">
                <a:solidFill>
                  <a:srgbClr val="000000"/>
                </a:solidFill>
                <a:latin typeface="TT Hoves Bold"/>
                <a:ea typeface="TT Hoves Bold"/>
                <a:cs typeface="TT Hoves Bold"/>
                <a:sym typeface="TT Hoves Bold"/>
              </a:rPr>
              <a:t> Destnation</a:t>
            </a:r>
            <a:r>
              <a:rPr lang="en-US" b="true" sz="2463" spc="-115" strike="noStrike" u="none">
                <a:solidFill>
                  <a:srgbClr val="000000"/>
                </a:solidFill>
                <a:latin typeface="TT Hoves Bold"/>
                <a:ea typeface="TT Hoves Bold"/>
                <a:cs typeface="TT Hoves Bold"/>
                <a:sym typeface="TT Hoves Bold"/>
              </a:rPr>
              <a:t> </a:t>
            </a:r>
          </a:p>
        </p:txBody>
      </p:sp>
      <p:sp>
        <p:nvSpPr>
          <p:cNvPr name="AutoShape 13" id="13"/>
          <p:cNvSpPr/>
          <p:nvPr/>
        </p:nvSpPr>
        <p:spPr>
          <a:xfrm flipV="true">
            <a:off x="11350664" y="1666425"/>
            <a:ext cx="1963361" cy="0"/>
          </a:xfrm>
          <a:prstGeom prst="line">
            <a:avLst/>
          </a:prstGeom>
          <a:ln cap="flat" w="38100">
            <a:solidFill>
              <a:srgbClr val="000000"/>
            </a:solidFill>
            <a:prstDash val="solid"/>
            <a:headEnd type="none" len="sm" w="sm"/>
            <a:tailEnd type="none" len="sm" w="sm"/>
          </a:ln>
        </p:spPr>
      </p:sp>
      <p:sp>
        <p:nvSpPr>
          <p:cNvPr name="TextBox 14" id="1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3598908" y="5004532"/>
            <a:ext cx="13948012" cy="3340777"/>
          </a:xfrm>
          <a:custGeom>
            <a:avLst/>
            <a:gdLst/>
            <a:ahLst/>
            <a:cxnLst/>
            <a:rect r="r" b="b" t="t" l="l"/>
            <a:pathLst>
              <a:path h="3340777" w="13948012">
                <a:moveTo>
                  <a:pt x="0" y="0"/>
                </a:moveTo>
                <a:lnTo>
                  <a:pt x="13948013" y="0"/>
                </a:lnTo>
                <a:lnTo>
                  <a:pt x="13948013" y="3340777"/>
                </a:lnTo>
                <a:lnTo>
                  <a:pt x="0" y="3340777"/>
                </a:lnTo>
                <a:lnTo>
                  <a:pt x="0" y="0"/>
                </a:lnTo>
                <a:close/>
              </a:path>
            </a:pathLst>
          </a:custGeom>
          <a:blipFill>
            <a:blip r:embed="rId2"/>
            <a:stretch>
              <a:fillRect l="-3531" t="0" r="-4724" b="0"/>
            </a:stretch>
          </a:blipFill>
        </p:spPr>
      </p:sp>
      <p:sp>
        <p:nvSpPr>
          <p:cNvPr name="TextBox 3" id="3"/>
          <p:cNvSpPr txBox="true"/>
          <p:nvPr/>
        </p:nvSpPr>
        <p:spPr>
          <a:xfrm rot="-5400000">
            <a:off x="15959685" y="8154051"/>
            <a:ext cx="3117321" cy="448311"/>
          </a:xfrm>
          <a:prstGeom prst="rect">
            <a:avLst/>
          </a:prstGeom>
        </p:spPr>
        <p:txBody>
          <a:bodyPr anchor="t" rtlCol="false" tIns="0" lIns="0" bIns="0" rIns="0">
            <a:spAutoFit/>
          </a:bodyPr>
          <a:lstStyle/>
          <a:p>
            <a:pPr algn="just">
              <a:lnSpc>
                <a:spcPts val="3639"/>
              </a:lnSpc>
              <a:spcBef>
                <a:spcPct val="0"/>
              </a:spcBef>
            </a:pPr>
            <a:r>
              <a:rPr lang="en-US" sz="2599">
                <a:solidFill>
                  <a:srgbClr val="EFEFEF"/>
                </a:solidFill>
                <a:latin typeface="TT Hoves"/>
                <a:ea typeface="TT Hoves"/>
                <a:cs typeface="TT Hoves"/>
                <a:sym typeface="TT Hoves"/>
              </a:rPr>
              <a:t>Thynk Unlimited</a:t>
            </a:r>
          </a:p>
        </p:txBody>
      </p:sp>
      <p:sp>
        <p:nvSpPr>
          <p:cNvPr name="TextBox 4" id="4"/>
          <p:cNvSpPr txBox="true"/>
          <p:nvPr/>
        </p:nvSpPr>
        <p:spPr>
          <a:xfrm rot="-5400000">
            <a:off x="15959685" y="2386223"/>
            <a:ext cx="3117321" cy="448311"/>
          </a:xfrm>
          <a:prstGeom prst="rect">
            <a:avLst/>
          </a:prstGeom>
        </p:spPr>
        <p:txBody>
          <a:bodyPr anchor="t" rtlCol="false" tIns="0" lIns="0" bIns="0" rIns="0">
            <a:spAutoFit/>
          </a:bodyPr>
          <a:lstStyle/>
          <a:p>
            <a:pPr algn="r">
              <a:lnSpc>
                <a:spcPts val="3639"/>
              </a:lnSpc>
              <a:spcBef>
                <a:spcPct val="0"/>
              </a:spcBef>
            </a:pPr>
            <a:r>
              <a:rPr lang="en-US" sz="2599">
                <a:solidFill>
                  <a:srgbClr val="EFEFEF"/>
                </a:solidFill>
                <a:latin typeface="TT Hoves"/>
                <a:ea typeface="TT Hoves"/>
                <a:cs typeface="TT Hoves"/>
                <a:sym typeface="TT Hoves"/>
              </a:rPr>
              <a:t>Presentation 2024</a:t>
            </a:r>
          </a:p>
        </p:txBody>
      </p:sp>
      <p:sp>
        <p:nvSpPr>
          <p:cNvPr name="TextBox 5" id="5"/>
          <p:cNvSpPr txBox="true"/>
          <p:nvPr/>
        </p:nvSpPr>
        <p:spPr>
          <a:xfrm rot="-5400000">
            <a:off x="16815216" y="5270137"/>
            <a:ext cx="1406261" cy="448311"/>
          </a:xfrm>
          <a:prstGeom prst="rect">
            <a:avLst/>
          </a:prstGeom>
        </p:spPr>
        <p:txBody>
          <a:bodyPr anchor="t" rtlCol="false" tIns="0" lIns="0" bIns="0" rIns="0">
            <a:spAutoFit/>
          </a:bodyPr>
          <a:lstStyle/>
          <a:p>
            <a:pPr algn="ctr">
              <a:lnSpc>
                <a:spcPts val="3639"/>
              </a:lnSpc>
              <a:spcBef>
                <a:spcPct val="0"/>
              </a:spcBef>
            </a:pPr>
            <a:r>
              <a:rPr lang="en-US" sz="2599">
                <a:solidFill>
                  <a:srgbClr val="EFEFEF"/>
                </a:solidFill>
                <a:latin typeface="TT Hoves"/>
                <a:ea typeface="TT Hoves"/>
                <a:cs typeface="TT Hoves"/>
                <a:sym typeface="TT Hoves"/>
              </a:rPr>
              <a:t>-</a:t>
            </a:r>
          </a:p>
        </p:txBody>
      </p:sp>
      <p:sp>
        <p:nvSpPr>
          <p:cNvPr name="TextBox 6" id="6"/>
          <p:cNvSpPr txBox="true"/>
          <p:nvPr/>
        </p:nvSpPr>
        <p:spPr>
          <a:xfrm rot="0">
            <a:off x="310472" y="466725"/>
            <a:ext cx="4714343" cy="3227716"/>
          </a:xfrm>
          <a:prstGeom prst="rect">
            <a:avLst/>
          </a:prstGeom>
        </p:spPr>
        <p:txBody>
          <a:bodyPr anchor="t" rtlCol="false" tIns="0" lIns="0" bIns="0" rIns="0">
            <a:spAutoFit/>
          </a:bodyPr>
          <a:lstStyle/>
          <a:p>
            <a:pPr algn="l" marL="0" indent="0" lvl="1">
              <a:lnSpc>
                <a:spcPts val="8385"/>
              </a:lnSpc>
              <a:spcBef>
                <a:spcPct val="0"/>
              </a:spcBef>
            </a:pPr>
            <a:r>
              <a:rPr lang="en-US" b="true" sz="7986" spc="-391" strike="noStrike" u="none">
                <a:solidFill>
                  <a:srgbClr val="343434"/>
                </a:solidFill>
                <a:latin typeface="TT Hoves Bold"/>
                <a:ea typeface="TT Hoves Bold"/>
                <a:cs typeface="TT Hoves Bold"/>
                <a:sym typeface="TT Hoves Bold"/>
              </a:rPr>
              <a:t>Customer Dimension in details</a:t>
            </a:r>
          </a:p>
        </p:txBody>
      </p:sp>
      <p:sp>
        <p:nvSpPr>
          <p:cNvPr name="AutoShape 7" id="7"/>
          <p:cNvSpPr/>
          <p:nvPr/>
        </p:nvSpPr>
        <p:spPr>
          <a:xfrm flipV="true">
            <a:off x="7665216" y="4497066"/>
            <a:ext cx="601182" cy="997227"/>
          </a:xfrm>
          <a:prstGeom prst="line">
            <a:avLst/>
          </a:prstGeom>
          <a:ln cap="flat" w="38100">
            <a:solidFill>
              <a:srgbClr val="000000"/>
            </a:solidFill>
            <a:prstDash val="solid"/>
            <a:headEnd type="none" len="sm" w="sm"/>
            <a:tailEnd type="none" len="sm" w="sm"/>
          </a:ln>
        </p:spPr>
      </p:sp>
      <p:sp>
        <p:nvSpPr>
          <p:cNvPr name="TextBox 8" id="8"/>
          <p:cNvSpPr txBox="true"/>
          <p:nvPr/>
        </p:nvSpPr>
        <p:spPr>
          <a:xfrm rot="0">
            <a:off x="7665216" y="3935633"/>
            <a:ext cx="1983615" cy="561432"/>
          </a:xfrm>
          <a:prstGeom prst="rect">
            <a:avLst/>
          </a:prstGeom>
        </p:spPr>
        <p:txBody>
          <a:bodyPr anchor="t" rtlCol="false" tIns="0" lIns="0" bIns="0" rIns="0">
            <a:spAutoFit/>
          </a:bodyPr>
          <a:lstStyle/>
          <a:p>
            <a:pPr algn="l" marL="0" indent="0" lvl="1">
              <a:lnSpc>
                <a:spcPts val="1435"/>
              </a:lnSpc>
              <a:spcBef>
                <a:spcPct val="0"/>
              </a:spcBef>
            </a:pPr>
            <a:r>
              <a:rPr lang="en-US" b="true" sz="1480" spc="-69" strike="noStrike" u="none">
                <a:solidFill>
                  <a:srgbClr val="000000"/>
                </a:solidFill>
                <a:latin typeface="TT Hoves Bold"/>
                <a:ea typeface="TT Hoves Bold"/>
                <a:cs typeface="TT Hoves Bold"/>
                <a:sym typeface="TT Hoves Bold"/>
              </a:rPr>
              <a:t>Merging FirstName,Lastname into fullanme</a:t>
            </a:r>
          </a:p>
        </p:txBody>
      </p:sp>
      <p:sp>
        <p:nvSpPr>
          <p:cNvPr name="AutoShape 9" id="9"/>
          <p:cNvSpPr/>
          <p:nvPr/>
        </p:nvSpPr>
        <p:spPr>
          <a:xfrm flipV="true">
            <a:off x="6608533" y="8345309"/>
            <a:ext cx="763440" cy="511577"/>
          </a:xfrm>
          <a:prstGeom prst="line">
            <a:avLst/>
          </a:prstGeom>
          <a:ln cap="flat" w="38100">
            <a:solidFill>
              <a:srgbClr val="000000"/>
            </a:solidFill>
            <a:prstDash val="solid"/>
            <a:headEnd type="none" len="sm" w="sm"/>
            <a:tailEnd type="none" len="sm" w="sm"/>
          </a:ln>
        </p:spPr>
      </p:sp>
      <p:sp>
        <p:nvSpPr>
          <p:cNvPr name="TextBox 10" id="10"/>
          <p:cNvSpPr txBox="true"/>
          <p:nvPr/>
        </p:nvSpPr>
        <p:spPr>
          <a:xfrm rot="0">
            <a:off x="5297555" y="8885461"/>
            <a:ext cx="2074673" cy="372839"/>
          </a:xfrm>
          <a:prstGeom prst="rect">
            <a:avLst/>
          </a:prstGeom>
        </p:spPr>
        <p:txBody>
          <a:bodyPr anchor="t" rtlCol="false" tIns="0" lIns="0" bIns="0" rIns="0">
            <a:spAutoFit/>
          </a:bodyPr>
          <a:lstStyle/>
          <a:p>
            <a:pPr algn="l" marL="0" indent="0" lvl="1">
              <a:lnSpc>
                <a:spcPts val="1435"/>
              </a:lnSpc>
              <a:spcBef>
                <a:spcPct val="0"/>
              </a:spcBef>
            </a:pPr>
            <a:r>
              <a:rPr lang="en-US" b="true" sz="1480" spc="-69" strike="noStrike" u="none">
                <a:solidFill>
                  <a:srgbClr val="000000"/>
                </a:solidFill>
                <a:latin typeface="TT Hoves Bold"/>
                <a:ea typeface="TT Hoves Bold"/>
                <a:cs typeface="TT Hoves Bold"/>
                <a:sym typeface="TT Hoves Bold"/>
              </a:rPr>
              <a:t>Selecting only type office “Main Office”</a:t>
            </a:r>
          </a:p>
        </p:txBody>
      </p:sp>
      <p:sp>
        <p:nvSpPr>
          <p:cNvPr name="AutoShape 11" id="11"/>
          <p:cNvSpPr/>
          <p:nvPr/>
        </p:nvSpPr>
        <p:spPr>
          <a:xfrm flipH="true">
            <a:off x="16107479" y="4592727"/>
            <a:ext cx="667431" cy="737348"/>
          </a:xfrm>
          <a:prstGeom prst="line">
            <a:avLst/>
          </a:prstGeom>
          <a:ln cap="flat" w="38100">
            <a:solidFill>
              <a:srgbClr val="000000"/>
            </a:solidFill>
            <a:prstDash val="solid"/>
            <a:headEnd type="none" len="sm" w="sm"/>
            <a:tailEnd type="none" len="sm" w="sm"/>
          </a:ln>
        </p:spPr>
      </p:sp>
      <p:sp>
        <p:nvSpPr>
          <p:cNvPr name="TextBox 12" id="12"/>
          <p:cNvSpPr txBox="true"/>
          <p:nvPr/>
        </p:nvSpPr>
        <p:spPr>
          <a:xfrm rot="0">
            <a:off x="15807319" y="4396050"/>
            <a:ext cx="1935182" cy="196677"/>
          </a:xfrm>
          <a:prstGeom prst="rect">
            <a:avLst/>
          </a:prstGeom>
        </p:spPr>
        <p:txBody>
          <a:bodyPr anchor="t" rtlCol="false" tIns="0" lIns="0" bIns="0" rIns="0">
            <a:spAutoFit/>
          </a:bodyPr>
          <a:lstStyle/>
          <a:p>
            <a:pPr algn="l" marL="0" indent="0" lvl="1">
              <a:lnSpc>
                <a:spcPts val="1435"/>
              </a:lnSpc>
              <a:spcBef>
                <a:spcPct val="0"/>
              </a:spcBef>
            </a:pPr>
            <a:r>
              <a:rPr lang="en-US" b="true" sz="1480" spc="-69" strike="noStrike" u="none">
                <a:solidFill>
                  <a:srgbClr val="000000"/>
                </a:solidFill>
                <a:latin typeface="TT Hoves Bold"/>
                <a:ea typeface="TT Hoves Bold"/>
                <a:cs typeface="TT Hoves Bold"/>
                <a:sym typeface="TT Hoves Bold"/>
              </a:rPr>
              <a:t>Handling data changes</a:t>
            </a:r>
          </a:p>
        </p:txBody>
      </p:sp>
      <p:sp>
        <p:nvSpPr>
          <p:cNvPr name="TextBox 13" id="1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7361555" y="286284"/>
            <a:ext cx="8678877" cy="5836545"/>
          </a:xfrm>
          <a:custGeom>
            <a:avLst/>
            <a:gdLst/>
            <a:ahLst/>
            <a:cxnLst/>
            <a:rect r="r" b="b" t="t" l="l"/>
            <a:pathLst>
              <a:path h="5836545" w="8678877">
                <a:moveTo>
                  <a:pt x="0" y="0"/>
                </a:moveTo>
                <a:lnTo>
                  <a:pt x="8678876" y="0"/>
                </a:lnTo>
                <a:lnTo>
                  <a:pt x="8678876" y="5836544"/>
                </a:lnTo>
                <a:lnTo>
                  <a:pt x="0" y="5836544"/>
                </a:lnTo>
                <a:lnTo>
                  <a:pt x="0" y="0"/>
                </a:lnTo>
                <a:close/>
              </a:path>
            </a:pathLst>
          </a:custGeom>
          <a:blipFill>
            <a:blip r:embed="rId2"/>
            <a:stretch>
              <a:fillRect l="0" t="0" r="0" b="0"/>
            </a:stretch>
          </a:blipFill>
        </p:spPr>
      </p:sp>
      <p:sp>
        <p:nvSpPr>
          <p:cNvPr name="Freeform 3" id="3"/>
          <p:cNvSpPr/>
          <p:nvPr/>
        </p:nvSpPr>
        <p:spPr>
          <a:xfrm flipH="false" flipV="false" rot="0">
            <a:off x="7690047" y="5903833"/>
            <a:ext cx="8788374" cy="4383167"/>
          </a:xfrm>
          <a:custGeom>
            <a:avLst/>
            <a:gdLst/>
            <a:ahLst/>
            <a:cxnLst/>
            <a:rect r="r" b="b" t="t" l="l"/>
            <a:pathLst>
              <a:path h="4383167" w="8788374">
                <a:moveTo>
                  <a:pt x="0" y="0"/>
                </a:moveTo>
                <a:lnTo>
                  <a:pt x="8788374" y="0"/>
                </a:lnTo>
                <a:lnTo>
                  <a:pt x="8788374" y="4383167"/>
                </a:lnTo>
                <a:lnTo>
                  <a:pt x="0" y="4383167"/>
                </a:lnTo>
                <a:lnTo>
                  <a:pt x="0" y="0"/>
                </a:lnTo>
                <a:close/>
              </a:path>
            </a:pathLst>
          </a:custGeom>
          <a:blipFill>
            <a:blip r:embed="rId3"/>
            <a:stretch>
              <a:fillRect l="-311" t="-8940" r="0" b="-4445"/>
            </a:stretch>
          </a:blipFill>
        </p:spPr>
      </p:sp>
      <p:sp>
        <p:nvSpPr>
          <p:cNvPr name="TextBox 4" id="4"/>
          <p:cNvSpPr txBox="true"/>
          <p:nvPr/>
        </p:nvSpPr>
        <p:spPr>
          <a:xfrm rot="0">
            <a:off x="294757" y="227062"/>
            <a:ext cx="7705955" cy="3219227"/>
          </a:xfrm>
          <a:prstGeom prst="rect">
            <a:avLst/>
          </a:prstGeom>
        </p:spPr>
        <p:txBody>
          <a:bodyPr anchor="t" rtlCol="false" tIns="0" lIns="0" bIns="0" rIns="0">
            <a:spAutoFit/>
          </a:bodyPr>
          <a:lstStyle/>
          <a:p>
            <a:pPr algn="l" marL="0" indent="0" lvl="1">
              <a:lnSpc>
                <a:spcPts val="8385"/>
              </a:lnSpc>
              <a:spcBef>
                <a:spcPct val="0"/>
              </a:spcBef>
            </a:pPr>
            <a:r>
              <a:rPr lang="en-US" b="true" sz="7986" spc="-391" strike="noStrike" u="none">
                <a:solidFill>
                  <a:srgbClr val="343434"/>
                </a:solidFill>
                <a:latin typeface="TT Hoves Bold"/>
                <a:ea typeface="TT Hoves Bold"/>
                <a:cs typeface="TT Hoves Bold"/>
                <a:sym typeface="TT Hoves Bold"/>
              </a:rPr>
              <a:t>Product dimension in details</a:t>
            </a:r>
          </a:p>
        </p:txBody>
      </p:sp>
      <p:sp>
        <p:nvSpPr>
          <p:cNvPr name="AutoShape 5" id="5"/>
          <p:cNvSpPr/>
          <p:nvPr/>
        </p:nvSpPr>
        <p:spPr>
          <a:xfrm flipV="true">
            <a:off x="7690047" y="7469586"/>
            <a:ext cx="2592085" cy="821156"/>
          </a:xfrm>
          <a:prstGeom prst="line">
            <a:avLst/>
          </a:prstGeom>
          <a:ln cap="flat" w="38100">
            <a:solidFill>
              <a:srgbClr val="000000"/>
            </a:solidFill>
            <a:prstDash val="solid"/>
            <a:headEnd type="none" len="sm" w="sm"/>
            <a:tailEnd type="none" len="sm" w="sm"/>
          </a:ln>
        </p:spPr>
      </p:sp>
      <p:sp>
        <p:nvSpPr>
          <p:cNvPr name="TextBox 6" id="6"/>
          <p:cNvSpPr txBox="true"/>
          <p:nvPr/>
        </p:nvSpPr>
        <p:spPr>
          <a:xfrm rot="0">
            <a:off x="5604496" y="7819373"/>
            <a:ext cx="2085551" cy="990363"/>
          </a:xfrm>
          <a:prstGeom prst="rect">
            <a:avLst/>
          </a:prstGeom>
        </p:spPr>
        <p:txBody>
          <a:bodyPr anchor="t" rtlCol="false" tIns="0" lIns="0" bIns="0" rIns="0">
            <a:spAutoFit/>
          </a:bodyPr>
          <a:lstStyle/>
          <a:p>
            <a:pPr algn="l" marL="0" indent="0" lvl="1">
              <a:lnSpc>
                <a:spcPts val="1954"/>
              </a:lnSpc>
              <a:spcBef>
                <a:spcPct val="0"/>
              </a:spcBef>
            </a:pPr>
            <a:r>
              <a:rPr lang="en-US" b="true" sz="2014" spc="-94" strike="noStrike" u="none">
                <a:solidFill>
                  <a:srgbClr val="000000"/>
                </a:solidFill>
                <a:latin typeface="TT Hoves Bold"/>
                <a:ea typeface="TT Hoves Bold"/>
                <a:cs typeface="TT Hoves Bold"/>
                <a:sym typeface="TT Hoves Bold"/>
              </a:rPr>
              <a:t>Define data changes (Historical , changes )</a:t>
            </a:r>
          </a:p>
        </p:txBody>
      </p:sp>
      <p:sp>
        <p:nvSpPr>
          <p:cNvPr name="AutoShape 7" id="7"/>
          <p:cNvSpPr/>
          <p:nvPr/>
        </p:nvSpPr>
        <p:spPr>
          <a:xfrm>
            <a:off x="13371085" y="2257969"/>
            <a:ext cx="2570565" cy="518710"/>
          </a:xfrm>
          <a:prstGeom prst="line">
            <a:avLst/>
          </a:prstGeom>
          <a:ln cap="flat" w="38100">
            <a:solidFill>
              <a:srgbClr val="000000"/>
            </a:solidFill>
            <a:prstDash val="solid"/>
            <a:headEnd type="none" len="sm" w="sm"/>
            <a:tailEnd type="none" len="sm" w="sm"/>
          </a:ln>
        </p:spPr>
      </p:sp>
      <p:sp>
        <p:nvSpPr>
          <p:cNvPr name="AutoShape 8" id="8"/>
          <p:cNvSpPr/>
          <p:nvPr/>
        </p:nvSpPr>
        <p:spPr>
          <a:xfrm flipV="true">
            <a:off x="13371085" y="2776679"/>
            <a:ext cx="2570565" cy="669610"/>
          </a:xfrm>
          <a:prstGeom prst="line">
            <a:avLst/>
          </a:prstGeom>
          <a:ln cap="flat" w="38100">
            <a:solidFill>
              <a:srgbClr val="000000"/>
            </a:solidFill>
            <a:prstDash val="solid"/>
            <a:headEnd type="none" len="sm" w="sm"/>
            <a:tailEnd type="none" len="sm" w="sm"/>
          </a:ln>
        </p:spPr>
      </p:sp>
      <p:sp>
        <p:nvSpPr>
          <p:cNvPr name="TextBox 9" id="9"/>
          <p:cNvSpPr txBox="true"/>
          <p:nvPr/>
        </p:nvSpPr>
        <p:spPr>
          <a:xfrm rot="0">
            <a:off x="15941650" y="2305594"/>
            <a:ext cx="2346350" cy="989794"/>
          </a:xfrm>
          <a:prstGeom prst="rect">
            <a:avLst/>
          </a:prstGeom>
        </p:spPr>
        <p:txBody>
          <a:bodyPr anchor="t" rtlCol="false" tIns="0" lIns="0" bIns="0" rIns="0">
            <a:spAutoFit/>
          </a:bodyPr>
          <a:lstStyle/>
          <a:p>
            <a:pPr algn="l" marL="0" indent="0" lvl="1">
              <a:lnSpc>
                <a:spcPts val="1954"/>
              </a:lnSpc>
              <a:spcBef>
                <a:spcPct val="0"/>
              </a:spcBef>
            </a:pPr>
            <a:r>
              <a:rPr lang="en-US" b="true" sz="2014" spc="-94">
                <a:solidFill>
                  <a:srgbClr val="000000"/>
                </a:solidFill>
                <a:latin typeface="TT Hoves Bold"/>
                <a:ea typeface="TT Hoves Bold"/>
                <a:cs typeface="TT Hoves Bold"/>
                <a:sym typeface="TT Hoves Bold"/>
              </a:rPr>
              <a:t>Match</a:t>
            </a:r>
            <a:r>
              <a:rPr lang="en-US" b="true" sz="2014" spc="-94" strike="noStrike" u="none">
                <a:solidFill>
                  <a:srgbClr val="000000"/>
                </a:solidFill>
                <a:latin typeface="TT Hoves Bold"/>
                <a:ea typeface="TT Hoves Bold"/>
                <a:cs typeface="TT Hoves Bold"/>
                <a:sym typeface="TT Hoves Bold"/>
              </a:rPr>
              <a:t> in</a:t>
            </a:r>
            <a:r>
              <a:rPr lang="en-US" b="true" sz="2014" spc="-94" strike="noStrike" u="none">
                <a:solidFill>
                  <a:srgbClr val="000000"/>
                </a:solidFill>
                <a:latin typeface="TT Hoves Bold"/>
                <a:ea typeface="TT Hoves Bold"/>
                <a:cs typeface="TT Hoves Bold"/>
                <a:sym typeface="TT Hoves Bold"/>
              </a:rPr>
              <a:t>put</a:t>
            </a:r>
            <a:r>
              <a:rPr lang="en-US" b="true" sz="2014" spc="-94" strike="noStrike" u="none">
                <a:solidFill>
                  <a:srgbClr val="000000"/>
                </a:solidFill>
                <a:latin typeface="TT Hoves Bold"/>
                <a:ea typeface="TT Hoves Bold"/>
                <a:cs typeface="TT Hoves Bold"/>
                <a:sym typeface="TT Hoves Bold"/>
              </a:rPr>
              <a:t> </a:t>
            </a:r>
            <a:r>
              <a:rPr lang="en-US" b="true" sz="2014" spc="-94" strike="noStrike" u="none">
                <a:solidFill>
                  <a:srgbClr val="000000"/>
                </a:solidFill>
                <a:latin typeface="TT Hoves Bold"/>
                <a:ea typeface="TT Hoves Bold"/>
                <a:cs typeface="TT Hoves Bold"/>
                <a:sym typeface="TT Hoves Bold"/>
              </a:rPr>
              <a:t>da</a:t>
            </a:r>
            <a:r>
              <a:rPr lang="en-US" b="true" sz="2014" spc="-94" strike="noStrike" u="none">
                <a:solidFill>
                  <a:srgbClr val="000000"/>
                </a:solidFill>
                <a:latin typeface="TT Hoves Bold"/>
                <a:ea typeface="TT Hoves Bold"/>
                <a:cs typeface="TT Hoves Bold"/>
                <a:sym typeface="TT Hoves Bold"/>
              </a:rPr>
              <a:t>t</a:t>
            </a:r>
            <a:r>
              <a:rPr lang="en-US" b="true" sz="2014" spc="-94" strike="noStrike" u="none">
                <a:solidFill>
                  <a:srgbClr val="000000"/>
                </a:solidFill>
                <a:latin typeface="TT Hoves Bold"/>
                <a:ea typeface="TT Hoves Bold"/>
                <a:cs typeface="TT Hoves Bold"/>
                <a:sym typeface="TT Hoves Bold"/>
              </a:rPr>
              <a:t>a r</a:t>
            </a:r>
            <a:r>
              <a:rPr lang="en-US" b="true" sz="2014" spc="-94" strike="noStrike" u="none">
                <a:solidFill>
                  <a:srgbClr val="000000"/>
                </a:solidFill>
                <a:latin typeface="TT Hoves Bold"/>
                <a:ea typeface="TT Hoves Bold"/>
                <a:cs typeface="TT Hoves Bold"/>
                <a:sym typeface="TT Hoves Bold"/>
              </a:rPr>
              <a:t>o</a:t>
            </a:r>
            <a:r>
              <a:rPr lang="en-US" b="true" sz="2014" spc="-94" strike="noStrike" u="none">
                <a:solidFill>
                  <a:srgbClr val="000000"/>
                </a:solidFill>
                <a:latin typeface="TT Hoves Bold"/>
                <a:ea typeface="TT Hoves Bold"/>
                <a:cs typeface="TT Hoves Bold"/>
                <a:sym typeface="TT Hoves Bold"/>
              </a:rPr>
              <a:t>ws</a:t>
            </a:r>
            <a:r>
              <a:rPr lang="en-US" b="true" sz="2014" spc="-94" strike="noStrike" u="none">
                <a:solidFill>
                  <a:srgbClr val="000000"/>
                </a:solidFill>
                <a:latin typeface="TT Hoves Bold"/>
                <a:ea typeface="TT Hoves Bold"/>
                <a:cs typeface="TT Hoves Bold"/>
                <a:sym typeface="TT Hoves Bold"/>
              </a:rPr>
              <a:t> </a:t>
            </a:r>
            <a:r>
              <a:rPr lang="en-US" b="true" sz="2014" spc="-94" strike="noStrike" u="none">
                <a:solidFill>
                  <a:srgbClr val="000000"/>
                </a:solidFill>
                <a:latin typeface="TT Hoves Bold"/>
                <a:ea typeface="TT Hoves Bold"/>
                <a:cs typeface="TT Hoves Bold"/>
                <a:sym typeface="TT Hoves Bold"/>
              </a:rPr>
              <a:t>with </a:t>
            </a:r>
            <a:r>
              <a:rPr lang="en-US" b="true" sz="2014" spc="-94" strike="noStrike" u="none">
                <a:solidFill>
                  <a:srgbClr val="000000"/>
                </a:solidFill>
                <a:latin typeface="TT Hoves Bold"/>
                <a:ea typeface="TT Hoves Bold"/>
                <a:cs typeface="TT Hoves Bold"/>
                <a:sym typeface="TT Hoves Bold"/>
              </a:rPr>
              <a:t>e</a:t>
            </a:r>
            <a:r>
              <a:rPr lang="en-US" b="true" sz="2014" spc="-94" strike="noStrike" u="none">
                <a:solidFill>
                  <a:srgbClr val="000000"/>
                </a:solidFill>
                <a:latin typeface="TT Hoves Bold"/>
                <a:ea typeface="TT Hoves Bold"/>
                <a:cs typeface="TT Hoves Bold"/>
                <a:sym typeface="TT Hoves Bold"/>
              </a:rPr>
              <a:t>xis</a:t>
            </a:r>
            <a:r>
              <a:rPr lang="en-US" b="true" sz="2014" spc="-94" strike="noStrike" u="none">
                <a:solidFill>
                  <a:srgbClr val="000000"/>
                </a:solidFill>
                <a:latin typeface="TT Hoves Bold"/>
                <a:ea typeface="TT Hoves Bold"/>
                <a:cs typeface="TT Hoves Bold"/>
                <a:sym typeface="TT Hoves Bold"/>
              </a:rPr>
              <a:t>t</a:t>
            </a:r>
            <a:r>
              <a:rPr lang="en-US" b="true" sz="2014" spc="-94" strike="noStrike" u="none">
                <a:solidFill>
                  <a:srgbClr val="000000"/>
                </a:solidFill>
                <a:latin typeface="TT Hoves Bold"/>
                <a:ea typeface="TT Hoves Bold"/>
                <a:cs typeface="TT Hoves Bold"/>
                <a:sym typeface="TT Hoves Bold"/>
              </a:rPr>
              <a:t>ing</a:t>
            </a:r>
            <a:r>
              <a:rPr lang="en-US" b="true" sz="2014" spc="-94" strike="noStrike" u="none">
                <a:solidFill>
                  <a:srgbClr val="000000"/>
                </a:solidFill>
                <a:latin typeface="TT Hoves Bold"/>
                <a:ea typeface="TT Hoves Bold"/>
                <a:cs typeface="TT Hoves Bold"/>
                <a:sym typeface="TT Hoves Bold"/>
              </a:rPr>
              <a:t> </a:t>
            </a:r>
            <a:r>
              <a:rPr lang="en-US" b="true" sz="2014" spc="-94" strike="noStrike" u="none">
                <a:solidFill>
                  <a:srgbClr val="000000"/>
                </a:solidFill>
                <a:latin typeface="TT Hoves Bold"/>
                <a:ea typeface="TT Hoves Bold"/>
                <a:cs typeface="TT Hoves Bold"/>
                <a:sym typeface="TT Hoves Bold"/>
              </a:rPr>
              <a:t>recor</a:t>
            </a:r>
            <a:r>
              <a:rPr lang="en-US" b="true" sz="2014" spc="-94" strike="noStrike" u="none">
                <a:solidFill>
                  <a:srgbClr val="000000"/>
                </a:solidFill>
                <a:latin typeface="TT Hoves Bold"/>
                <a:ea typeface="TT Hoves Bold"/>
                <a:cs typeface="TT Hoves Bold"/>
                <a:sym typeface="TT Hoves Bold"/>
              </a:rPr>
              <a:t>d</a:t>
            </a:r>
            <a:r>
              <a:rPr lang="en-US" b="true" sz="2014" spc="-94" strike="noStrike" u="none">
                <a:solidFill>
                  <a:srgbClr val="000000"/>
                </a:solidFill>
                <a:latin typeface="TT Hoves Bold"/>
                <a:ea typeface="TT Hoves Bold"/>
                <a:cs typeface="TT Hoves Bold"/>
                <a:sym typeface="TT Hoves Bold"/>
              </a:rPr>
              <a:t>s</a:t>
            </a:r>
            <a:r>
              <a:rPr lang="en-US" b="true" sz="2014" spc="-94" strike="noStrike" u="none">
                <a:solidFill>
                  <a:srgbClr val="000000"/>
                </a:solidFill>
                <a:latin typeface="TT Hoves Bold"/>
                <a:ea typeface="TT Hoves Bold"/>
                <a:cs typeface="TT Hoves Bold"/>
                <a:sym typeface="TT Hoves Bold"/>
              </a:rPr>
              <a:t> fr</a:t>
            </a:r>
            <a:r>
              <a:rPr lang="en-US" b="true" sz="2014" spc="-94" strike="noStrike" u="none">
                <a:solidFill>
                  <a:srgbClr val="000000"/>
                </a:solidFill>
                <a:latin typeface="TT Hoves Bold"/>
                <a:ea typeface="TT Hoves Bold"/>
                <a:cs typeface="TT Hoves Bold"/>
                <a:sym typeface="TT Hoves Bold"/>
              </a:rPr>
              <a:t>o</a:t>
            </a:r>
            <a:r>
              <a:rPr lang="en-US" b="true" sz="2014" spc="-94" strike="noStrike" u="none">
                <a:solidFill>
                  <a:srgbClr val="000000"/>
                </a:solidFill>
                <a:latin typeface="TT Hoves Bold"/>
                <a:ea typeface="TT Hoves Bold"/>
                <a:cs typeface="TT Hoves Bold"/>
                <a:sym typeface="TT Hoves Bold"/>
              </a:rPr>
              <a:t>m </a:t>
            </a:r>
            <a:r>
              <a:rPr lang="en-US" b="true" sz="2014" spc="-94" strike="noStrike" u="none">
                <a:solidFill>
                  <a:srgbClr val="000000"/>
                </a:solidFill>
                <a:latin typeface="TT Hoves Bold"/>
                <a:ea typeface="TT Hoves Bold"/>
                <a:cs typeface="TT Hoves Bold"/>
                <a:sym typeface="TT Hoves Bold"/>
              </a:rPr>
              <a:t>an</a:t>
            </a:r>
            <a:r>
              <a:rPr lang="en-US" b="true" sz="2014" spc="-94" strike="noStrike" u="none">
                <a:solidFill>
                  <a:srgbClr val="000000"/>
                </a:solidFill>
                <a:latin typeface="TT Hoves Bold"/>
                <a:ea typeface="TT Hoves Bold"/>
                <a:cs typeface="TT Hoves Bold"/>
                <a:sym typeface="TT Hoves Bold"/>
              </a:rPr>
              <a:t>o</a:t>
            </a:r>
            <a:r>
              <a:rPr lang="en-US" b="true" sz="2014" spc="-94" strike="noStrike" u="none">
                <a:solidFill>
                  <a:srgbClr val="000000"/>
                </a:solidFill>
                <a:latin typeface="TT Hoves Bold"/>
                <a:ea typeface="TT Hoves Bold"/>
                <a:cs typeface="TT Hoves Bold"/>
                <a:sym typeface="TT Hoves Bold"/>
              </a:rPr>
              <a:t>th</a:t>
            </a:r>
            <a:r>
              <a:rPr lang="en-US" b="true" sz="2014" spc="-94" strike="noStrike" u="none">
                <a:solidFill>
                  <a:srgbClr val="000000"/>
                </a:solidFill>
                <a:latin typeface="TT Hoves Bold"/>
                <a:ea typeface="TT Hoves Bold"/>
                <a:cs typeface="TT Hoves Bold"/>
                <a:sym typeface="TT Hoves Bold"/>
              </a:rPr>
              <a:t>e</a:t>
            </a:r>
            <a:r>
              <a:rPr lang="en-US" b="true" sz="2014" spc="-94" strike="noStrike" u="none">
                <a:solidFill>
                  <a:srgbClr val="000000"/>
                </a:solidFill>
                <a:latin typeface="TT Hoves Bold"/>
                <a:ea typeface="TT Hoves Bold"/>
                <a:cs typeface="TT Hoves Bold"/>
                <a:sym typeface="TT Hoves Bold"/>
              </a:rPr>
              <a:t>r</a:t>
            </a:r>
            <a:r>
              <a:rPr lang="en-US" b="true" sz="2014" spc="-94" strike="noStrike" u="none">
                <a:solidFill>
                  <a:srgbClr val="000000"/>
                </a:solidFill>
                <a:latin typeface="TT Hoves Bold"/>
                <a:ea typeface="TT Hoves Bold"/>
                <a:cs typeface="TT Hoves Bold"/>
                <a:sym typeface="TT Hoves Bold"/>
              </a:rPr>
              <a:t> </a:t>
            </a:r>
            <a:r>
              <a:rPr lang="en-US" b="true" sz="2014" spc="-94" strike="noStrike" u="none">
                <a:solidFill>
                  <a:srgbClr val="000000"/>
                </a:solidFill>
                <a:latin typeface="TT Hoves Bold"/>
                <a:ea typeface="TT Hoves Bold"/>
                <a:cs typeface="TT Hoves Bold"/>
                <a:sym typeface="TT Hoves Bold"/>
              </a:rPr>
              <a:t>sourc</a:t>
            </a:r>
            <a:r>
              <a:rPr lang="en-US" b="true" sz="2014" spc="-94" strike="noStrike" u="none">
                <a:solidFill>
                  <a:srgbClr val="000000"/>
                </a:solidFill>
                <a:latin typeface="TT Hoves Bold"/>
                <a:ea typeface="TT Hoves Bold"/>
                <a:cs typeface="TT Hoves Bold"/>
                <a:sym typeface="TT Hoves Bold"/>
              </a:rPr>
              <a:t>e</a:t>
            </a:r>
          </a:p>
        </p:txBody>
      </p:sp>
      <p:sp>
        <p:nvSpPr>
          <p:cNvPr name="AutoShape 10" id="10"/>
          <p:cNvSpPr/>
          <p:nvPr/>
        </p:nvSpPr>
        <p:spPr>
          <a:xfrm flipV="true">
            <a:off x="6210951" y="2257969"/>
            <a:ext cx="1789761" cy="2404175"/>
          </a:xfrm>
          <a:prstGeom prst="line">
            <a:avLst/>
          </a:prstGeom>
          <a:ln cap="flat" w="38100">
            <a:solidFill>
              <a:srgbClr val="000000"/>
            </a:solidFill>
            <a:prstDash val="solid"/>
            <a:headEnd type="none" len="sm" w="sm"/>
            <a:tailEnd type="none" len="sm" w="sm"/>
          </a:ln>
        </p:spPr>
      </p:sp>
      <p:sp>
        <p:nvSpPr>
          <p:cNvPr name="TextBox 11" id="11"/>
          <p:cNvSpPr txBox="true"/>
          <p:nvPr/>
        </p:nvSpPr>
        <p:spPr>
          <a:xfrm rot="0">
            <a:off x="4731855" y="4709769"/>
            <a:ext cx="2958192" cy="749853"/>
          </a:xfrm>
          <a:prstGeom prst="rect">
            <a:avLst/>
          </a:prstGeom>
        </p:spPr>
        <p:txBody>
          <a:bodyPr anchor="t" rtlCol="false" tIns="0" lIns="0" bIns="0" rIns="0">
            <a:spAutoFit/>
          </a:bodyPr>
          <a:lstStyle/>
          <a:p>
            <a:pPr algn="l" marL="0" indent="0" lvl="1">
              <a:lnSpc>
                <a:spcPts val="1954"/>
              </a:lnSpc>
              <a:spcBef>
                <a:spcPct val="0"/>
              </a:spcBef>
            </a:pPr>
            <a:r>
              <a:rPr lang="en-US" b="true" sz="2014" spc="-94" strike="noStrike" u="none">
                <a:solidFill>
                  <a:srgbClr val="000000"/>
                </a:solidFill>
                <a:latin typeface="TT Hoves Bold"/>
                <a:ea typeface="TT Hoves Bold"/>
                <a:cs typeface="TT Hoves Bold"/>
                <a:sym typeface="TT Hoves Bold"/>
              </a:rPr>
              <a:t>Conditional Split</a:t>
            </a:r>
            <a:r>
              <a:rPr lang="en-US" b="true" sz="2014" spc="-94" strike="noStrike" u="none">
                <a:solidFill>
                  <a:srgbClr val="000000"/>
                </a:solidFill>
                <a:latin typeface="TT Hoves Bold"/>
                <a:ea typeface="TT Hoves Bold"/>
                <a:cs typeface="TT Hoves Bold"/>
                <a:sym typeface="TT Hoves Bold"/>
              </a:rPr>
              <a:t> to Control data and take only selected things </a:t>
            </a:r>
          </a:p>
        </p:txBody>
      </p:sp>
      <p:sp>
        <p:nvSpPr>
          <p:cNvPr name="TextBox 12" id="1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5544159" y="3064464"/>
            <a:ext cx="12370968" cy="4066956"/>
          </a:xfrm>
          <a:custGeom>
            <a:avLst/>
            <a:gdLst/>
            <a:ahLst/>
            <a:cxnLst/>
            <a:rect r="r" b="b" t="t" l="l"/>
            <a:pathLst>
              <a:path h="4066956" w="12370968">
                <a:moveTo>
                  <a:pt x="0" y="0"/>
                </a:moveTo>
                <a:lnTo>
                  <a:pt x="12370969" y="0"/>
                </a:lnTo>
                <a:lnTo>
                  <a:pt x="12370969" y="4066956"/>
                </a:lnTo>
                <a:lnTo>
                  <a:pt x="0" y="4066956"/>
                </a:lnTo>
                <a:lnTo>
                  <a:pt x="0" y="0"/>
                </a:lnTo>
                <a:close/>
              </a:path>
            </a:pathLst>
          </a:custGeom>
          <a:blipFill>
            <a:blip r:embed="rId2"/>
            <a:stretch>
              <a:fillRect l="0" t="0" r="0" b="0"/>
            </a:stretch>
          </a:blipFill>
        </p:spPr>
      </p:sp>
      <p:sp>
        <p:nvSpPr>
          <p:cNvPr name="TextBox 3" id="3"/>
          <p:cNvSpPr txBox="true"/>
          <p:nvPr/>
        </p:nvSpPr>
        <p:spPr>
          <a:xfrm rot="0">
            <a:off x="505152" y="512509"/>
            <a:ext cx="8254977" cy="2890851"/>
          </a:xfrm>
          <a:prstGeom prst="rect">
            <a:avLst/>
          </a:prstGeom>
        </p:spPr>
        <p:txBody>
          <a:bodyPr anchor="t" rtlCol="false" tIns="0" lIns="0" bIns="0" rIns="0">
            <a:spAutoFit/>
          </a:bodyPr>
          <a:lstStyle/>
          <a:p>
            <a:pPr algn="l" marL="0" indent="0" lvl="1">
              <a:lnSpc>
                <a:spcPts val="11278"/>
              </a:lnSpc>
              <a:spcBef>
                <a:spcPct val="0"/>
              </a:spcBef>
            </a:pPr>
            <a:r>
              <a:rPr lang="en-US" b="true" sz="10741" spc="-526" strike="noStrike" u="none">
                <a:solidFill>
                  <a:srgbClr val="343434"/>
                </a:solidFill>
                <a:latin typeface="TT Hoves Bold"/>
                <a:ea typeface="TT Hoves Bold"/>
                <a:cs typeface="TT Hoves Bold"/>
                <a:sym typeface="TT Hoves Bold"/>
              </a:rPr>
              <a:t>Fact in details</a:t>
            </a:r>
          </a:p>
        </p:txBody>
      </p:sp>
      <p:sp>
        <p:nvSpPr>
          <p:cNvPr name="AutoShape 4" id="4"/>
          <p:cNvSpPr/>
          <p:nvPr/>
        </p:nvSpPr>
        <p:spPr>
          <a:xfrm>
            <a:off x="10815899" y="2598224"/>
            <a:ext cx="1682157" cy="2113530"/>
          </a:xfrm>
          <a:prstGeom prst="line">
            <a:avLst/>
          </a:prstGeom>
          <a:ln cap="flat" w="38100">
            <a:solidFill>
              <a:srgbClr val="000000"/>
            </a:solidFill>
            <a:prstDash val="solid"/>
            <a:headEnd type="none" len="sm" w="sm"/>
            <a:tailEnd type="none" len="sm" w="sm"/>
          </a:ln>
        </p:spPr>
      </p:sp>
      <p:sp>
        <p:nvSpPr>
          <p:cNvPr name="TextBox 5" id="5"/>
          <p:cNvSpPr txBox="true"/>
          <p:nvPr/>
        </p:nvSpPr>
        <p:spPr>
          <a:xfrm rot="0">
            <a:off x="9652158" y="1910309"/>
            <a:ext cx="2845899" cy="723894"/>
          </a:xfrm>
          <a:prstGeom prst="rect">
            <a:avLst/>
          </a:prstGeom>
        </p:spPr>
        <p:txBody>
          <a:bodyPr anchor="t" rtlCol="false" tIns="0" lIns="0" bIns="0" rIns="0">
            <a:spAutoFit/>
          </a:bodyPr>
          <a:lstStyle/>
          <a:p>
            <a:pPr algn="l" marL="0" indent="0" lvl="1">
              <a:lnSpc>
                <a:spcPts val="1400"/>
              </a:lnSpc>
              <a:spcBef>
                <a:spcPct val="0"/>
              </a:spcBef>
            </a:pPr>
            <a:r>
              <a:rPr lang="en-US" b="true" sz="1443" spc="-67" strike="noStrike" u="none">
                <a:solidFill>
                  <a:srgbClr val="000000"/>
                </a:solidFill>
                <a:latin typeface="TT Hoves Bold"/>
                <a:ea typeface="TT Hoves Bold"/>
                <a:cs typeface="TT Hoves Bold"/>
                <a:sym typeface="TT Hoves Bold"/>
              </a:rPr>
              <a:t>Prepares order data by gen</a:t>
            </a:r>
            <a:r>
              <a:rPr lang="en-US" b="true" sz="1443" spc="-67" strike="noStrike" u="none">
                <a:solidFill>
                  <a:srgbClr val="000000"/>
                </a:solidFill>
                <a:latin typeface="TT Hoves Bold"/>
                <a:ea typeface="TT Hoves Bold"/>
                <a:cs typeface="TT Hoves Bold"/>
                <a:sym typeface="TT Hoves Bold"/>
              </a:rPr>
              <a:t>erating OrderDateKey and ShipDateKey columns and make the date is clear without “-”</a:t>
            </a:r>
          </a:p>
        </p:txBody>
      </p:sp>
      <p:sp>
        <p:nvSpPr>
          <p:cNvPr name="AutoShape 6" id="6"/>
          <p:cNvSpPr/>
          <p:nvPr/>
        </p:nvSpPr>
        <p:spPr>
          <a:xfrm flipH="true">
            <a:off x="15628208" y="2490288"/>
            <a:ext cx="983475" cy="2221467"/>
          </a:xfrm>
          <a:prstGeom prst="line">
            <a:avLst/>
          </a:prstGeom>
          <a:ln cap="flat" w="38100">
            <a:solidFill>
              <a:srgbClr val="000000"/>
            </a:solidFill>
            <a:prstDash val="solid"/>
            <a:headEnd type="none" len="sm" w="sm"/>
            <a:tailEnd type="none" len="sm" w="sm"/>
          </a:ln>
        </p:spPr>
      </p:sp>
      <p:sp>
        <p:nvSpPr>
          <p:cNvPr name="TextBox 7" id="7"/>
          <p:cNvSpPr txBox="true"/>
          <p:nvPr/>
        </p:nvSpPr>
        <p:spPr>
          <a:xfrm rot="0">
            <a:off x="15512751" y="1440664"/>
            <a:ext cx="2402377" cy="1193539"/>
          </a:xfrm>
          <a:prstGeom prst="rect">
            <a:avLst/>
          </a:prstGeom>
        </p:spPr>
        <p:txBody>
          <a:bodyPr anchor="t" rtlCol="false" tIns="0" lIns="0" bIns="0" rIns="0">
            <a:spAutoFit/>
          </a:bodyPr>
          <a:lstStyle/>
          <a:p>
            <a:pPr algn="l" marL="0" indent="0" lvl="1">
              <a:lnSpc>
                <a:spcPts val="1854"/>
              </a:lnSpc>
              <a:spcBef>
                <a:spcPct val="0"/>
              </a:spcBef>
            </a:pPr>
            <a:r>
              <a:rPr lang="en-US" b="true" sz="1911" spc="-89" strike="noStrike" u="none">
                <a:solidFill>
                  <a:srgbClr val="000000"/>
                </a:solidFill>
                <a:latin typeface="TT Hoves Bold"/>
                <a:ea typeface="TT Hoves Bold"/>
                <a:cs typeface="TT Hoves Bold"/>
                <a:sym typeface="TT Hoves Bold"/>
              </a:rPr>
              <a:t>filters rows where the ModifiedDate falls within the valid range of EffectiveStartDate and EffectiveEndDate</a:t>
            </a:r>
          </a:p>
        </p:txBody>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15</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1268563" y="3767517"/>
            <a:ext cx="10654905" cy="1575363"/>
          </a:xfrm>
          <a:prstGeom prst="rect">
            <a:avLst/>
          </a:prstGeom>
        </p:spPr>
        <p:txBody>
          <a:bodyPr anchor="t" rtlCol="false" tIns="0" lIns="0" bIns="0" rIns="0">
            <a:spAutoFit/>
          </a:bodyPr>
          <a:lstStyle/>
          <a:p>
            <a:pPr algn="l" marL="0" indent="0" lvl="1">
              <a:lnSpc>
                <a:spcPts val="6234"/>
              </a:lnSpc>
              <a:spcBef>
                <a:spcPct val="0"/>
              </a:spcBef>
            </a:pPr>
            <a:r>
              <a:rPr lang="en-US" b="true" sz="5937" spc="-290" strike="noStrike" u="none">
                <a:solidFill>
                  <a:srgbClr val="343434"/>
                </a:solidFill>
                <a:latin typeface="TT Hoves Bold"/>
                <a:ea typeface="TT Hoves Bold"/>
                <a:cs typeface="TT Hoves Bold"/>
                <a:sym typeface="TT Hoves Bold"/>
              </a:rPr>
              <a:t>Comparing data in both Incremental(V1) and Initial</a:t>
            </a:r>
            <a:r>
              <a:rPr lang="en-US" b="true" sz="5937" spc="-290" strike="noStrike" u="none">
                <a:solidFill>
                  <a:srgbClr val="343434"/>
                </a:solidFill>
                <a:latin typeface="TT Hoves Bold"/>
                <a:ea typeface="TT Hoves Bold"/>
                <a:cs typeface="TT Hoves Bold"/>
                <a:sym typeface="TT Hoves Bold"/>
              </a:rPr>
              <a:t> (v2)</a:t>
            </a:r>
            <a:r>
              <a:rPr lang="en-US" b="true" sz="5937" spc="-290" strike="noStrike" u="none">
                <a:solidFill>
                  <a:srgbClr val="343434"/>
                </a:solidFill>
                <a:latin typeface="TT Hoves Bold"/>
                <a:ea typeface="TT Hoves Bold"/>
                <a:cs typeface="TT Hoves Bold"/>
                <a:sym typeface="TT Hoves Bold"/>
              </a:rPr>
              <a:t> </a:t>
            </a:r>
          </a:p>
        </p:txBody>
      </p:sp>
      <p:grpSp>
        <p:nvGrpSpPr>
          <p:cNvPr name="Group 3" id="3"/>
          <p:cNvGrpSpPr/>
          <p:nvPr/>
        </p:nvGrpSpPr>
        <p:grpSpPr>
          <a:xfrm rot="0">
            <a:off x="12151348" y="0"/>
            <a:ext cx="6136652" cy="11878896"/>
            <a:chOff x="0" y="0"/>
            <a:chExt cx="1616238" cy="3128598"/>
          </a:xfrm>
        </p:grpSpPr>
        <p:sp>
          <p:nvSpPr>
            <p:cNvPr name="Freeform 4" id="4"/>
            <p:cNvSpPr/>
            <p:nvPr/>
          </p:nvSpPr>
          <p:spPr>
            <a:xfrm flipH="false" flipV="false" rot="0">
              <a:off x="0" y="0"/>
              <a:ext cx="1616238" cy="3128598"/>
            </a:xfrm>
            <a:custGeom>
              <a:avLst/>
              <a:gdLst/>
              <a:ahLst/>
              <a:cxnLst/>
              <a:rect r="r" b="b" t="t" l="l"/>
              <a:pathLst>
                <a:path h="3128598" w="1616238">
                  <a:moveTo>
                    <a:pt x="0" y="0"/>
                  </a:moveTo>
                  <a:lnTo>
                    <a:pt x="1616238" y="0"/>
                  </a:lnTo>
                  <a:lnTo>
                    <a:pt x="1616238" y="3128598"/>
                  </a:lnTo>
                  <a:lnTo>
                    <a:pt x="0" y="3128598"/>
                  </a:lnTo>
                  <a:close/>
                </a:path>
              </a:pathLst>
            </a:custGeom>
            <a:solidFill>
              <a:srgbClr val="0003FF"/>
            </a:solidFill>
          </p:spPr>
        </p:sp>
        <p:sp>
          <p:nvSpPr>
            <p:cNvPr name="TextBox 5" id="5"/>
            <p:cNvSpPr txBox="true"/>
            <p:nvPr/>
          </p:nvSpPr>
          <p:spPr>
            <a:xfrm>
              <a:off x="0" y="-57150"/>
              <a:ext cx="1616238" cy="3185748"/>
            </a:xfrm>
            <a:prstGeom prst="rect">
              <a:avLst/>
            </a:prstGeom>
          </p:spPr>
          <p:txBody>
            <a:bodyPr anchor="ctr" rtlCol="false" tIns="50800" lIns="50800" bIns="50800" rIns="50800"/>
            <a:lstStyle/>
            <a:p>
              <a:pPr algn="ctr">
                <a:lnSpc>
                  <a:spcPts val="3639"/>
                </a:lnSpc>
              </a:pPr>
            </a:p>
          </p:txBody>
        </p:sp>
      </p:gr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16</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grpSp>
        <p:nvGrpSpPr>
          <p:cNvPr name="Group 2" id="2"/>
          <p:cNvGrpSpPr/>
          <p:nvPr/>
        </p:nvGrpSpPr>
        <p:grpSpPr>
          <a:xfrm rot="0">
            <a:off x="8219928" y="5143500"/>
            <a:ext cx="6998061" cy="2957294"/>
            <a:chOff x="0" y="0"/>
            <a:chExt cx="2342659" cy="989978"/>
          </a:xfrm>
        </p:grpSpPr>
        <p:sp>
          <p:nvSpPr>
            <p:cNvPr name="Freeform 3" id="3"/>
            <p:cNvSpPr/>
            <p:nvPr/>
          </p:nvSpPr>
          <p:spPr>
            <a:xfrm flipH="false" flipV="false" rot="0">
              <a:off x="0" y="0"/>
              <a:ext cx="2342659" cy="989978"/>
            </a:xfrm>
            <a:custGeom>
              <a:avLst/>
              <a:gdLst/>
              <a:ahLst/>
              <a:cxnLst/>
              <a:rect r="r" b="b" t="t" l="l"/>
              <a:pathLst>
                <a:path h="989978" w="2342659">
                  <a:moveTo>
                    <a:pt x="0" y="0"/>
                  </a:moveTo>
                  <a:lnTo>
                    <a:pt x="2342659" y="0"/>
                  </a:lnTo>
                  <a:lnTo>
                    <a:pt x="2342659" y="989978"/>
                  </a:lnTo>
                  <a:lnTo>
                    <a:pt x="0" y="989978"/>
                  </a:lnTo>
                  <a:close/>
                </a:path>
              </a:pathLst>
            </a:custGeom>
            <a:solidFill>
              <a:srgbClr val="0003FF"/>
            </a:solidFill>
          </p:spPr>
        </p:sp>
        <p:sp>
          <p:nvSpPr>
            <p:cNvPr name="TextBox 4" id="4"/>
            <p:cNvSpPr txBox="true"/>
            <p:nvPr/>
          </p:nvSpPr>
          <p:spPr>
            <a:xfrm>
              <a:off x="0" y="104775"/>
              <a:ext cx="2342659" cy="885203"/>
            </a:xfrm>
            <a:prstGeom prst="rect">
              <a:avLst/>
            </a:prstGeom>
          </p:spPr>
          <p:txBody>
            <a:bodyPr anchor="ctr" rtlCol="false" tIns="50800" lIns="50800" bIns="50800" rIns="50800"/>
            <a:lstStyle/>
            <a:p>
              <a:pPr algn="ctr">
                <a:lnSpc>
                  <a:spcPts val="1925"/>
                </a:lnSpc>
              </a:pPr>
            </a:p>
          </p:txBody>
        </p:sp>
      </p:grpSp>
      <p:sp>
        <p:nvSpPr>
          <p:cNvPr name="Freeform 5" id="5"/>
          <p:cNvSpPr/>
          <p:nvPr/>
        </p:nvSpPr>
        <p:spPr>
          <a:xfrm flipH="false" flipV="false" rot="0">
            <a:off x="6068329" y="4856325"/>
            <a:ext cx="11301259" cy="3531643"/>
          </a:xfrm>
          <a:custGeom>
            <a:avLst/>
            <a:gdLst/>
            <a:ahLst/>
            <a:cxnLst/>
            <a:rect r="r" b="b" t="t" l="l"/>
            <a:pathLst>
              <a:path h="3531643" w="11301259">
                <a:moveTo>
                  <a:pt x="0" y="0"/>
                </a:moveTo>
                <a:lnTo>
                  <a:pt x="11301259" y="0"/>
                </a:lnTo>
                <a:lnTo>
                  <a:pt x="11301259" y="3531644"/>
                </a:lnTo>
                <a:lnTo>
                  <a:pt x="0" y="3531644"/>
                </a:lnTo>
                <a:lnTo>
                  <a:pt x="0" y="0"/>
                </a:lnTo>
                <a:close/>
              </a:path>
            </a:pathLst>
          </a:custGeom>
          <a:blipFill>
            <a:blip r:embed="rId2"/>
            <a:stretch>
              <a:fillRect l="0" t="0" r="0" b="0"/>
            </a:stretch>
          </a:blipFill>
        </p:spPr>
      </p:sp>
      <p:sp>
        <p:nvSpPr>
          <p:cNvPr name="Freeform 6" id="6"/>
          <p:cNvSpPr/>
          <p:nvPr/>
        </p:nvSpPr>
        <p:spPr>
          <a:xfrm flipH="false" flipV="false" rot="0">
            <a:off x="6425445" y="1497879"/>
            <a:ext cx="11301259" cy="3164353"/>
          </a:xfrm>
          <a:custGeom>
            <a:avLst/>
            <a:gdLst/>
            <a:ahLst/>
            <a:cxnLst/>
            <a:rect r="r" b="b" t="t" l="l"/>
            <a:pathLst>
              <a:path h="3164353" w="11301259">
                <a:moveTo>
                  <a:pt x="0" y="0"/>
                </a:moveTo>
                <a:lnTo>
                  <a:pt x="11301259" y="0"/>
                </a:lnTo>
                <a:lnTo>
                  <a:pt x="11301259" y="3164352"/>
                </a:lnTo>
                <a:lnTo>
                  <a:pt x="0" y="3164352"/>
                </a:lnTo>
                <a:lnTo>
                  <a:pt x="0" y="0"/>
                </a:lnTo>
                <a:close/>
              </a:path>
            </a:pathLst>
          </a:custGeom>
          <a:blipFill>
            <a:blip r:embed="rId3"/>
            <a:stretch>
              <a:fillRect l="0" t="0" r="0" b="0"/>
            </a:stretch>
          </a:blipFill>
        </p:spPr>
      </p:sp>
      <p:sp>
        <p:nvSpPr>
          <p:cNvPr name="TextBox 7" id="7"/>
          <p:cNvSpPr txBox="true"/>
          <p:nvPr/>
        </p:nvSpPr>
        <p:spPr>
          <a:xfrm rot="0">
            <a:off x="3916730" y="3504250"/>
            <a:ext cx="1162315" cy="1295016"/>
          </a:xfrm>
          <a:prstGeom prst="rect">
            <a:avLst/>
          </a:prstGeom>
        </p:spPr>
        <p:txBody>
          <a:bodyPr anchor="t" rtlCol="false" tIns="0" lIns="0" bIns="0" rIns="0">
            <a:spAutoFit/>
          </a:bodyPr>
          <a:lstStyle/>
          <a:p>
            <a:pPr algn="ctr">
              <a:lnSpc>
                <a:spcPts val="10637"/>
              </a:lnSpc>
            </a:pPr>
            <a:r>
              <a:rPr lang="en-US" sz="7597" b="true">
                <a:solidFill>
                  <a:srgbClr val="000000"/>
                </a:solidFill>
                <a:latin typeface="Canva Sans Bold"/>
                <a:ea typeface="Canva Sans Bold"/>
                <a:cs typeface="Canva Sans Bold"/>
                <a:sym typeface="Canva Sans Bold"/>
              </a:rPr>
              <a:t>V1</a:t>
            </a:r>
          </a:p>
        </p:txBody>
      </p:sp>
      <p:sp>
        <p:nvSpPr>
          <p:cNvPr name="AutoShape 8" id="8"/>
          <p:cNvSpPr/>
          <p:nvPr/>
        </p:nvSpPr>
        <p:spPr>
          <a:xfrm flipV="true">
            <a:off x="5079045" y="3080055"/>
            <a:ext cx="1346400" cy="1143140"/>
          </a:xfrm>
          <a:prstGeom prst="line">
            <a:avLst/>
          </a:prstGeom>
          <a:ln cap="flat" w="38100">
            <a:solidFill>
              <a:srgbClr val="000000"/>
            </a:solidFill>
            <a:prstDash val="solid"/>
            <a:headEnd type="none" len="sm" w="sm"/>
            <a:tailEnd type="none" len="sm" w="sm"/>
          </a:ln>
        </p:spPr>
      </p:sp>
      <p:sp>
        <p:nvSpPr>
          <p:cNvPr name="AutoShape 9" id="9"/>
          <p:cNvSpPr/>
          <p:nvPr/>
        </p:nvSpPr>
        <p:spPr>
          <a:xfrm flipV="true">
            <a:off x="4992608" y="6622147"/>
            <a:ext cx="1075721" cy="520135"/>
          </a:xfrm>
          <a:prstGeom prst="line">
            <a:avLst/>
          </a:prstGeom>
          <a:ln cap="flat" w="38100">
            <a:solidFill>
              <a:srgbClr val="000000"/>
            </a:solidFill>
            <a:prstDash val="solid"/>
            <a:headEnd type="none" len="sm" w="sm"/>
            <a:tailEnd type="none" len="sm" w="sm"/>
          </a:ln>
        </p:spPr>
      </p:sp>
      <p:sp>
        <p:nvSpPr>
          <p:cNvPr name="TextBox 10" id="10"/>
          <p:cNvSpPr txBox="true"/>
          <p:nvPr/>
        </p:nvSpPr>
        <p:spPr>
          <a:xfrm rot="0">
            <a:off x="12076074" y="4424417"/>
            <a:ext cx="4274961" cy="237814"/>
          </a:xfrm>
          <a:prstGeom prst="rect">
            <a:avLst/>
          </a:prstGeom>
        </p:spPr>
        <p:txBody>
          <a:bodyPr anchor="t" rtlCol="false" tIns="0" lIns="0" bIns="0" rIns="0">
            <a:spAutoFit/>
          </a:bodyPr>
          <a:lstStyle/>
          <a:p>
            <a:pPr algn="just" marL="0" indent="0" lvl="0">
              <a:lnSpc>
                <a:spcPts val="1955"/>
              </a:lnSpc>
              <a:spcBef>
                <a:spcPct val="0"/>
              </a:spcBef>
            </a:pPr>
          </a:p>
        </p:txBody>
      </p:sp>
      <p:sp>
        <p:nvSpPr>
          <p:cNvPr name="TextBox 11" id="11"/>
          <p:cNvSpPr txBox="true"/>
          <p:nvPr/>
        </p:nvSpPr>
        <p:spPr>
          <a:xfrm rot="0">
            <a:off x="233062" y="368406"/>
            <a:ext cx="8443214" cy="1472988"/>
          </a:xfrm>
          <a:prstGeom prst="rect">
            <a:avLst/>
          </a:prstGeom>
        </p:spPr>
        <p:txBody>
          <a:bodyPr anchor="t" rtlCol="false" tIns="0" lIns="0" bIns="0" rIns="0">
            <a:spAutoFit/>
          </a:bodyPr>
          <a:lstStyle/>
          <a:p>
            <a:pPr algn="l">
              <a:lnSpc>
                <a:spcPts val="11252"/>
              </a:lnSpc>
            </a:pPr>
            <a:r>
              <a:rPr lang="en-US" b="true" sz="10716" spc="-525">
                <a:solidFill>
                  <a:srgbClr val="343434"/>
                </a:solidFill>
                <a:latin typeface="TT Hoves Bold"/>
                <a:ea typeface="TT Hoves Bold"/>
                <a:cs typeface="TT Hoves Bold"/>
                <a:sym typeface="TT Hoves Bold"/>
              </a:rPr>
              <a:t>Pipeline</a:t>
            </a:r>
          </a:p>
        </p:txBody>
      </p:sp>
      <p:sp>
        <p:nvSpPr>
          <p:cNvPr name="TextBox 12" id="12"/>
          <p:cNvSpPr txBox="true"/>
          <p:nvPr/>
        </p:nvSpPr>
        <p:spPr>
          <a:xfrm rot="0">
            <a:off x="3916730" y="6488797"/>
            <a:ext cx="1075878" cy="1173621"/>
          </a:xfrm>
          <a:prstGeom prst="rect">
            <a:avLst/>
          </a:prstGeom>
        </p:spPr>
        <p:txBody>
          <a:bodyPr anchor="t" rtlCol="false" tIns="0" lIns="0" bIns="0" rIns="0">
            <a:spAutoFit/>
          </a:bodyPr>
          <a:lstStyle/>
          <a:p>
            <a:pPr algn="ctr">
              <a:lnSpc>
                <a:spcPts val="9604"/>
              </a:lnSpc>
            </a:pPr>
            <a:r>
              <a:rPr lang="en-US" sz="6860" b="true">
                <a:solidFill>
                  <a:srgbClr val="000000"/>
                </a:solidFill>
                <a:latin typeface="Canva Sans Bold"/>
                <a:ea typeface="Canva Sans Bold"/>
                <a:cs typeface="Canva Sans Bold"/>
                <a:sym typeface="Canva Sans Bold"/>
              </a:rPr>
              <a:t>V2</a:t>
            </a:r>
          </a:p>
        </p:txBody>
      </p:sp>
      <p:sp>
        <p:nvSpPr>
          <p:cNvPr name="TextBox 13" id="1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17</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grpSp>
        <p:nvGrpSpPr>
          <p:cNvPr name="Group 2" id="2"/>
          <p:cNvGrpSpPr/>
          <p:nvPr/>
        </p:nvGrpSpPr>
        <p:grpSpPr>
          <a:xfrm rot="0">
            <a:off x="7944961" y="5663635"/>
            <a:ext cx="6998061" cy="2957294"/>
            <a:chOff x="0" y="0"/>
            <a:chExt cx="2342659" cy="989978"/>
          </a:xfrm>
        </p:grpSpPr>
        <p:sp>
          <p:nvSpPr>
            <p:cNvPr name="Freeform 3" id="3"/>
            <p:cNvSpPr/>
            <p:nvPr/>
          </p:nvSpPr>
          <p:spPr>
            <a:xfrm flipH="false" flipV="false" rot="0">
              <a:off x="0" y="0"/>
              <a:ext cx="2342659" cy="989978"/>
            </a:xfrm>
            <a:custGeom>
              <a:avLst/>
              <a:gdLst/>
              <a:ahLst/>
              <a:cxnLst/>
              <a:rect r="r" b="b" t="t" l="l"/>
              <a:pathLst>
                <a:path h="989978" w="2342659">
                  <a:moveTo>
                    <a:pt x="0" y="0"/>
                  </a:moveTo>
                  <a:lnTo>
                    <a:pt x="2342659" y="0"/>
                  </a:lnTo>
                  <a:lnTo>
                    <a:pt x="2342659" y="989978"/>
                  </a:lnTo>
                  <a:lnTo>
                    <a:pt x="0" y="989978"/>
                  </a:lnTo>
                  <a:close/>
                </a:path>
              </a:pathLst>
            </a:custGeom>
            <a:solidFill>
              <a:srgbClr val="0003FF"/>
            </a:solidFill>
          </p:spPr>
        </p:sp>
        <p:sp>
          <p:nvSpPr>
            <p:cNvPr name="TextBox 4" id="4"/>
            <p:cNvSpPr txBox="true"/>
            <p:nvPr/>
          </p:nvSpPr>
          <p:spPr>
            <a:xfrm>
              <a:off x="0" y="104775"/>
              <a:ext cx="2342659" cy="885203"/>
            </a:xfrm>
            <a:prstGeom prst="rect">
              <a:avLst/>
            </a:prstGeom>
          </p:spPr>
          <p:txBody>
            <a:bodyPr anchor="ctr" rtlCol="false" tIns="50800" lIns="50800" bIns="50800" rIns="50800"/>
            <a:lstStyle/>
            <a:p>
              <a:pPr algn="ctr">
                <a:lnSpc>
                  <a:spcPts val="1925"/>
                </a:lnSpc>
              </a:pPr>
            </a:p>
          </p:txBody>
        </p:sp>
      </p:grpSp>
      <p:sp>
        <p:nvSpPr>
          <p:cNvPr name="TextBox 5" id="5"/>
          <p:cNvSpPr txBox="true"/>
          <p:nvPr/>
        </p:nvSpPr>
        <p:spPr>
          <a:xfrm rot="0">
            <a:off x="3916730" y="3504250"/>
            <a:ext cx="1162315" cy="1295016"/>
          </a:xfrm>
          <a:prstGeom prst="rect">
            <a:avLst/>
          </a:prstGeom>
        </p:spPr>
        <p:txBody>
          <a:bodyPr anchor="t" rtlCol="false" tIns="0" lIns="0" bIns="0" rIns="0">
            <a:spAutoFit/>
          </a:bodyPr>
          <a:lstStyle/>
          <a:p>
            <a:pPr algn="ctr">
              <a:lnSpc>
                <a:spcPts val="10637"/>
              </a:lnSpc>
            </a:pPr>
            <a:r>
              <a:rPr lang="en-US" sz="7597" b="true">
                <a:solidFill>
                  <a:srgbClr val="000000"/>
                </a:solidFill>
                <a:latin typeface="Canva Sans Bold"/>
                <a:ea typeface="Canva Sans Bold"/>
                <a:cs typeface="Canva Sans Bold"/>
                <a:sym typeface="Canva Sans Bold"/>
              </a:rPr>
              <a:t>V1</a:t>
            </a:r>
          </a:p>
        </p:txBody>
      </p:sp>
      <p:sp>
        <p:nvSpPr>
          <p:cNvPr name="AutoShape 6" id="6"/>
          <p:cNvSpPr/>
          <p:nvPr/>
        </p:nvSpPr>
        <p:spPr>
          <a:xfrm flipV="true">
            <a:off x="5079045" y="2769270"/>
            <a:ext cx="2198526" cy="1453925"/>
          </a:xfrm>
          <a:prstGeom prst="line">
            <a:avLst/>
          </a:prstGeom>
          <a:ln cap="flat" w="38100">
            <a:solidFill>
              <a:srgbClr val="000000"/>
            </a:solidFill>
            <a:prstDash val="solid"/>
            <a:headEnd type="none" len="sm" w="sm"/>
            <a:tailEnd type="none" len="sm" w="sm"/>
          </a:ln>
        </p:spPr>
      </p:sp>
      <p:sp>
        <p:nvSpPr>
          <p:cNvPr name="AutoShape 7" id="7"/>
          <p:cNvSpPr/>
          <p:nvPr/>
        </p:nvSpPr>
        <p:spPr>
          <a:xfrm flipV="true">
            <a:off x="3867192" y="7541935"/>
            <a:ext cx="1926170" cy="948650"/>
          </a:xfrm>
          <a:prstGeom prst="line">
            <a:avLst/>
          </a:prstGeom>
          <a:ln cap="flat" w="38100">
            <a:solidFill>
              <a:srgbClr val="000000"/>
            </a:solidFill>
            <a:prstDash val="solid"/>
            <a:headEnd type="none" len="sm" w="sm"/>
            <a:tailEnd type="none" len="sm" w="sm"/>
          </a:ln>
        </p:spPr>
      </p:sp>
      <p:sp>
        <p:nvSpPr>
          <p:cNvPr name="Freeform 8" id="8"/>
          <p:cNvSpPr/>
          <p:nvPr/>
        </p:nvSpPr>
        <p:spPr>
          <a:xfrm flipH="false" flipV="false" rot="0">
            <a:off x="7277571" y="985692"/>
            <a:ext cx="10648232" cy="3567158"/>
          </a:xfrm>
          <a:custGeom>
            <a:avLst/>
            <a:gdLst/>
            <a:ahLst/>
            <a:cxnLst/>
            <a:rect r="r" b="b" t="t" l="l"/>
            <a:pathLst>
              <a:path h="3567158" w="10648232">
                <a:moveTo>
                  <a:pt x="0" y="0"/>
                </a:moveTo>
                <a:lnTo>
                  <a:pt x="10648232" y="0"/>
                </a:lnTo>
                <a:lnTo>
                  <a:pt x="10648232" y="3567157"/>
                </a:lnTo>
                <a:lnTo>
                  <a:pt x="0" y="3567157"/>
                </a:lnTo>
                <a:lnTo>
                  <a:pt x="0" y="0"/>
                </a:lnTo>
                <a:close/>
              </a:path>
            </a:pathLst>
          </a:custGeom>
          <a:blipFill>
            <a:blip r:embed="rId2"/>
            <a:stretch>
              <a:fillRect l="0" t="0" r="0" b="0"/>
            </a:stretch>
          </a:blipFill>
        </p:spPr>
      </p:sp>
      <p:sp>
        <p:nvSpPr>
          <p:cNvPr name="Freeform 9" id="9"/>
          <p:cNvSpPr/>
          <p:nvPr/>
        </p:nvSpPr>
        <p:spPr>
          <a:xfrm flipH="false" flipV="false" rot="0">
            <a:off x="5793362" y="5143500"/>
            <a:ext cx="11301259" cy="3913061"/>
          </a:xfrm>
          <a:custGeom>
            <a:avLst/>
            <a:gdLst/>
            <a:ahLst/>
            <a:cxnLst/>
            <a:rect r="r" b="b" t="t" l="l"/>
            <a:pathLst>
              <a:path h="3913061" w="11301259">
                <a:moveTo>
                  <a:pt x="0" y="0"/>
                </a:moveTo>
                <a:lnTo>
                  <a:pt x="11301259" y="0"/>
                </a:lnTo>
                <a:lnTo>
                  <a:pt x="11301259" y="3913061"/>
                </a:lnTo>
                <a:lnTo>
                  <a:pt x="0" y="3913061"/>
                </a:lnTo>
                <a:lnTo>
                  <a:pt x="0" y="0"/>
                </a:lnTo>
                <a:close/>
              </a:path>
            </a:pathLst>
          </a:custGeom>
          <a:blipFill>
            <a:blip r:embed="rId3"/>
            <a:stretch>
              <a:fillRect l="0" t="0" r="0" b="0"/>
            </a:stretch>
          </a:blipFill>
        </p:spPr>
      </p:sp>
      <p:sp>
        <p:nvSpPr>
          <p:cNvPr name="TextBox 10" id="10"/>
          <p:cNvSpPr txBox="true"/>
          <p:nvPr/>
        </p:nvSpPr>
        <p:spPr>
          <a:xfrm rot="0">
            <a:off x="12076074" y="4424417"/>
            <a:ext cx="4274961" cy="237814"/>
          </a:xfrm>
          <a:prstGeom prst="rect">
            <a:avLst/>
          </a:prstGeom>
        </p:spPr>
        <p:txBody>
          <a:bodyPr anchor="t" rtlCol="false" tIns="0" lIns="0" bIns="0" rIns="0">
            <a:spAutoFit/>
          </a:bodyPr>
          <a:lstStyle/>
          <a:p>
            <a:pPr algn="just" marL="0" indent="0" lvl="0">
              <a:lnSpc>
                <a:spcPts val="1955"/>
              </a:lnSpc>
              <a:spcBef>
                <a:spcPct val="0"/>
              </a:spcBef>
            </a:pPr>
          </a:p>
        </p:txBody>
      </p:sp>
      <p:sp>
        <p:nvSpPr>
          <p:cNvPr name="TextBox 11" id="11"/>
          <p:cNvSpPr txBox="true"/>
          <p:nvPr/>
        </p:nvSpPr>
        <p:spPr>
          <a:xfrm rot="0">
            <a:off x="233062" y="152400"/>
            <a:ext cx="6192383" cy="2894227"/>
          </a:xfrm>
          <a:prstGeom prst="rect">
            <a:avLst/>
          </a:prstGeom>
        </p:spPr>
        <p:txBody>
          <a:bodyPr anchor="t" rtlCol="false" tIns="0" lIns="0" bIns="0" rIns="0">
            <a:spAutoFit/>
          </a:bodyPr>
          <a:lstStyle/>
          <a:p>
            <a:pPr algn="l">
              <a:lnSpc>
                <a:spcPts val="11252"/>
              </a:lnSpc>
            </a:pPr>
            <a:r>
              <a:rPr lang="en-US" b="true" sz="10716" spc="-525">
                <a:solidFill>
                  <a:srgbClr val="343434"/>
                </a:solidFill>
                <a:latin typeface="TT Hoves Bold"/>
                <a:ea typeface="TT Hoves Bold"/>
                <a:cs typeface="TT Hoves Bold"/>
                <a:sym typeface="TT Hoves Bold"/>
              </a:rPr>
              <a:t>Load Staging </a:t>
            </a:r>
          </a:p>
        </p:txBody>
      </p:sp>
      <p:sp>
        <p:nvSpPr>
          <p:cNvPr name="TextBox 12" id="12"/>
          <p:cNvSpPr txBox="true"/>
          <p:nvPr/>
        </p:nvSpPr>
        <p:spPr>
          <a:xfrm rot="0">
            <a:off x="2791314" y="7837099"/>
            <a:ext cx="1075878" cy="1173621"/>
          </a:xfrm>
          <a:prstGeom prst="rect">
            <a:avLst/>
          </a:prstGeom>
        </p:spPr>
        <p:txBody>
          <a:bodyPr anchor="t" rtlCol="false" tIns="0" lIns="0" bIns="0" rIns="0">
            <a:spAutoFit/>
          </a:bodyPr>
          <a:lstStyle/>
          <a:p>
            <a:pPr algn="ctr">
              <a:lnSpc>
                <a:spcPts val="9604"/>
              </a:lnSpc>
            </a:pPr>
            <a:r>
              <a:rPr lang="en-US" sz="6860" b="true">
                <a:solidFill>
                  <a:srgbClr val="000000"/>
                </a:solidFill>
                <a:latin typeface="Canva Sans Bold"/>
                <a:ea typeface="Canva Sans Bold"/>
                <a:cs typeface="Canva Sans Bold"/>
                <a:sym typeface="Canva Sans Bold"/>
              </a:rPr>
              <a:t>V2</a:t>
            </a:r>
          </a:p>
        </p:txBody>
      </p:sp>
      <p:sp>
        <p:nvSpPr>
          <p:cNvPr name="TextBox 13" id="1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18</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grpSp>
        <p:nvGrpSpPr>
          <p:cNvPr name="Group 2" id="2"/>
          <p:cNvGrpSpPr/>
          <p:nvPr/>
        </p:nvGrpSpPr>
        <p:grpSpPr>
          <a:xfrm rot="0">
            <a:off x="7944961" y="5663635"/>
            <a:ext cx="6998061" cy="2957294"/>
            <a:chOff x="0" y="0"/>
            <a:chExt cx="2342659" cy="989978"/>
          </a:xfrm>
        </p:grpSpPr>
        <p:sp>
          <p:nvSpPr>
            <p:cNvPr name="Freeform 3" id="3"/>
            <p:cNvSpPr/>
            <p:nvPr/>
          </p:nvSpPr>
          <p:spPr>
            <a:xfrm flipH="false" flipV="false" rot="0">
              <a:off x="0" y="0"/>
              <a:ext cx="2342659" cy="989978"/>
            </a:xfrm>
            <a:custGeom>
              <a:avLst/>
              <a:gdLst/>
              <a:ahLst/>
              <a:cxnLst/>
              <a:rect r="r" b="b" t="t" l="l"/>
              <a:pathLst>
                <a:path h="989978" w="2342659">
                  <a:moveTo>
                    <a:pt x="0" y="0"/>
                  </a:moveTo>
                  <a:lnTo>
                    <a:pt x="2342659" y="0"/>
                  </a:lnTo>
                  <a:lnTo>
                    <a:pt x="2342659" y="989978"/>
                  </a:lnTo>
                  <a:lnTo>
                    <a:pt x="0" y="989978"/>
                  </a:lnTo>
                  <a:close/>
                </a:path>
              </a:pathLst>
            </a:custGeom>
            <a:solidFill>
              <a:srgbClr val="0003FF"/>
            </a:solidFill>
          </p:spPr>
        </p:sp>
        <p:sp>
          <p:nvSpPr>
            <p:cNvPr name="TextBox 4" id="4"/>
            <p:cNvSpPr txBox="true"/>
            <p:nvPr/>
          </p:nvSpPr>
          <p:spPr>
            <a:xfrm>
              <a:off x="0" y="104775"/>
              <a:ext cx="2342659" cy="885203"/>
            </a:xfrm>
            <a:prstGeom prst="rect">
              <a:avLst/>
            </a:prstGeom>
          </p:spPr>
          <p:txBody>
            <a:bodyPr anchor="ctr" rtlCol="false" tIns="50800" lIns="50800" bIns="50800" rIns="50800"/>
            <a:lstStyle/>
            <a:p>
              <a:pPr algn="ctr">
                <a:lnSpc>
                  <a:spcPts val="1925"/>
                </a:lnSpc>
              </a:pPr>
            </a:p>
          </p:txBody>
        </p:sp>
      </p:grpSp>
      <p:sp>
        <p:nvSpPr>
          <p:cNvPr name="TextBox 5" id="5"/>
          <p:cNvSpPr txBox="true"/>
          <p:nvPr/>
        </p:nvSpPr>
        <p:spPr>
          <a:xfrm rot="0">
            <a:off x="3916730" y="3504250"/>
            <a:ext cx="1162315" cy="1295016"/>
          </a:xfrm>
          <a:prstGeom prst="rect">
            <a:avLst/>
          </a:prstGeom>
        </p:spPr>
        <p:txBody>
          <a:bodyPr anchor="t" rtlCol="false" tIns="0" lIns="0" bIns="0" rIns="0">
            <a:spAutoFit/>
          </a:bodyPr>
          <a:lstStyle/>
          <a:p>
            <a:pPr algn="ctr">
              <a:lnSpc>
                <a:spcPts val="10637"/>
              </a:lnSpc>
            </a:pPr>
            <a:r>
              <a:rPr lang="en-US" sz="7597" b="true">
                <a:solidFill>
                  <a:srgbClr val="000000"/>
                </a:solidFill>
                <a:latin typeface="Canva Sans Bold"/>
                <a:ea typeface="Canva Sans Bold"/>
                <a:cs typeface="Canva Sans Bold"/>
                <a:sym typeface="Canva Sans Bold"/>
              </a:rPr>
              <a:t>V1</a:t>
            </a:r>
          </a:p>
        </p:txBody>
      </p:sp>
      <p:sp>
        <p:nvSpPr>
          <p:cNvPr name="AutoShape 6" id="6"/>
          <p:cNvSpPr/>
          <p:nvPr/>
        </p:nvSpPr>
        <p:spPr>
          <a:xfrm flipV="true">
            <a:off x="5079045" y="3412030"/>
            <a:ext cx="1907696" cy="811166"/>
          </a:xfrm>
          <a:prstGeom prst="line">
            <a:avLst/>
          </a:prstGeom>
          <a:ln cap="flat" w="38100">
            <a:solidFill>
              <a:srgbClr val="000000"/>
            </a:solidFill>
            <a:prstDash val="solid"/>
            <a:headEnd type="none" len="sm" w="sm"/>
            <a:tailEnd type="none" len="sm" w="sm"/>
          </a:ln>
        </p:spPr>
      </p:sp>
      <p:sp>
        <p:nvSpPr>
          <p:cNvPr name="AutoShape 7" id="7"/>
          <p:cNvSpPr/>
          <p:nvPr/>
        </p:nvSpPr>
        <p:spPr>
          <a:xfrm flipV="true">
            <a:off x="3867192" y="7142282"/>
            <a:ext cx="1211853" cy="1348303"/>
          </a:xfrm>
          <a:prstGeom prst="line">
            <a:avLst/>
          </a:prstGeom>
          <a:ln cap="flat" w="38100">
            <a:solidFill>
              <a:srgbClr val="000000"/>
            </a:solidFill>
            <a:prstDash val="solid"/>
            <a:headEnd type="none" len="sm" w="sm"/>
            <a:tailEnd type="none" len="sm" w="sm"/>
          </a:ln>
        </p:spPr>
      </p:sp>
      <p:sp>
        <p:nvSpPr>
          <p:cNvPr name="Freeform 8" id="8"/>
          <p:cNvSpPr/>
          <p:nvPr/>
        </p:nvSpPr>
        <p:spPr>
          <a:xfrm flipH="false" flipV="false" rot="0">
            <a:off x="5079045" y="5635529"/>
            <a:ext cx="12688451" cy="3013507"/>
          </a:xfrm>
          <a:custGeom>
            <a:avLst/>
            <a:gdLst/>
            <a:ahLst/>
            <a:cxnLst/>
            <a:rect r="r" b="b" t="t" l="l"/>
            <a:pathLst>
              <a:path h="3013507" w="12688451">
                <a:moveTo>
                  <a:pt x="0" y="0"/>
                </a:moveTo>
                <a:lnTo>
                  <a:pt x="12688452" y="0"/>
                </a:lnTo>
                <a:lnTo>
                  <a:pt x="12688452" y="3013507"/>
                </a:lnTo>
                <a:lnTo>
                  <a:pt x="0" y="3013507"/>
                </a:lnTo>
                <a:lnTo>
                  <a:pt x="0" y="0"/>
                </a:lnTo>
                <a:close/>
              </a:path>
            </a:pathLst>
          </a:custGeom>
          <a:blipFill>
            <a:blip r:embed="rId2"/>
            <a:stretch>
              <a:fillRect l="0" t="0" r="0" b="0"/>
            </a:stretch>
          </a:blipFill>
        </p:spPr>
      </p:sp>
      <p:sp>
        <p:nvSpPr>
          <p:cNvPr name="Freeform 9" id="9"/>
          <p:cNvSpPr/>
          <p:nvPr/>
        </p:nvSpPr>
        <p:spPr>
          <a:xfrm flipH="false" flipV="false" rot="0">
            <a:off x="6986741" y="2161828"/>
            <a:ext cx="11301259" cy="2500404"/>
          </a:xfrm>
          <a:custGeom>
            <a:avLst/>
            <a:gdLst/>
            <a:ahLst/>
            <a:cxnLst/>
            <a:rect r="r" b="b" t="t" l="l"/>
            <a:pathLst>
              <a:path h="2500404" w="11301259">
                <a:moveTo>
                  <a:pt x="0" y="0"/>
                </a:moveTo>
                <a:lnTo>
                  <a:pt x="11301259" y="0"/>
                </a:lnTo>
                <a:lnTo>
                  <a:pt x="11301259" y="2500403"/>
                </a:lnTo>
                <a:lnTo>
                  <a:pt x="0" y="2500403"/>
                </a:lnTo>
                <a:lnTo>
                  <a:pt x="0" y="0"/>
                </a:lnTo>
                <a:close/>
              </a:path>
            </a:pathLst>
          </a:custGeom>
          <a:blipFill>
            <a:blip r:embed="rId3"/>
            <a:stretch>
              <a:fillRect l="0" t="0" r="0" b="0"/>
            </a:stretch>
          </a:blipFill>
        </p:spPr>
      </p:sp>
      <p:sp>
        <p:nvSpPr>
          <p:cNvPr name="TextBox 10" id="10"/>
          <p:cNvSpPr txBox="true"/>
          <p:nvPr/>
        </p:nvSpPr>
        <p:spPr>
          <a:xfrm rot="0">
            <a:off x="12076074" y="4424417"/>
            <a:ext cx="4274961" cy="237814"/>
          </a:xfrm>
          <a:prstGeom prst="rect">
            <a:avLst/>
          </a:prstGeom>
        </p:spPr>
        <p:txBody>
          <a:bodyPr anchor="t" rtlCol="false" tIns="0" lIns="0" bIns="0" rIns="0">
            <a:spAutoFit/>
          </a:bodyPr>
          <a:lstStyle/>
          <a:p>
            <a:pPr algn="just" marL="0" indent="0" lvl="0">
              <a:lnSpc>
                <a:spcPts val="1955"/>
              </a:lnSpc>
              <a:spcBef>
                <a:spcPct val="0"/>
              </a:spcBef>
            </a:pPr>
          </a:p>
        </p:txBody>
      </p:sp>
      <p:sp>
        <p:nvSpPr>
          <p:cNvPr name="TextBox 11" id="11"/>
          <p:cNvSpPr txBox="true"/>
          <p:nvPr/>
        </p:nvSpPr>
        <p:spPr>
          <a:xfrm rot="0">
            <a:off x="461137" y="514868"/>
            <a:ext cx="5311440" cy="2489382"/>
          </a:xfrm>
          <a:prstGeom prst="rect">
            <a:avLst/>
          </a:prstGeom>
        </p:spPr>
        <p:txBody>
          <a:bodyPr anchor="t" rtlCol="false" tIns="0" lIns="0" bIns="0" rIns="0">
            <a:spAutoFit/>
          </a:bodyPr>
          <a:lstStyle/>
          <a:p>
            <a:pPr algn="l">
              <a:lnSpc>
                <a:spcPts val="9651"/>
              </a:lnSpc>
            </a:pPr>
            <a:r>
              <a:rPr lang="en-US" b="true" sz="9191" spc="-450">
                <a:solidFill>
                  <a:srgbClr val="343434"/>
                </a:solidFill>
                <a:latin typeface="TT Hoves Bold"/>
                <a:ea typeface="TT Hoves Bold"/>
                <a:cs typeface="TT Hoves Bold"/>
                <a:sym typeface="TT Hoves Bold"/>
              </a:rPr>
              <a:t>Customer dimension </a:t>
            </a:r>
          </a:p>
        </p:txBody>
      </p:sp>
      <p:sp>
        <p:nvSpPr>
          <p:cNvPr name="TextBox 12" id="12"/>
          <p:cNvSpPr txBox="true"/>
          <p:nvPr/>
        </p:nvSpPr>
        <p:spPr>
          <a:xfrm rot="0">
            <a:off x="2791314" y="7837099"/>
            <a:ext cx="1075878" cy="1173621"/>
          </a:xfrm>
          <a:prstGeom prst="rect">
            <a:avLst/>
          </a:prstGeom>
        </p:spPr>
        <p:txBody>
          <a:bodyPr anchor="t" rtlCol="false" tIns="0" lIns="0" bIns="0" rIns="0">
            <a:spAutoFit/>
          </a:bodyPr>
          <a:lstStyle/>
          <a:p>
            <a:pPr algn="ctr">
              <a:lnSpc>
                <a:spcPts val="9604"/>
              </a:lnSpc>
            </a:pPr>
            <a:r>
              <a:rPr lang="en-US" sz="6860" b="true">
                <a:solidFill>
                  <a:srgbClr val="000000"/>
                </a:solidFill>
                <a:latin typeface="Canva Sans Bold"/>
                <a:ea typeface="Canva Sans Bold"/>
                <a:cs typeface="Canva Sans Bold"/>
                <a:sym typeface="Canva Sans Bold"/>
              </a:rPr>
              <a:t>V2</a:t>
            </a:r>
          </a:p>
        </p:txBody>
      </p:sp>
      <p:sp>
        <p:nvSpPr>
          <p:cNvPr name="TextBox 13" id="1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19</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grpSp>
        <p:nvGrpSpPr>
          <p:cNvPr name="Group 2" id="2"/>
          <p:cNvGrpSpPr/>
          <p:nvPr/>
        </p:nvGrpSpPr>
        <p:grpSpPr>
          <a:xfrm rot="0">
            <a:off x="7944961" y="5663635"/>
            <a:ext cx="6998061" cy="2957294"/>
            <a:chOff x="0" y="0"/>
            <a:chExt cx="2342659" cy="989978"/>
          </a:xfrm>
        </p:grpSpPr>
        <p:sp>
          <p:nvSpPr>
            <p:cNvPr name="Freeform 3" id="3"/>
            <p:cNvSpPr/>
            <p:nvPr/>
          </p:nvSpPr>
          <p:spPr>
            <a:xfrm flipH="false" flipV="false" rot="0">
              <a:off x="0" y="0"/>
              <a:ext cx="2342659" cy="989978"/>
            </a:xfrm>
            <a:custGeom>
              <a:avLst/>
              <a:gdLst/>
              <a:ahLst/>
              <a:cxnLst/>
              <a:rect r="r" b="b" t="t" l="l"/>
              <a:pathLst>
                <a:path h="989978" w="2342659">
                  <a:moveTo>
                    <a:pt x="0" y="0"/>
                  </a:moveTo>
                  <a:lnTo>
                    <a:pt x="2342659" y="0"/>
                  </a:lnTo>
                  <a:lnTo>
                    <a:pt x="2342659" y="989978"/>
                  </a:lnTo>
                  <a:lnTo>
                    <a:pt x="0" y="989978"/>
                  </a:lnTo>
                  <a:close/>
                </a:path>
              </a:pathLst>
            </a:custGeom>
            <a:solidFill>
              <a:srgbClr val="0003FF"/>
            </a:solidFill>
          </p:spPr>
        </p:sp>
        <p:sp>
          <p:nvSpPr>
            <p:cNvPr name="TextBox 4" id="4"/>
            <p:cNvSpPr txBox="true"/>
            <p:nvPr/>
          </p:nvSpPr>
          <p:spPr>
            <a:xfrm>
              <a:off x="0" y="104775"/>
              <a:ext cx="2342659" cy="885203"/>
            </a:xfrm>
            <a:prstGeom prst="rect">
              <a:avLst/>
            </a:prstGeom>
          </p:spPr>
          <p:txBody>
            <a:bodyPr anchor="ctr" rtlCol="false" tIns="50800" lIns="50800" bIns="50800" rIns="50800"/>
            <a:lstStyle/>
            <a:p>
              <a:pPr algn="ctr">
                <a:lnSpc>
                  <a:spcPts val="1925"/>
                </a:lnSpc>
              </a:pPr>
            </a:p>
          </p:txBody>
        </p:sp>
      </p:grpSp>
      <p:sp>
        <p:nvSpPr>
          <p:cNvPr name="TextBox 5" id="5"/>
          <p:cNvSpPr txBox="true"/>
          <p:nvPr/>
        </p:nvSpPr>
        <p:spPr>
          <a:xfrm rot="0">
            <a:off x="3905679" y="3709005"/>
            <a:ext cx="1162315" cy="1295016"/>
          </a:xfrm>
          <a:prstGeom prst="rect">
            <a:avLst/>
          </a:prstGeom>
        </p:spPr>
        <p:txBody>
          <a:bodyPr anchor="t" rtlCol="false" tIns="0" lIns="0" bIns="0" rIns="0">
            <a:spAutoFit/>
          </a:bodyPr>
          <a:lstStyle/>
          <a:p>
            <a:pPr algn="ctr">
              <a:lnSpc>
                <a:spcPts val="10637"/>
              </a:lnSpc>
            </a:pPr>
            <a:r>
              <a:rPr lang="en-US" sz="7597" b="true">
                <a:solidFill>
                  <a:srgbClr val="000000"/>
                </a:solidFill>
                <a:latin typeface="Canva Sans Bold"/>
                <a:ea typeface="Canva Sans Bold"/>
                <a:cs typeface="Canva Sans Bold"/>
                <a:sym typeface="Canva Sans Bold"/>
              </a:rPr>
              <a:t>V1</a:t>
            </a:r>
          </a:p>
        </p:txBody>
      </p:sp>
      <p:sp>
        <p:nvSpPr>
          <p:cNvPr name="AutoShape 6" id="6"/>
          <p:cNvSpPr/>
          <p:nvPr/>
        </p:nvSpPr>
        <p:spPr>
          <a:xfrm flipV="true">
            <a:off x="5067994" y="2862168"/>
            <a:ext cx="2209577" cy="1565783"/>
          </a:xfrm>
          <a:prstGeom prst="line">
            <a:avLst/>
          </a:prstGeom>
          <a:ln cap="flat" w="38100">
            <a:solidFill>
              <a:srgbClr val="000000"/>
            </a:solidFill>
            <a:prstDash val="solid"/>
            <a:headEnd type="none" len="sm" w="sm"/>
            <a:tailEnd type="none" len="sm" w="sm"/>
          </a:ln>
        </p:spPr>
      </p:sp>
      <p:sp>
        <p:nvSpPr>
          <p:cNvPr name="Freeform 7" id="7"/>
          <p:cNvSpPr/>
          <p:nvPr/>
        </p:nvSpPr>
        <p:spPr>
          <a:xfrm flipH="false" flipV="false" rot="0">
            <a:off x="7277571" y="376080"/>
            <a:ext cx="7393569" cy="4972175"/>
          </a:xfrm>
          <a:custGeom>
            <a:avLst/>
            <a:gdLst/>
            <a:ahLst/>
            <a:cxnLst/>
            <a:rect r="r" b="b" t="t" l="l"/>
            <a:pathLst>
              <a:path h="4972175" w="7393569">
                <a:moveTo>
                  <a:pt x="0" y="0"/>
                </a:moveTo>
                <a:lnTo>
                  <a:pt x="7393569" y="0"/>
                </a:lnTo>
                <a:lnTo>
                  <a:pt x="7393569" y="4972175"/>
                </a:lnTo>
                <a:lnTo>
                  <a:pt x="0" y="4972175"/>
                </a:lnTo>
                <a:lnTo>
                  <a:pt x="0" y="0"/>
                </a:lnTo>
                <a:close/>
              </a:path>
            </a:pathLst>
          </a:custGeom>
          <a:blipFill>
            <a:blip r:embed="rId2"/>
            <a:stretch>
              <a:fillRect l="0" t="0" r="0" b="0"/>
            </a:stretch>
          </a:blipFill>
        </p:spPr>
      </p:sp>
      <p:sp>
        <p:nvSpPr>
          <p:cNvPr name="Freeform 8" id="8"/>
          <p:cNvSpPr/>
          <p:nvPr/>
        </p:nvSpPr>
        <p:spPr>
          <a:xfrm flipH="false" flipV="false" rot="0">
            <a:off x="7277571" y="5065563"/>
            <a:ext cx="7999146" cy="4192737"/>
          </a:xfrm>
          <a:custGeom>
            <a:avLst/>
            <a:gdLst/>
            <a:ahLst/>
            <a:cxnLst/>
            <a:rect r="r" b="b" t="t" l="l"/>
            <a:pathLst>
              <a:path h="4192737" w="7999146">
                <a:moveTo>
                  <a:pt x="0" y="0"/>
                </a:moveTo>
                <a:lnTo>
                  <a:pt x="7999146" y="0"/>
                </a:lnTo>
                <a:lnTo>
                  <a:pt x="7999146" y="4192737"/>
                </a:lnTo>
                <a:lnTo>
                  <a:pt x="0" y="4192737"/>
                </a:lnTo>
                <a:lnTo>
                  <a:pt x="0" y="0"/>
                </a:lnTo>
                <a:close/>
              </a:path>
            </a:pathLst>
          </a:custGeom>
          <a:blipFill>
            <a:blip r:embed="rId3"/>
            <a:stretch>
              <a:fillRect l="0" t="-6730" r="0" b="-825"/>
            </a:stretch>
          </a:blipFill>
        </p:spPr>
      </p:sp>
      <p:sp>
        <p:nvSpPr>
          <p:cNvPr name="TextBox 9" id="9"/>
          <p:cNvSpPr txBox="true"/>
          <p:nvPr/>
        </p:nvSpPr>
        <p:spPr>
          <a:xfrm rot="0">
            <a:off x="12076074" y="4424417"/>
            <a:ext cx="4274961" cy="237814"/>
          </a:xfrm>
          <a:prstGeom prst="rect">
            <a:avLst/>
          </a:prstGeom>
        </p:spPr>
        <p:txBody>
          <a:bodyPr anchor="t" rtlCol="false" tIns="0" lIns="0" bIns="0" rIns="0">
            <a:spAutoFit/>
          </a:bodyPr>
          <a:lstStyle/>
          <a:p>
            <a:pPr algn="just" marL="0" indent="0" lvl="0">
              <a:lnSpc>
                <a:spcPts val="1955"/>
              </a:lnSpc>
              <a:spcBef>
                <a:spcPct val="0"/>
              </a:spcBef>
            </a:pPr>
          </a:p>
        </p:txBody>
      </p:sp>
      <p:sp>
        <p:nvSpPr>
          <p:cNvPr name="TextBox 10" id="10"/>
          <p:cNvSpPr txBox="true"/>
          <p:nvPr/>
        </p:nvSpPr>
        <p:spPr>
          <a:xfrm rot="0">
            <a:off x="233062" y="372786"/>
            <a:ext cx="5311440" cy="2489382"/>
          </a:xfrm>
          <a:prstGeom prst="rect">
            <a:avLst/>
          </a:prstGeom>
        </p:spPr>
        <p:txBody>
          <a:bodyPr anchor="t" rtlCol="false" tIns="0" lIns="0" bIns="0" rIns="0">
            <a:spAutoFit/>
          </a:bodyPr>
          <a:lstStyle/>
          <a:p>
            <a:pPr algn="l">
              <a:lnSpc>
                <a:spcPts val="9651"/>
              </a:lnSpc>
            </a:pPr>
            <a:r>
              <a:rPr lang="en-US" b="true" sz="9191" spc="-450">
                <a:solidFill>
                  <a:srgbClr val="343434"/>
                </a:solidFill>
                <a:latin typeface="TT Hoves Bold"/>
                <a:ea typeface="TT Hoves Bold"/>
                <a:cs typeface="TT Hoves Bold"/>
                <a:sym typeface="TT Hoves Bold"/>
              </a:rPr>
              <a:t>Product dimension </a:t>
            </a:r>
          </a:p>
        </p:txBody>
      </p:sp>
      <p:sp>
        <p:nvSpPr>
          <p:cNvPr name="TextBox 11" id="1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20</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3891048" y="3709005"/>
            <a:ext cx="1191578" cy="1295016"/>
          </a:xfrm>
          <a:prstGeom prst="rect">
            <a:avLst/>
          </a:prstGeom>
        </p:spPr>
        <p:txBody>
          <a:bodyPr anchor="t" rtlCol="false" tIns="0" lIns="0" bIns="0" rIns="0">
            <a:spAutoFit/>
          </a:bodyPr>
          <a:lstStyle/>
          <a:p>
            <a:pPr algn="ctr">
              <a:lnSpc>
                <a:spcPts val="10637"/>
              </a:lnSpc>
            </a:pPr>
            <a:r>
              <a:rPr lang="en-US" sz="7597" b="true">
                <a:solidFill>
                  <a:srgbClr val="000000"/>
                </a:solidFill>
                <a:latin typeface="Canva Sans Bold"/>
                <a:ea typeface="Canva Sans Bold"/>
                <a:cs typeface="Canva Sans Bold"/>
                <a:sym typeface="Canva Sans Bold"/>
              </a:rPr>
              <a:t>V2</a:t>
            </a:r>
          </a:p>
        </p:txBody>
      </p:sp>
      <p:sp>
        <p:nvSpPr>
          <p:cNvPr name="AutoShape 3" id="3"/>
          <p:cNvSpPr/>
          <p:nvPr/>
        </p:nvSpPr>
        <p:spPr>
          <a:xfrm flipV="true">
            <a:off x="5082625" y="2862168"/>
            <a:ext cx="2194946" cy="1565783"/>
          </a:xfrm>
          <a:prstGeom prst="line">
            <a:avLst/>
          </a:prstGeom>
          <a:ln cap="flat" w="38100">
            <a:solidFill>
              <a:srgbClr val="000000"/>
            </a:solidFill>
            <a:prstDash val="solid"/>
            <a:headEnd type="none" len="sm" w="sm"/>
            <a:tailEnd type="none" len="sm" w="sm"/>
          </a:ln>
        </p:spPr>
      </p:sp>
      <p:sp>
        <p:nvSpPr>
          <p:cNvPr name="Freeform 4" id="4"/>
          <p:cNvSpPr/>
          <p:nvPr/>
        </p:nvSpPr>
        <p:spPr>
          <a:xfrm flipH="false" flipV="false" rot="0">
            <a:off x="7277571" y="376080"/>
            <a:ext cx="7393569" cy="4972175"/>
          </a:xfrm>
          <a:custGeom>
            <a:avLst/>
            <a:gdLst/>
            <a:ahLst/>
            <a:cxnLst/>
            <a:rect r="r" b="b" t="t" l="l"/>
            <a:pathLst>
              <a:path h="4972175" w="7393569">
                <a:moveTo>
                  <a:pt x="0" y="0"/>
                </a:moveTo>
                <a:lnTo>
                  <a:pt x="7393569" y="0"/>
                </a:lnTo>
                <a:lnTo>
                  <a:pt x="7393569" y="4972175"/>
                </a:lnTo>
                <a:lnTo>
                  <a:pt x="0" y="4972175"/>
                </a:lnTo>
                <a:lnTo>
                  <a:pt x="0" y="0"/>
                </a:lnTo>
                <a:close/>
              </a:path>
            </a:pathLst>
          </a:custGeom>
          <a:blipFill>
            <a:blip r:embed="rId2"/>
            <a:stretch>
              <a:fillRect l="0" t="0" r="0" b="0"/>
            </a:stretch>
          </a:blipFill>
        </p:spPr>
      </p:sp>
      <p:sp>
        <p:nvSpPr>
          <p:cNvPr name="Freeform 5" id="5"/>
          <p:cNvSpPr/>
          <p:nvPr/>
        </p:nvSpPr>
        <p:spPr>
          <a:xfrm flipH="false" flipV="false" rot="0">
            <a:off x="6798835" y="0"/>
            <a:ext cx="8477631" cy="5234937"/>
          </a:xfrm>
          <a:custGeom>
            <a:avLst/>
            <a:gdLst/>
            <a:ahLst/>
            <a:cxnLst/>
            <a:rect r="r" b="b" t="t" l="l"/>
            <a:pathLst>
              <a:path h="5234937" w="8477631">
                <a:moveTo>
                  <a:pt x="0" y="0"/>
                </a:moveTo>
                <a:lnTo>
                  <a:pt x="8477630" y="0"/>
                </a:lnTo>
                <a:lnTo>
                  <a:pt x="8477630" y="5234937"/>
                </a:lnTo>
                <a:lnTo>
                  <a:pt x="0" y="5234937"/>
                </a:lnTo>
                <a:lnTo>
                  <a:pt x="0" y="0"/>
                </a:lnTo>
                <a:close/>
              </a:path>
            </a:pathLst>
          </a:custGeom>
          <a:blipFill>
            <a:blip r:embed="rId3"/>
            <a:stretch>
              <a:fillRect l="0" t="0" r="0" b="0"/>
            </a:stretch>
          </a:blipFill>
        </p:spPr>
      </p:sp>
      <p:sp>
        <p:nvSpPr>
          <p:cNvPr name="Freeform 6" id="6"/>
          <p:cNvSpPr/>
          <p:nvPr/>
        </p:nvSpPr>
        <p:spPr>
          <a:xfrm flipH="false" flipV="false" rot="0">
            <a:off x="7848658" y="5143500"/>
            <a:ext cx="6377984" cy="4385711"/>
          </a:xfrm>
          <a:custGeom>
            <a:avLst/>
            <a:gdLst/>
            <a:ahLst/>
            <a:cxnLst/>
            <a:rect r="r" b="b" t="t" l="l"/>
            <a:pathLst>
              <a:path h="4385711" w="6377984">
                <a:moveTo>
                  <a:pt x="0" y="0"/>
                </a:moveTo>
                <a:lnTo>
                  <a:pt x="6377984" y="0"/>
                </a:lnTo>
                <a:lnTo>
                  <a:pt x="6377984" y="4385711"/>
                </a:lnTo>
                <a:lnTo>
                  <a:pt x="0" y="4385711"/>
                </a:lnTo>
                <a:lnTo>
                  <a:pt x="0" y="0"/>
                </a:lnTo>
                <a:close/>
              </a:path>
            </a:pathLst>
          </a:custGeom>
          <a:blipFill>
            <a:blip r:embed="rId4"/>
            <a:stretch>
              <a:fillRect l="-1128" t="-5909" r="0" b="0"/>
            </a:stretch>
          </a:blipFill>
        </p:spPr>
      </p:sp>
      <p:sp>
        <p:nvSpPr>
          <p:cNvPr name="TextBox 7" id="7"/>
          <p:cNvSpPr txBox="true"/>
          <p:nvPr/>
        </p:nvSpPr>
        <p:spPr>
          <a:xfrm rot="0">
            <a:off x="12076074" y="4424417"/>
            <a:ext cx="4274961" cy="237814"/>
          </a:xfrm>
          <a:prstGeom prst="rect">
            <a:avLst/>
          </a:prstGeom>
        </p:spPr>
        <p:txBody>
          <a:bodyPr anchor="t" rtlCol="false" tIns="0" lIns="0" bIns="0" rIns="0">
            <a:spAutoFit/>
          </a:bodyPr>
          <a:lstStyle/>
          <a:p>
            <a:pPr algn="just" marL="0" indent="0" lvl="0">
              <a:lnSpc>
                <a:spcPts val="1955"/>
              </a:lnSpc>
              <a:spcBef>
                <a:spcPct val="0"/>
              </a:spcBef>
            </a:pPr>
          </a:p>
        </p:txBody>
      </p:sp>
      <p:sp>
        <p:nvSpPr>
          <p:cNvPr name="TextBox 8" id="8"/>
          <p:cNvSpPr txBox="true"/>
          <p:nvPr/>
        </p:nvSpPr>
        <p:spPr>
          <a:xfrm rot="0">
            <a:off x="227880" y="128087"/>
            <a:ext cx="5311440" cy="2489382"/>
          </a:xfrm>
          <a:prstGeom prst="rect">
            <a:avLst/>
          </a:prstGeom>
        </p:spPr>
        <p:txBody>
          <a:bodyPr anchor="t" rtlCol="false" tIns="0" lIns="0" bIns="0" rIns="0">
            <a:spAutoFit/>
          </a:bodyPr>
          <a:lstStyle/>
          <a:p>
            <a:pPr algn="l">
              <a:lnSpc>
                <a:spcPts val="9651"/>
              </a:lnSpc>
            </a:pPr>
            <a:r>
              <a:rPr lang="en-US" b="true" sz="9191" spc="-450">
                <a:solidFill>
                  <a:srgbClr val="343434"/>
                </a:solidFill>
                <a:latin typeface="TT Hoves Bold"/>
                <a:ea typeface="TT Hoves Bold"/>
                <a:cs typeface="TT Hoves Bold"/>
                <a:sym typeface="TT Hoves Bold"/>
              </a:rPr>
              <a:t>Product dimension </a:t>
            </a:r>
          </a:p>
        </p:txBody>
      </p:sp>
      <p:sp>
        <p:nvSpPr>
          <p:cNvPr name="TextBox 9" id="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21</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3329253" y="3943286"/>
            <a:ext cx="1162315" cy="1295016"/>
          </a:xfrm>
          <a:prstGeom prst="rect">
            <a:avLst/>
          </a:prstGeom>
        </p:spPr>
        <p:txBody>
          <a:bodyPr anchor="t" rtlCol="false" tIns="0" lIns="0" bIns="0" rIns="0">
            <a:spAutoFit/>
          </a:bodyPr>
          <a:lstStyle/>
          <a:p>
            <a:pPr algn="ctr">
              <a:lnSpc>
                <a:spcPts val="10637"/>
              </a:lnSpc>
            </a:pPr>
            <a:r>
              <a:rPr lang="en-US" sz="7597" b="true">
                <a:solidFill>
                  <a:srgbClr val="000000"/>
                </a:solidFill>
                <a:latin typeface="Canva Sans Bold"/>
                <a:ea typeface="Canva Sans Bold"/>
                <a:cs typeface="Canva Sans Bold"/>
                <a:sym typeface="Canva Sans Bold"/>
              </a:rPr>
              <a:t>V1</a:t>
            </a:r>
          </a:p>
        </p:txBody>
      </p:sp>
      <p:sp>
        <p:nvSpPr>
          <p:cNvPr name="AutoShape 3" id="3"/>
          <p:cNvSpPr/>
          <p:nvPr/>
        </p:nvSpPr>
        <p:spPr>
          <a:xfrm flipV="true">
            <a:off x="4491569" y="2941621"/>
            <a:ext cx="1933876" cy="1720610"/>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3867192" y="7015271"/>
            <a:ext cx="2090849" cy="955178"/>
          </a:xfrm>
          <a:prstGeom prst="line">
            <a:avLst/>
          </a:prstGeom>
          <a:ln cap="flat" w="38100">
            <a:solidFill>
              <a:srgbClr val="000000"/>
            </a:solidFill>
            <a:prstDash val="solid"/>
            <a:headEnd type="none" len="sm" w="sm"/>
            <a:tailEnd type="none" len="sm" w="sm"/>
          </a:ln>
        </p:spPr>
      </p:sp>
      <p:sp>
        <p:nvSpPr>
          <p:cNvPr name="Freeform 5" id="5"/>
          <p:cNvSpPr/>
          <p:nvPr/>
        </p:nvSpPr>
        <p:spPr>
          <a:xfrm flipH="false" flipV="false" rot="0">
            <a:off x="5958041" y="5143500"/>
            <a:ext cx="11301259" cy="3743542"/>
          </a:xfrm>
          <a:custGeom>
            <a:avLst/>
            <a:gdLst/>
            <a:ahLst/>
            <a:cxnLst/>
            <a:rect r="r" b="b" t="t" l="l"/>
            <a:pathLst>
              <a:path h="3743542" w="11301259">
                <a:moveTo>
                  <a:pt x="0" y="0"/>
                </a:moveTo>
                <a:lnTo>
                  <a:pt x="11301259" y="0"/>
                </a:lnTo>
                <a:lnTo>
                  <a:pt x="11301259" y="3743542"/>
                </a:lnTo>
                <a:lnTo>
                  <a:pt x="0" y="3743542"/>
                </a:lnTo>
                <a:lnTo>
                  <a:pt x="0" y="0"/>
                </a:lnTo>
                <a:close/>
              </a:path>
            </a:pathLst>
          </a:custGeom>
          <a:blipFill>
            <a:blip r:embed="rId2"/>
            <a:stretch>
              <a:fillRect l="0" t="0" r="0" b="0"/>
            </a:stretch>
          </a:blipFill>
        </p:spPr>
      </p:sp>
      <p:sp>
        <p:nvSpPr>
          <p:cNvPr name="Freeform 6" id="6"/>
          <p:cNvSpPr/>
          <p:nvPr/>
        </p:nvSpPr>
        <p:spPr>
          <a:xfrm flipH="false" flipV="false" rot="0">
            <a:off x="6425445" y="1083977"/>
            <a:ext cx="11301259" cy="3715289"/>
          </a:xfrm>
          <a:custGeom>
            <a:avLst/>
            <a:gdLst/>
            <a:ahLst/>
            <a:cxnLst/>
            <a:rect r="r" b="b" t="t" l="l"/>
            <a:pathLst>
              <a:path h="3715289" w="11301259">
                <a:moveTo>
                  <a:pt x="0" y="0"/>
                </a:moveTo>
                <a:lnTo>
                  <a:pt x="11301259" y="0"/>
                </a:lnTo>
                <a:lnTo>
                  <a:pt x="11301259" y="3715289"/>
                </a:lnTo>
                <a:lnTo>
                  <a:pt x="0" y="3715289"/>
                </a:lnTo>
                <a:lnTo>
                  <a:pt x="0" y="0"/>
                </a:lnTo>
                <a:close/>
              </a:path>
            </a:pathLst>
          </a:custGeom>
          <a:blipFill>
            <a:blip r:embed="rId3"/>
            <a:stretch>
              <a:fillRect l="0" t="0" r="0" b="0"/>
            </a:stretch>
          </a:blipFill>
        </p:spPr>
      </p:sp>
      <p:sp>
        <p:nvSpPr>
          <p:cNvPr name="TextBox 7" id="7"/>
          <p:cNvSpPr txBox="true"/>
          <p:nvPr/>
        </p:nvSpPr>
        <p:spPr>
          <a:xfrm rot="0">
            <a:off x="12076074" y="4424417"/>
            <a:ext cx="4274961" cy="237814"/>
          </a:xfrm>
          <a:prstGeom prst="rect">
            <a:avLst/>
          </a:prstGeom>
        </p:spPr>
        <p:txBody>
          <a:bodyPr anchor="t" rtlCol="false" tIns="0" lIns="0" bIns="0" rIns="0">
            <a:spAutoFit/>
          </a:bodyPr>
          <a:lstStyle/>
          <a:p>
            <a:pPr algn="just" marL="0" indent="0" lvl="0">
              <a:lnSpc>
                <a:spcPts val="1955"/>
              </a:lnSpc>
              <a:spcBef>
                <a:spcPct val="0"/>
              </a:spcBef>
            </a:pPr>
          </a:p>
        </p:txBody>
      </p:sp>
      <p:sp>
        <p:nvSpPr>
          <p:cNvPr name="TextBox 8" id="8"/>
          <p:cNvSpPr txBox="true"/>
          <p:nvPr/>
        </p:nvSpPr>
        <p:spPr>
          <a:xfrm rot="0">
            <a:off x="415382" y="520839"/>
            <a:ext cx="8152374" cy="1939825"/>
          </a:xfrm>
          <a:prstGeom prst="rect">
            <a:avLst/>
          </a:prstGeom>
        </p:spPr>
        <p:txBody>
          <a:bodyPr anchor="t" rtlCol="false" tIns="0" lIns="0" bIns="0" rIns="0">
            <a:spAutoFit/>
          </a:bodyPr>
          <a:lstStyle/>
          <a:p>
            <a:pPr algn="l">
              <a:lnSpc>
                <a:spcPts val="14813"/>
              </a:lnSpc>
            </a:pPr>
            <a:r>
              <a:rPr lang="en-US" b="true" sz="14108" spc="-691">
                <a:solidFill>
                  <a:srgbClr val="343434"/>
                </a:solidFill>
                <a:latin typeface="TT Hoves Bold"/>
                <a:ea typeface="TT Hoves Bold"/>
                <a:cs typeface="TT Hoves Bold"/>
                <a:sym typeface="TT Hoves Bold"/>
              </a:rPr>
              <a:t>Fact</a:t>
            </a:r>
          </a:p>
        </p:txBody>
      </p:sp>
      <p:sp>
        <p:nvSpPr>
          <p:cNvPr name="TextBox 9" id="9"/>
          <p:cNvSpPr txBox="true"/>
          <p:nvPr/>
        </p:nvSpPr>
        <p:spPr>
          <a:xfrm rot="0">
            <a:off x="2791314" y="7316964"/>
            <a:ext cx="1075878" cy="1173621"/>
          </a:xfrm>
          <a:prstGeom prst="rect">
            <a:avLst/>
          </a:prstGeom>
        </p:spPr>
        <p:txBody>
          <a:bodyPr anchor="t" rtlCol="false" tIns="0" lIns="0" bIns="0" rIns="0">
            <a:spAutoFit/>
          </a:bodyPr>
          <a:lstStyle/>
          <a:p>
            <a:pPr algn="ctr">
              <a:lnSpc>
                <a:spcPts val="9604"/>
              </a:lnSpc>
            </a:pPr>
            <a:r>
              <a:rPr lang="en-US" sz="6860" b="true">
                <a:solidFill>
                  <a:srgbClr val="000000"/>
                </a:solidFill>
                <a:latin typeface="Canva Sans Bold"/>
                <a:ea typeface="Canva Sans Bold"/>
                <a:cs typeface="Canva Sans Bold"/>
                <a:sym typeface="Canva Sans Bold"/>
              </a:rPr>
              <a:t>V2</a:t>
            </a:r>
          </a:p>
        </p:txBody>
      </p:sp>
      <p:sp>
        <p:nvSpPr>
          <p:cNvPr name="TextBox 10" id="1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22</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grpSp>
        <p:nvGrpSpPr>
          <p:cNvPr name="Group 2" id="2"/>
          <p:cNvGrpSpPr/>
          <p:nvPr/>
        </p:nvGrpSpPr>
        <p:grpSpPr>
          <a:xfrm rot="0">
            <a:off x="3111881" y="2780189"/>
            <a:ext cx="3374925" cy="337492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0"/>
                  </a:srgbClr>
                </a:gs>
                <a:gs pos="25000">
                  <a:srgbClr val="FFFFFF">
                    <a:alpha val="100000"/>
                  </a:srgbClr>
                </a:gs>
                <a:gs pos="50000">
                  <a:srgbClr val="FFFFFF">
                    <a:alpha val="0"/>
                  </a:srgbClr>
                </a:gs>
                <a:gs pos="75000">
                  <a:srgbClr val="FCFDFE">
                    <a:alpha val="0"/>
                  </a:srgbClr>
                </a:gs>
                <a:gs pos="100000">
                  <a:srgbClr val="FCFDFE">
                    <a:alpha val="0"/>
                  </a:srgbClr>
                </a:gs>
              </a:gsLst>
              <a:lin ang="0"/>
            </a:gra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2488"/>
                </a:lnSpc>
              </a:pPr>
            </a:p>
          </p:txBody>
        </p:sp>
      </p:grpSp>
      <p:grpSp>
        <p:nvGrpSpPr>
          <p:cNvPr name="Group 5" id="5"/>
          <p:cNvGrpSpPr/>
          <p:nvPr/>
        </p:nvGrpSpPr>
        <p:grpSpPr>
          <a:xfrm rot="5400000">
            <a:off x="5770302" y="2323683"/>
            <a:ext cx="3374925" cy="4287938"/>
            <a:chOff x="0" y="0"/>
            <a:chExt cx="1168896" cy="1485116"/>
          </a:xfrm>
        </p:grpSpPr>
        <p:sp>
          <p:nvSpPr>
            <p:cNvPr name="Freeform 6" id="6"/>
            <p:cNvSpPr/>
            <p:nvPr/>
          </p:nvSpPr>
          <p:spPr>
            <a:xfrm flipH="false" flipV="false" rot="0">
              <a:off x="0" y="0"/>
              <a:ext cx="1168896" cy="1485116"/>
            </a:xfrm>
            <a:custGeom>
              <a:avLst/>
              <a:gdLst/>
              <a:ahLst/>
              <a:cxnLst/>
              <a:rect r="r" b="b" t="t" l="l"/>
              <a:pathLst>
                <a:path h="1485116" w="1168896">
                  <a:moveTo>
                    <a:pt x="584448" y="0"/>
                  </a:moveTo>
                  <a:lnTo>
                    <a:pt x="1168896" y="1485116"/>
                  </a:lnTo>
                  <a:lnTo>
                    <a:pt x="0" y="1485116"/>
                  </a:lnTo>
                  <a:lnTo>
                    <a:pt x="584448" y="0"/>
                  </a:lnTo>
                  <a:close/>
                </a:path>
              </a:pathLst>
            </a:custGeom>
            <a:gradFill rotWithShape="true">
              <a:gsLst>
                <a:gs pos="0">
                  <a:srgbClr val="6AD572">
                    <a:alpha val="100000"/>
                  </a:srgbClr>
                </a:gs>
                <a:gs pos="100000">
                  <a:srgbClr val="6AD572">
                    <a:alpha val="0"/>
                  </a:srgbClr>
                </a:gs>
              </a:gsLst>
              <a:lin ang="5400000"/>
            </a:gradFill>
          </p:spPr>
        </p:sp>
        <p:sp>
          <p:nvSpPr>
            <p:cNvPr name="TextBox 7" id="7"/>
            <p:cNvSpPr txBox="true"/>
            <p:nvPr/>
          </p:nvSpPr>
          <p:spPr>
            <a:xfrm>
              <a:off x="182640" y="641893"/>
              <a:ext cx="803616" cy="737143"/>
            </a:xfrm>
            <a:prstGeom prst="rect">
              <a:avLst/>
            </a:prstGeom>
          </p:spPr>
          <p:txBody>
            <a:bodyPr anchor="ctr" rtlCol="false" tIns="50800" lIns="50800" bIns="50800" rIns="50800"/>
            <a:lstStyle/>
            <a:p>
              <a:pPr algn="ctr">
                <a:lnSpc>
                  <a:spcPts val="2488"/>
                </a:lnSpc>
              </a:pPr>
            </a:p>
          </p:txBody>
        </p:sp>
      </p:grpSp>
      <p:grpSp>
        <p:nvGrpSpPr>
          <p:cNvPr name="Group 8" id="8"/>
          <p:cNvGrpSpPr/>
          <p:nvPr/>
        </p:nvGrpSpPr>
        <p:grpSpPr>
          <a:xfrm rot="-5400000">
            <a:off x="8347736" y="2323683"/>
            <a:ext cx="3374925" cy="4287938"/>
            <a:chOff x="0" y="0"/>
            <a:chExt cx="1168896" cy="1485116"/>
          </a:xfrm>
        </p:grpSpPr>
        <p:sp>
          <p:nvSpPr>
            <p:cNvPr name="Freeform 9" id="9"/>
            <p:cNvSpPr/>
            <p:nvPr/>
          </p:nvSpPr>
          <p:spPr>
            <a:xfrm flipH="false" flipV="false" rot="0">
              <a:off x="0" y="0"/>
              <a:ext cx="1168896" cy="1485116"/>
            </a:xfrm>
            <a:custGeom>
              <a:avLst/>
              <a:gdLst/>
              <a:ahLst/>
              <a:cxnLst/>
              <a:rect r="r" b="b" t="t" l="l"/>
              <a:pathLst>
                <a:path h="1485116" w="1168896">
                  <a:moveTo>
                    <a:pt x="584448" y="0"/>
                  </a:moveTo>
                  <a:lnTo>
                    <a:pt x="1168896" y="1485116"/>
                  </a:lnTo>
                  <a:lnTo>
                    <a:pt x="0" y="1485116"/>
                  </a:lnTo>
                  <a:lnTo>
                    <a:pt x="584448" y="0"/>
                  </a:lnTo>
                  <a:close/>
                </a:path>
              </a:pathLst>
            </a:custGeom>
            <a:gradFill rotWithShape="true">
              <a:gsLst>
                <a:gs pos="0">
                  <a:srgbClr val="65A6FE">
                    <a:alpha val="100000"/>
                  </a:srgbClr>
                </a:gs>
                <a:gs pos="100000">
                  <a:srgbClr val="65A6FE">
                    <a:alpha val="0"/>
                  </a:srgbClr>
                </a:gs>
              </a:gsLst>
              <a:lin ang="5400000"/>
            </a:gradFill>
          </p:spPr>
        </p:sp>
        <p:sp>
          <p:nvSpPr>
            <p:cNvPr name="TextBox 10" id="10"/>
            <p:cNvSpPr txBox="true"/>
            <p:nvPr/>
          </p:nvSpPr>
          <p:spPr>
            <a:xfrm>
              <a:off x="182640" y="641893"/>
              <a:ext cx="803616" cy="737143"/>
            </a:xfrm>
            <a:prstGeom prst="rect">
              <a:avLst/>
            </a:prstGeom>
          </p:spPr>
          <p:txBody>
            <a:bodyPr anchor="ctr" rtlCol="false" tIns="50800" lIns="50800" bIns="50800" rIns="50800"/>
            <a:lstStyle/>
            <a:p>
              <a:pPr algn="ctr">
                <a:lnSpc>
                  <a:spcPts val="2488"/>
                </a:lnSpc>
              </a:pPr>
            </a:p>
          </p:txBody>
        </p:sp>
      </p:grpSp>
      <p:grpSp>
        <p:nvGrpSpPr>
          <p:cNvPr name="Group 11" id="11"/>
          <p:cNvGrpSpPr/>
          <p:nvPr/>
        </p:nvGrpSpPr>
        <p:grpSpPr>
          <a:xfrm rot="-10800000">
            <a:off x="11006156" y="2780189"/>
            <a:ext cx="3374925" cy="3374925"/>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0"/>
                  </a:srgbClr>
                </a:gs>
                <a:gs pos="25000">
                  <a:srgbClr val="FFFFFF">
                    <a:alpha val="100000"/>
                  </a:srgbClr>
                </a:gs>
                <a:gs pos="50000">
                  <a:srgbClr val="FFFFFF">
                    <a:alpha val="0"/>
                  </a:srgbClr>
                </a:gs>
                <a:gs pos="75000">
                  <a:srgbClr val="FCFDFE">
                    <a:alpha val="0"/>
                  </a:srgbClr>
                </a:gs>
                <a:gs pos="100000">
                  <a:srgbClr val="FCFDFE">
                    <a:alpha val="0"/>
                  </a:srgbClr>
                </a:gs>
              </a:gsLst>
              <a:lin ang="0"/>
            </a:gra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2488"/>
                </a:lnSpc>
              </a:pPr>
            </a:p>
          </p:txBody>
        </p:sp>
      </p:grpSp>
      <p:grpSp>
        <p:nvGrpSpPr>
          <p:cNvPr name="Group 14" id="14"/>
          <p:cNvGrpSpPr/>
          <p:nvPr/>
        </p:nvGrpSpPr>
        <p:grpSpPr>
          <a:xfrm rot="0">
            <a:off x="7277038" y="2973479"/>
            <a:ext cx="2938886" cy="2938886"/>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E9EBF4"/>
              </a:solidFill>
              <a:prstDash val="solid"/>
              <a:miter/>
            </a:ln>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2488"/>
                </a:lnSpc>
              </a:pPr>
            </a:p>
          </p:txBody>
        </p:sp>
      </p:grpSp>
      <p:grpSp>
        <p:nvGrpSpPr>
          <p:cNvPr name="Group 17" id="17"/>
          <p:cNvGrpSpPr/>
          <p:nvPr/>
        </p:nvGrpSpPr>
        <p:grpSpPr>
          <a:xfrm rot="0">
            <a:off x="7469165" y="3190336"/>
            <a:ext cx="2554632" cy="2554632"/>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EBF4"/>
            </a:solidFill>
          </p:spPr>
        </p:sp>
        <p:sp>
          <p:nvSpPr>
            <p:cNvPr name="TextBox 19" id="19"/>
            <p:cNvSpPr txBox="true"/>
            <p:nvPr/>
          </p:nvSpPr>
          <p:spPr>
            <a:xfrm>
              <a:off x="76200" y="28575"/>
              <a:ext cx="660400" cy="708025"/>
            </a:xfrm>
            <a:prstGeom prst="rect">
              <a:avLst/>
            </a:prstGeom>
          </p:spPr>
          <p:txBody>
            <a:bodyPr anchor="ctr" rtlCol="false" tIns="50800" lIns="50800" bIns="50800" rIns="50800"/>
            <a:lstStyle/>
            <a:p>
              <a:pPr algn="ctr">
                <a:lnSpc>
                  <a:spcPts val="2488"/>
                </a:lnSpc>
              </a:pPr>
            </a:p>
          </p:txBody>
        </p:sp>
      </p:grpSp>
      <p:sp>
        <p:nvSpPr>
          <p:cNvPr name="Freeform 20" id="20"/>
          <p:cNvSpPr/>
          <p:nvPr/>
        </p:nvSpPr>
        <p:spPr>
          <a:xfrm flipH="false" flipV="false" rot="0">
            <a:off x="7602286" y="3505638"/>
            <a:ext cx="2288391" cy="2288391"/>
          </a:xfrm>
          <a:custGeom>
            <a:avLst/>
            <a:gdLst/>
            <a:ahLst/>
            <a:cxnLst/>
            <a:rect r="r" b="b" t="t" l="l"/>
            <a:pathLst>
              <a:path h="2288391" w="2288391">
                <a:moveTo>
                  <a:pt x="0" y="0"/>
                </a:moveTo>
                <a:lnTo>
                  <a:pt x="2288391" y="0"/>
                </a:lnTo>
                <a:lnTo>
                  <a:pt x="2288391" y="2288392"/>
                </a:lnTo>
                <a:lnTo>
                  <a:pt x="0" y="2288392"/>
                </a:lnTo>
                <a:lnTo>
                  <a:pt x="0" y="0"/>
                </a:lnTo>
                <a:close/>
              </a:path>
            </a:pathLst>
          </a:custGeom>
          <a:blipFill>
            <a:blip r:embed="rId2">
              <a:alphaModFix amt="24000"/>
            </a:blip>
            <a:stretch>
              <a:fillRect l="0" t="0" r="0" b="0"/>
            </a:stretch>
          </a:blipFill>
          <a:ln cap="sq">
            <a:noFill/>
            <a:prstDash val="solid"/>
            <a:miter/>
          </a:ln>
        </p:spPr>
      </p:sp>
      <p:grpSp>
        <p:nvGrpSpPr>
          <p:cNvPr name="Group 21" id="21"/>
          <p:cNvGrpSpPr/>
          <p:nvPr/>
        </p:nvGrpSpPr>
        <p:grpSpPr>
          <a:xfrm rot="0">
            <a:off x="7775342" y="3559399"/>
            <a:ext cx="1942278" cy="1942278"/>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EBF4"/>
            </a:solidFill>
          </p:spPr>
        </p:sp>
        <p:sp>
          <p:nvSpPr>
            <p:cNvPr name="TextBox 23" id="23"/>
            <p:cNvSpPr txBox="true"/>
            <p:nvPr/>
          </p:nvSpPr>
          <p:spPr>
            <a:xfrm>
              <a:off x="76200" y="28575"/>
              <a:ext cx="660400" cy="708025"/>
            </a:xfrm>
            <a:prstGeom prst="rect">
              <a:avLst/>
            </a:prstGeom>
          </p:spPr>
          <p:txBody>
            <a:bodyPr anchor="ctr" rtlCol="false" tIns="50800" lIns="50800" bIns="50800" rIns="50800"/>
            <a:lstStyle/>
            <a:p>
              <a:pPr algn="ctr">
                <a:lnSpc>
                  <a:spcPts val="2488"/>
                </a:lnSpc>
              </a:pPr>
            </a:p>
          </p:txBody>
        </p:sp>
      </p:grpSp>
      <p:grpSp>
        <p:nvGrpSpPr>
          <p:cNvPr name="Group 24" id="24"/>
          <p:cNvGrpSpPr/>
          <p:nvPr/>
        </p:nvGrpSpPr>
        <p:grpSpPr>
          <a:xfrm rot="0">
            <a:off x="7775342" y="3496512"/>
            <a:ext cx="1942278" cy="1942278"/>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CFDFE"/>
            </a:solidFill>
          </p:spPr>
        </p:sp>
        <p:sp>
          <p:nvSpPr>
            <p:cNvPr name="TextBox 26" id="26"/>
            <p:cNvSpPr txBox="true"/>
            <p:nvPr/>
          </p:nvSpPr>
          <p:spPr>
            <a:xfrm>
              <a:off x="76200" y="28575"/>
              <a:ext cx="660400" cy="708025"/>
            </a:xfrm>
            <a:prstGeom prst="rect">
              <a:avLst/>
            </a:prstGeom>
          </p:spPr>
          <p:txBody>
            <a:bodyPr anchor="ctr" rtlCol="false" tIns="50800" lIns="50800" bIns="50800" rIns="50800"/>
            <a:lstStyle/>
            <a:p>
              <a:pPr algn="ctr">
                <a:lnSpc>
                  <a:spcPts val="2488"/>
                </a:lnSpc>
              </a:pPr>
            </a:p>
          </p:txBody>
        </p:sp>
      </p:grpSp>
      <p:grpSp>
        <p:nvGrpSpPr>
          <p:cNvPr name="Group 27" id="27"/>
          <p:cNvGrpSpPr/>
          <p:nvPr/>
        </p:nvGrpSpPr>
        <p:grpSpPr>
          <a:xfrm rot="0">
            <a:off x="8006866" y="3703307"/>
            <a:ext cx="1479230" cy="1479230"/>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219075" cap="sq">
              <a:gradFill>
                <a:gsLst>
                  <a:gs pos="0">
                    <a:srgbClr val="6AD572">
                      <a:alpha val="100000"/>
                    </a:srgbClr>
                  </a:gs>
                  <a:gs pos="100000">
                    <a:srgbClr val="65A6FE">
                      <a:alpha val="100000"/>
                    </a:srgbClr>
                  </a:gs>
                </a:gsLst>
                <a:lin ang="0"/>
              </a:gradFill>
              <a:prstDash val="solid"/>
              <a:miter/>
            </a:ln>
          </p:spPr>
        </p:sp>
        <p:sp>
          <p:nvSpPr>
            <p:cNvPr name="TextBox 29" id="29"/>
            <p:cNvSpPr txBox="true"/>
            <p:nvPr/>
          </p:nvSpPr>
          <p:spPr>
            <a:xfrm>
              <a:off x="76200" y="28575"/>
              <a:ext cx="660400" cy="708025"/>
            </a:xfrm>
            <a:prstGeom prst="rect">
              <a:avLst/>
            </a:prstGeom>
          </p:spPr>
          <p:txBody>
            <a:bodyPr anchor="ctr" rtlCol="false" tIns="50800" lIns="50800" bIns="50800" rIns="50800"/>
            <a:lstStyle/>
            <a:p>
              <a:pPr algn="ctr">
                <a:lnSpc>
                  <a:spcPts val="2488"/>
                </a:lnSpc>
              </a:pPr>
            </a:p>
          </p:txBody>
        </p:sp>
      </p:grpSp>
      <p:sp>
        <p:nvSpPr>
          <p:cNvPr name="TextBox 30" id="30"/>
          <p:cNvSpPr txBox="true"/>
          <p:nvPr/>
        </p:nvSpPr>
        <p:spPr>
          <a:xfrm rot="0">
            <a:off x="2653624" y="930786"/>
            <a:ext cx="12637850" cy="721995"/>
          </a:xfrm>
          <a:prstGeom prst="rect">
            <a:avLst/>
          </a:prstGeom>
        </p:spPr>
        <p:txBody>
          <a:bodyPr anchor="t" rtlCol="false" tIns="0" lIns="0" bIns="0" rIns="0">
            <a:spAutoFit/>
          </a:bodyPr>
          <a:lstStyle/>
          <a:p>
            <a:pPr algn="ctr">
              <a:lnSpc>
                <a:spcPts val="5625"/>
              </a:lnSpc>
            </a:pPr>
            <a:r>
              <a:rPr lang="en-US" sz="4800" b="true">
                <a:solidFill>
                  <a:srgbClr val="041F60"/>
                </a:solidFill>
                <a:latin typeface="Gotham Bold"/>
                <a:ea typeface="Gotham Bold"/>
                <a:cs typeface="Gotham Bold"/>
                <a:sym typeface="Gotham Bold"/>
              </a:rPr>
              <a:t>OLAP vs OLTP : Performance &amp; Purpose</a:t>
            </a:r>
          </a:p>
        </p:txBody>
      </p:sp>
      <p:sp>
        <p:nvSpPr>
          <p:cNvPr name="TextBox 31" id="31"/>
          <p:cNvSpPr txBox="true"/>
          <p:nvPr/>
        </p:nvSpPr>
        <p:spPr>
          <a:xfrm rot="0">
            <a:off x="8221834" y="4226169"/>
            <a:ext cx="1049295" cy="482966"/>
          </a:xfrm>
          <a:prstGeom prst="rect">
            <a:avLst/>
          </a:prstGeom>
        </p:spPr>
        <p:txBody>
          <a:bodyPr anchor="t" rtlCol="false" tIns="0" lIns="0" bIns="0" rIns="0">
            <a:spAutoFit/>
          </a:bodyPr>
          <a:lstStyle/>
          <a:p>
            <a:pPr algn="ctr">
              <a:lnSpc>
                <a:spcPts val="3713"/>
              </a:lnSpc>
            </a:pPr>
            <a:r>
              <a:rPr lang="en-US" sz="3169">
                <a:solidFill>
                  <a:srgbClr val="667198"/>
                </a:solidFill>
                <a:latin typeface="Gotham"/>
                <a:ea typeface="Gotham"/>
                <a:cs typeface="Gotham"/>
                <a:sym typeface="Gotham"/>
              </a:rPr>
              <a:t>vs</a:t>
            </a:r>
          </a:p>
        </p:txBody>
      </p:sp>
      <p:sp>
        <p:nvSpPr>
          <p:cNvPr name="TextBox 32" id="32"/>
          <p:cNvSpPr txBox="true"/>
          <p:nvPr/>
        </p:nvSpPr>
        <p:spPr>
          <a:xfrm rot="0">
            <a:off x="3676405" y="4973498"/>
            <a:ext cx="3068845" cy="449879"/>
          </a:xfrm>
          <a:prstGeom prst="rect">
            <a:avLst/>
          </a:prstGeom>
        </p:spPr>
        <p:txBody>
          <a:bodyPr anchor="t" rtlCol="false" tIns="0" lIns="0" bIns="0" rIns="0">
            <a:spAutoFit/>
          </a:bodyPr>
          <a:lstStyle/>
          <a:p>
            <a:pPr algn="l">
              <a:lnSpc>
                <a:spcPts val="1847"/>
              </a:lnSpc>
            </a:pPr>
            <a:r>
              <a:rPr lang="en-US" sz="1188">
                <a:solidFill>
                  <a:srgbClr val="000000"/>
                </a:solidFill>
                <a:latin typeface="Canva Sans"/>
                <a:ea typeface="Canva Sans"/>
                <a:cs typeface="Canva Sans"/>
                <a:sym typeface="Canva Sans"/>
              </a:rPr>
              <a:t>H</a:t>
            </a:r>
            <a:r>
              <a:rPr lang="en-US" sz="1188">
                <a:solidFill>
                  <a:srgbClr val="000000"/>
                </a:solidFill>
                <a:latin typeface="Canva Sans"/>
                <a:ea typeface="Canva Sans"/>
                <a:cs typeface="Canva Sans"/>
                <a:sym typeface="Canva Sans"/>
              </a:rPr>
              <a:t>andles Slowly Changing Dimensions (SCD) for accurate time-based analysis.</a:t>
            </a:r>
          </a:p>
        </p:txBody>
      </p:sp>
      <p:sp>
        <p:nvSpPr>
          <p:cNvPr name="TextBox 33" id="33"/>
          <p:cNvSpPr txBox="true"/>
          <p:nvPr/>
        </p:nvSpPr>
        <p:spPr>
          <a:xfrm rot="0">
            <a:off x="3676405" y="3744550"/>
            <a:ext cx="3068845" cy="449879"/>
          </a:xfrm>
          <a:prstGeom prst="rect">
            <a:avLst/>
          </a:prstGeom>
        </p:spPr>
        <p:txBody>
          <a:bodyPr anchor="t" rtlCol="false" tIns="0" lIns="0" bIns="0" rIns="0">
            <a:spAutoFit/>
          </a:bodyPr>
          <a:lstStyle/>
          <a:p>
            <a:pPr algn="l">
              <a:lnSpc>
                <a:spcPts val="1847"/>
              </a:lnSpc>
            </a:pPr>
            <a:r>
              <a:rPr lang="en-US" sz="1188">
                <a:solidFill>
                  <a:srgbClr val="000000"/>
                </a:solidFill>
                <a:latin typeface="Canva Sans"/>
                <a:ea typeface="Canva Sans"/>
                <a:cs typeface="Canva Sans"/>
                <a:sym typeface="Canva Sans"/>
              </a:rPr>
              <a:t>Op</a:t>
            </a:r>
            <a:r>
              <a:rPr lang="en-US" sz="1188">
                <a:solidFill>
                  <a:srgbClr val="000000"/>
                </a:solidFill>
                <a:latin typeface="Canva Sans"/>
                <a:ea typeface="Canva Sans"/>
                <a:cs typeface="Canva Sans"/>
                <a:sym typeface="Canva Sans"/>
              </a:rPr>
              <a:t>timized for reporting, aggregations, and complex joins using a star schema.</a:t>
            </a:r>
          </a:p>
        </p:txBody>
      </p:sp>
      <p:sp>
        <p:nvSpPr>
          <p:cNvPr name="TextBox 34" id="34"/>
          <p:cNvSpPr txBox="true"/>
          <p:nvPr/>
        </p:nvSpPr>
        <p:spPr>
          <a:xfrm rot="0">
            <a:off x="10744398" y="4973498"/>
            <a:ext cx="3068845" cy="449879"/>
          </a:xfrm>
          <a:prstGeom prst="rect">
            <a:avLst/>
          </a:prstGeom>
        </p:spPr>
        <p:txBody>
          <a:bodyPr anchor="t" rtlCol="false" tIns="0" lIns="0" bIns="0" rIns="0">
            <a:spAutoFit/>
          </a:bodyPr>
          <a:lstStyle/>
          <a:p>
            <a:pPr algn="r">
              <a:lnSpc>
                <a:spcPts val="1847"/>
              </a:lnSpc>
            </a:pPr>
            <a:r>
              <a:rPr lang="en-US" sz="1188">
                <a:solidFill>
                  <a:srgbClr val="000000"/>
                </a:solidFill>
                <a:latin typeface="Canva Sans"/>
                <a:ea typeface="Canva Sans"/>
                <a:cs typeface="Canva Sans"/>
                <a:sym typeface="Canva Sans"/>
              </a:rPr>
              <a:t>Supp</a:t>
            </a:r>
            <a:r>
              <a:rPr lang="en-US" sz="1188">
                <a:solidFill>
                  <a:srgbClr val="000000"/>
                </a:solidFill>
                <a:latin typeface="Canva Sans"/>
                <a:ea typeface="Canva Sans"/>
                <a:cs typeface="Canva Sans"/>
                <a:sym typeface="Canva Sans"/>
              </a:rPr>
              <a:t>orts day-to-day business like orders, customers, and inventory.</a:t>
            </a:r>
          </a:p>
        </p:txBody>
      </p:sp>
      <p:sp>
        <p:nvSpPr>
          <p:cNvPr name="TextBox 35" id="35"/>
          <p:cNvSpPr txBox="true"/>
          <p:nvPr/>
        </p:nvSpPr>
        <p:spPr>
          <a:xfrm rot="0">
            <a:off x="10744398" y="3744550"/>
            <a:ext cx="3068845" cy="449879"/>
          </a:xfrm>
          <a:prstGeom prst="rect">
            <a:avLst/>
          </a:prstGeom>
        </p:spPr>
        <p:txBody>
          <a:bodyPr anchor="t" rtlCol="false" tIns="0" lIns="0" bIns="0" rIns="0">
            <a:spAutoFit/>
          </a:bodyPr>
          <a:lstStyle/>
          <a:p>
            <a:pPr algn="r">
              <a:lnSpc>
                <a:spcPts val="1847"/>
              </a:lnSpc>
            </a:pPr>
            <a:r>
              <a:rPr lang="en-US" sz="1188">
                <a:solidFill>
                  <a:srgbClr val="000000"/>
                </a:solidFill>
                <a:latin typeface="Canva Sans"/>
                <a:ea typeface="Canva Sans"/>
                <a:cs typeface="Canva Sans"/>
                <a:sym typeface="Canva Sans"/>
              </a:rPr>
              <a:t>D</a:t>
            </a:r>
            <a:r>
              <a:rPr lang="en-US" sz="1188">
                <a:solidFill>
                  <a:srgbClr val="000000"/>
                </a:solidFill>
                <a:latin typeface="Canva Sans"/>
                <a:ea typeface="Canva Sans"/>
                <a:cs typeface="Canva Sans"/>
                <a:sym typeface="Canva Sans"/>
              </a:rPr>
              <a:t>esigned for frequent inserts, updates, and deletes in operational systems.</a:t>
            </a:r>
          </a:p>
        </p:txBody>
      </p:sp>
      <p:sp>
        <p:nvSpPr>
          <p:cNvPr name="TextBox 36" id="36"/>
          <p:cNvSpPr txBox="true"/>
          <p:nvPr/>
        </p:nvSpPr>
        <p:spPr>
          <a:xfrm rot="0">
            <a:off x="3676405" y="4740874"/>
            <a:ext cx="2867609" cy="207105"/>
          </a:xfrm>
          <a:prstGeom prst="rect">
            <a:avLst/>
          </a:prstGeom>
        </p:spPr>
        <p:txBody>
          <a:bodyPr anchor="t" rtlCol="false" tIns="0" lIns="0" bIns="0" rIns="0">
            <a:spAutoFit/>
          </a:bodyPr>
          <a:lstStyle/>
          <a:p>
            <a:pPr algn="l">
              <a:lnSpc>
                <a:spcPts val="1617"/>
              </a:lnSpc>
            </a:pPr>
            <a:r>
              <a:rPr lang="en-US" sz="1386" b="true">
                <a:solidFill>
                  <a:srgbClr val="041F60"/>
                </a:solidFill>
                <a:latin typeface="Gotham Bold"/>
                <a:ea typeface="Gotham Bold"/>
                <a:cs typeface="Gotham Bold"/>
                <a:sym typeface="Gotham Bold"/>
              </a:rPr>
              <a:t>Historical Tracking</a:t>
            </a:r>
          </a:p>
        </p:txBody>
      </p:sp>
      <p:sp>
        <p:nvSpPr>
          <p:cNvPr name="TextBox 37" id="37"/>
          <p:cNvSpPr txBox="true"/>
          <p:nvPr/>
        </p:nvSpPr>
        <p:spPr>
          <a:xfrm rot="0">
            <a:off x="3676405" y="3511927"/>
            <a:ext cx="2867609" cy="207105"/>
          </a:xfrm>
          <a:prstGeom prst="rect">
            <a:avLst/>
          </a:prstGeom>
        </p:spPr>
        <p:txBody>
          <a:bodyPr anchor="t" rtlCol="false" tIns="0" lIns="0" bIns="0" rIns="0">
            <a:spAutoFit/>
          </a:bodyPr>
          <a:lstStyle/>
          <a:p>
            <a:pPr algn="l">
              <a:lnSpc>
                <a:spcPts val="1617"/>
              </a:lnSpc>
            </a:pPr>
            <a:r>
              <a:rPr lang="en-US" sz="1386" b="true">
                <a:solidFill>
                  <a:srgbClr val="041F60"/>
                </a:solidFill>
                <a:latin typeface="Gotham Bold"/>
                <a:ea typeface="Gotham Bold"/>
                <a:cs typeface="Gotham Bold"/>
                <a:sym typeface="Gotham Bold"/>
              </a:rPr>
              <a:t>Analytical Queries</a:t>
            </a:r>
          </a:p>
        </p:txBody>
      </p:sp>
      <p:sp>
        <p:nvSpPr>
          <p:cNvPr name="TextBox 38" id="38"/>
          <p:cNvSpPr txBox="true"/>
          <p:nvPr/>
        </p:nvSpPr>
        <p:spPr>
          <a:xfrm rot="1309066">
            <a:off x="5633500" y="2904435"/>
            <a:ext cx="2189615" cy="391549"/>
          </a:xfrm>
          <a:prstGeom prst="rect">
            <a:avLst/>
          </a:prstGeom>
        </p:spPr>
        <p:txBody>
          <a:bodyPr anchor="t" rtlCol="false" tIns="0" lIns="0" bIns="0" rIns="0">
            <a:spAutoFit/>
          </a:bodyPr>
          <a:lstStyle/>
          <a:p>
            <a:pPr algn="ctr">
              <a:lnSpc>
                <a:spcPts val="3081"/>
              </a:lnSpc>
            </a:pPr>
            <a:r>
              <a:rPr lang="en-US" sz="2640">
                <a:solidFill>
                  <a:srgbClr val="667198"/>
                </a:solidFill>
                <a:latin typeface="Gotham"/>
                <a:ea typeface="Gotham"/>
                <a:cs typeface="Gotham"/>
                <a:sym typeface="Gotham"/>
              </a:rPr>
              <a:t>OALP</a:t>
            </a:r>
          </a:p>
        </p:txBody>
      </p:sp>
      <p:sp>
        <p:nvSpPr>
          <p:cNvPr name="TextBox 39" id="39"/>
          <p:cNvSpPr txBox="true"/>
          <p:nvPr/>
        </p:nvSpPr>
        <p:spPr>
          <a:xfrm rot="-1308000">
            <a:off x="9669950" y="2904741"/>
            <a:ext cx="2189615" cy="391549"/>
          </a:xfrm>
          <a:prstGeom prst="rect">
            <a:avLst/>
          </a:prstGeom>
        </p:spPr>
        <p:txBody>
          <a:bodyPr anchor="t" rtlCol="false" tIns="0" lIns="0" bIns="0" rIns="0">
            <a:spAutoFit/>
          </a:bodyPr>
          <a:lstStyle/>
          <a:p>
            <a:pPr algn="ctr">
              <a:lnSpc>
                <a:spcPts val="3081"/>
              </a:lnSpc>
            </a:pPr>
            <a:r>
              <a:rPr lang="en-US" sz="2640">
                <a:solidFill>
                  <a:srgbClr val="667198"/>
                </a:solidFill>
                <a:latin typeface="Gotham"/>
                <a:ea typeface="Gotham"/>
                <a:cs typeface="Gotham"/>
                <a:sym typeface="Gotham"/>
              </a:rPr>
              <a:t>OLTP</a:t>
            </a:r>
          </a:p>
        </p:txBody>
      </p:sp>
      <p:sp>
        <p:nvSpPr>
          <p:cNvPr name="TextBox 40" id="40"/>
          <p:cNvSpPr txBox="true"/>
          <p:nvPr/>
        </p:nvSpPr>
        <p:spPr>
          <a:xfrm rot="0">
            <a:off x="10945634" y="4740874"/>
            <a:ext cx="2867609" cy="207105"/>
          </a:xfrm>
          <a:prstGeom prst="rect">
            <a:avLst/>
          </a:prstGeom>
        </p:spPr>
        <p:txBody>
          <a:bodyPr anchor="t" rtlCol="false" tIns="0" lIns="0" bIns="0" rIns="0">
            <a:spAutoFit/>
          </a:bodyPr>
          <a:lstStyle/>
          <a:p>
            <a:pPr algn="r">
              <a:lnSpc>
                <a:spcPts val="1617"/>
              </a:lnSpc>
            </a:pPr>
            <a:r>
              <a:rPr lang="en-US" sz="1386" b="true">
                <a:solidFill>
                  <a:srgbClr val="041F60"/>
                </a:solidFill>
                <a:latin typeface="Gotham Bold"/>
                <a:ea typeface="Gotham Bold"/>
                <a:cs typeface="Gotham Bold"/>
                <a:sym typeface="Gotham Bold"/>
              </a:rPr>
              <a:t>Real-Time Operations</a:t>
            </a:r>
          </a:p>
        </p:txBody>
      </p:sp>
      <p:sp>
        <p:nvSpPr>
          <p:cNvPr name="TextBox 41" id="41"/>
          <p:cNvSpPr txBox="true"/>
          <p:nvPr/>
        </p:nvSpPr>
        <p:spPr>
          <a:xfrm rot="0">
            <a:off x="10945634" y="3511927"/>
            <a:ext cx="2867609" cy="207105"/>
          </a:xfrm>
          <a:prstGeom prst="rect">
            <a:avLst/>
          </a:prstGeom>
        </p:spPr>
        <p:txBody>
          <a:bodyPr anchor="t" rtlCol="false" tIns="0" lIns="0" bIns="0" rIns="0">
            <a:spAutoFit/>
          </a:bodyPr>
          <a:lstStyle/>
          <a:p>
            <a:pPr algn="r">
              <a:lnSpc>
                <a:spcPts val="1617"/>
              </a:lnSpc>
            </a:pPr>
            <a:r>
              <a:rPr lang="en-US" sz="1386" b="true">
                <a:solidFill>
                  <a:srgbClr val="041F60"/>
                </a:solidFill>
                <a:latin typeface="Gotham Bold"/>
                <a:ea typeface="Gotham Bold"/>
                <a:cs typeface="Gotham Bold"/>
                <a:sym typeface="Gotham Bold"/>
              </a:rPr>
              <a:t>Transactional Queries</a:t>
            </a:r>
          </a:p>
        </p:txBody>
      </p:sp>
      <p:grpSp>
        <p:nvGrpSpPr>
          <p:cNvPr name="Group 42" id="42"/>
          <p:cNvGrpSpPr/>
          <p:nvPr/>
        </p:nvGrpSpPr>
        <p:grpSpPr>
          <a:xfrm rot="0">
            <a:off x="7084835" y="3703307"/>
            <a:ext cx="541033" cy="638389"/>
            <a:chOff x="0" y="0"/>
            <a:chExt cx="721377" cy="851185"/>
          </a:xfrm>
        </p:grpSpPr>
        <p:sp>
          <p:nvSpPr>
            <p:cNvPr name="Freeform 43" id="43"/>
            <p:cNvSpPr/>
            <p:nvPr/>
          </p:nvSpPr>
          <p:spPr>
            <a:xfrm flipH="false" flipV="false" rot="0">
              <a:off x="0" y="131120"/>
              <a:ext cx="721377" cy="720065"/>
            </a:xfrm>
            <a:custGeom>
              <a:avLst/>
              <a:gdLst/>
              <a:ahLst/>
              <a:cxnLst/>
              <a:rect r="r" b="b" t="t" l="l"/>
              <a:pathLst>
                <a:path h="720065" w="721377">
                  <a:moveTo>
                    <a:pt x="0" y="0"/>
                  </a:moveTo>
                  <a:lnTo>
                    <a:pt x="721377" y="0"/>
                  </a:lnTo>
                  <a:lnTo>
                    <a:pt x="721377" y="720065"/>
                  </a:lnTo>
                  <a:lnTo>
                    <a:pt x="0" y="720065"/>
                  </a:lnTo>
                  <a:lnTo>
                    <a:pt x="0" y="0"/>
                  </a:lnTo>
                  <a:close/>
                </a:path>
              </a:pathLst>
            </a:custGeom>
            <a:blipFill>
              <a:blip r:embed="rId3">
                <a:alphaModFix amt="50000"/>
              </a:blip>
              <a:stretch>
                <a:fillRect l="0" t="0" r="0" b="0"/>
              </a:stretch>
            </a:blipFill>
          </p:spPr>
        </p:sp>
        <p:grpSp>
          <p:nvGrpSpPr>
            <p:cNvPr name="Group 44" id="44"/>
            <p:cNvGrpSpPr/>
            <p:nvPr/>
          </p:nvGrpSpPr>
          <p:grpSpPr>
            <a:xfrm rot="0">
              <a:off x="27117" y="53027"/>
              <a:ext cx="667142" cy="667142"/>
              <a:chOff x="0" y="0"/>
              <a:chExt cx="812800" cy="812800"/>
            </a:xfrm>
          </p:grpSpPr>
          <p:sp>
            <p:nvSpPr>
              <p:cNvPr name="Freeform 45" id="4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EBF4"/>
              </a:solidFill>
            </p:spPr>
          </p:sp>
          <p:sp>
            <p:nvSpPr>
              <p:cNvPr name="TextBox 46" id="46"/>
              <p:cNvSpPr txBox="true"/>
              <p:nvPr/>
            </p:nvSpPr>
            <p:spPr>
              <a:xfrm>
                <a:off x="76200" y="28575"/>
                <a:ext cx="660400" cy="708025"/>
              </a:xfrm>
              <a:prstGeom prst="rect">
                <a:avLst/>
              </a:prstGeom>
            </p:spPr>
            <p:txBody>
              <a:bodyPr anchor="ctr" rtlCol="false" tIns="36939" lIns="36939" bIns="36939" rIns="36939"/>
              <a:lstStyle/>
              <a:p>
                <a:pPr algn="ctr">
                  <a:lnSpc>
                    <a:spcPts val="2488"/>
                  </a:lnSpc>
                </a:pPr>
              </a:p>
            </p:txBody>
          </p:sp>
        </p:grpSp>
        <p:grpSp>
          <p:nvGrpSpPr>
            <p:cNvPr name="Group 47" id="47"/>
            <p:cNvGrpSpPr/>
            <p:nvPr/>
          </p:nvGrpSpPr>
          <p:grpSpPr>
            <a:xfrm rot="0">
              <a:off x="27117" y="0"/>
              <a:ext cx="667142" cy="667142"/>
              <a:chOff x="0" y="0"/>
              <a:chExt cx="812800" cy="812800"/>
            </a:xfrm>
          </p:grpSpPr>
          <p:sp>
            <p:nvSpPr>
              <p:cNvPr name="Freeform 48" id="4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CFDFE"/>
              </a:solidFill>
            </p:spPr>
          </p:sp>
          <p:sp>
            <p:nvSpPr>
              <p:cNvPr name="TextBox 49" id="49"/>
              <p:cNvSpPr txBox="true"/>
              <p:nvPr/>
            </p:nvSpPr>
            <p:spPr>
              <a:xfrm>
                <a:off x="76200" y="28575"/>
                <a:ext cx="660400" cy="708025"/>
              </a:xfrm>
              <a:prstGeom prst="rect">
                <a:avLst/>
              </a:prstGeom>
            </p:spPr>
            <p:txBody>
              <a:bodyPr anchor="ctr" rtlCol="false" tIns="36939" lIns="36939" bIns="36939" rIns="36939"/>
              <a:lstStyle/>
              <a:p>
                <a:pPr algn="ctr">
                  <a:lnSpc>
                    <a:spcPts val="2488"/>
                  </a:lnSpc>
                </a:pPr>
              </a:p>
            </p:txBody>
          </p:sp>
        </p:grpSp>
      </p:grpSp>
      <p:grpSp>
        <p:nvGrpSpPr>
          <p:cNvPr name="Group 50" id="50"/>
          <p:cNvGrpSpPr/>
          <p:nvPr/>
        </p:nvGrpSpPr>
        <p:grpSpPr>
          <a:xfrm rot="0">
            <a:off x="9868547" y="3703307"/>
            <a:ext cx="541033" cy="638389"/>
            <a:chOff x="0" y="0"/>
            <a:chExt cx="721377" cy="851185"/>
          </a:xfrm>
        </p:grpSpPr>
        <p:sp>
          <p:nvSpPr>
            <p:cNvPr name="Freeform 51" id="51"/>
            <p:cNvSpPr/>
            <p:nvPr/>
          </p:nvSpPr>
          <p:spPr>
            <a:xfrm flipH="false" flipV="false" rot="0">
              <a:off x="0" y="131120"/>
              <a:ext cx="721377" cy="720065"/>
            </a:xfrm>
            <a:custGeom>
              <a:avLst/>
              <a:gdLst/>
              <a:ahLst/>
              <a:cxnLst/>
              <a:rect r="r" b="b" t="t" l="l"/>
              <a:pathLst>
                <a:path h="720065" w="721377">
                  <a:moveTo>
                    <a:pt x="0" y="0"/>
                  </a:moveTo>
                  <a:lnTo>
                    <a:pt x="721377" y="0"/>
                  </a:lnTo>
                  <a:lnTo>
                    <a:pt x="721377" y="720065"/>
                  </a:lnTo>
                  <a:lnTo>
                    <a:pt x="0" y="720065"/>
                  </a:lnTo>
                  <a:lnTo>
                    <a:pt x="0" y="0"/>
                  </a:lnTo>
                  <a:close/>
                </a:path>
              </a:pathLst>
            </a:custGeom>
            <a:blipFill>
              <a:blip r:embed="rId3">
                <a:alphaModFix amt="50000"/>
              </a:blip>
              <a:stretch>
                <a:fillRect l="0" t="0" r="0" b="0"/>
              </a:stretch>
            </a:blipFill>
          </p:spPr>
        </p:sp>
        <p:grpSp>
          <p:nvGrpSpPr>
            <p:cNvPr name="Group 52" id="52"/>
            <p:cNvGrpSpPr/>
            <p:nvPr/>
          </p:nvGrpSpPr>
          <p:grpSpPr>
            <a:xfrm rot="0">
              <a:off x="27117" y="53027"/>
              <a:ext cx="667142" cy="667142"/>
              <a:chOff x="0" y="0"/>
              <a:chExt cx="812800" cy="812800"/>
            </a:xfrm>
          </p:grpSpPr>
          <p:sp>
            <p:nvSpPr>
              <p:cNvPr name="Freeform 53" id="5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EBF4"/>
              </a:solidFill>
            </p:spPr>
          </p:sp>
          <p:sp>
            <p:nvSpPr>
              <p:cNvPr name="TextBox 54" id="54"/>
              <p:cNvSpPr txBox="true"/>
              <p:nvPr/>
            </p:nvSpPr>
            <p:spPr>
              <a:xfrm>
                <a:off x="76200" y="28575"/>
                <a:ext cx="660400" cy="708025"/>
              </a:xfrm>
              <a:prstGeom prst="rect">
                <a:avLst/>
              </a:prstGeom>
            </p:spPr>
            <p:txBody>
              <a:bodyPr anchor="ctr" rtlCol="false" tIns="36939" lIns="36939" bIns="36939" rIns="36939"/>
              <a:lstStyle/>
              <a:p>
                <a:pPr algn="ctr">
                  <a:lnSpc>
                    <a:spcPts val="2488"/>
                  </a:lnSpc>
                </a:pPr>
              </a:p>
            </p:txBody>
          </p:sp>
        </p:grpSp>
        <p:grpSp>
          <p:nvGrpSpPr>
            <p:cNvPr name="Group 55" id="55"/>
            <p:cNvGrpSpPr/>
            <p:nvPr/>
          </p:nvGrpSpPr>
          <p:grpSpPr>
            <a:xfrm rot="0">
              <a:off x="27117" y="0"/>
              <a:ext cx="667142" cy="667142"/>
              <a:chOff x="0" y="0"/>
              <a:chExt cx="812800" cy="812800"/>
            </a:xfrm>
          </p:grpSpPr>
          <p:sp>
            <p:nvSpPr>
              <p:cNvPr name="Freeform 56" id="5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CFDFE"/>
              </a:solidFill>
            </p:spPr>
          </p:sp>
          <p:sp>
            <p:nvSpPr>
              <p:cNvPr name="TextBox 57" id="57"/>
              <p:cNvSpPr txBox="true"/>
              <p:nvPr/>
            </p:nvSpPr>
            <p:spPr>
              <a:xfrm>
                <a:off x="76200" y="28575"/>
                <a:ext cx="660400" cy="708025"/>
              </a:xfrm>
              <a:prstGeom prst="rect">
                <a:avLst/>
              </a:prstGeom>
            </p:spPr>
            <p:txBody>
              <a:bodyPr anchor="ctr" rtlCol="false" tIns="36939" lIns="36939" bIns="36939" rIns="36939"/>
              <a:lstStyle/>
              <a:p>
                <a:pPr algn="ctr">
                  <a:lnSpc>
                    <a:spcPts val="2488"/>
                  </a:lnSpc>
                </a:pPr>
              </a:p>
            </p:txBody>
          </p:sp>
        </p:grpSp>
      </p:grpSp>
      <p:grpSp>
        <p:nvGrpSpPr>
          <p:cNvPr name="Group 58" id="58"/>
          <p:cNvGrpSpPr/>
          <p:nvPr/>
        </p:nvGrpSpPr>
        <p:grpSpPr>
          <a:xfrm rot="0">
            <a:off x="7084835" y="4692403"/>
            <a:ext cx="541033" cy="638389"/>
            <a:chOff x="0" y="0"/>
            <a:chExt cx="721377" cy="851185"/>
          </a:xfrm>
        </p:grpSpPr>
        <p:sp>
          <p:nvSpPr>
            <p:cNvPr name="Freeform 59" id="59"/>
            <p:cNvSpPr/>
            <p:nvPr/>
          </p:nvSpPr>
          <p:spPr>
            <a:xfrm flipH="false" flipV="false" rot="0">
              <a:off x="0" y="131120"/>
              <a:ext cx="721377" cy="720065"/>
            </a:xfrm>
            <a:custGeom>
              <a:avLst/>
              <a:gdLst/>
              <a:ahLst/>
              <a:cxnLst/>
              <a:rect r="r" b="b" t="t" l="l"/>
              <a:pathLst>
                <a:path h="720065" w="721377">
                  <a:moveTo>
                    <a:pt x="0" y="0"/>
                  </a:moveTo>
                  <a:lnTo>
                    <a:pt x="721377" y="0"/>
                  </a:lnTo>
                  <a:lnTo>
                    <a:pt x="721377" y="720065"/>
                  </a:lnTo>
                  <a:lnTo>
                    <a:pt x="0" y="720065"/>
                  </a:lnTo>
                  <a:lnTo>
                    <a:pt x="0" y="0"/>
                  </a:lnTo>
                  <a:close/>
                </a:path>
              </a:pathLst>
            </a:custGeom>
            <a:blipFill>
              <a:blip r:embed="rId3">
                <a:alphaModFix amt="50000"/>
              </a:blip>
              <a:stretch>
                <a:fillRect l="0" t="0" r="0" b="0"/>
              </a:stretch>
            </a:blipFill>
          </p:spPr>
        </p:sp>
        <p:grpSp>
          <p:nvGrpSpPr>
            <p:cNvPr name="Group 60" id="60"/>
            <p:cNvGrpSpPr/>
            <p:nvPr/>
          </p:nvGrpSpPr>
          <p:grpSpPr>
            <a:xfrm rot="0">
              <a:off x="27117" y="53027"/>
              <a:ext cx="667142" cy="667142"/>
              <a:chOff x="0" y="0"/>
              <a:chExt cx="812800" cy="812800"/>
            </a:xfrm>
          </p:grpSpPr>
          <p:sp>
            <p:nvSpPr>
              <p:cNvPr name="Freeform 61" id="6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EBF4"/>
              </a:solidFill>
            </p:spPr>
          </p:sp>
          <p:sp>
            <p:nvSpPr>
              <p:cNvPr name="TextBox 62" id="62"/>
              <p:cNvSpPr txBox="true"/>
              <p:nvPr/>
            </p:nvSpPr>
            <p:spPr>
              <a:xfrm>
                <a:off x="76200" y="28575"/>
                <a:ext cx="660400" cy="708025"/>
              </a:xfrm>
              <a:prstGeom prst="rect">
                <a:avLst/>
              </a:prstGeom>
            </p:spPr>
            <p:txBody>
              <a:bodyPr anchor="ctr" rtlCol="false" tIns="36939" lIns="36939" bIns="36939" rIns="36939"/>
              <a:lstStyle/>
              <a:p>
                <a:pPr algn="ctr">
                  <a:lnSpc>
                    <a:spcPts val="2488"/>
                  </a:lnSpc>
                </a:pPr>
              </a:p>
            </p:txBody>
          </p:sp>
        </p:grpSp>
        <p:grpSp>
          <p:nvGrpSpPr>
            <p:cNvPr name="Group 63" id="63"/>
            <p:cNvGrpSpPr/>
            <p:nvPr/>
          </p:nvGrpSpPr>
          <p:grpSpPr>
            <a:xfrm rot="0">
              <a:off x="27117" y="0"/>
              <a:ext cx="667142" cy="667142"/>
              <a:chOff x="0" y="0"/>
              <a:chExt cx="812800" cy="812800"/>
            </a:xfrm>
          </p:grpSpPr>
          <p:sp>
            <p:nvSpPr>
              <p:cNvPr name="Freeform 64" id="6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CFDFE"/>
              </a:solidFill>
            </p:spPr>
          </p:sp>
          <p:sp>
            <p:nvSpPr>
              <p:cNvPr name="TextBox 65" id="65"/>
              <p:cNvSpPr txBox="true"/>
              <p:nvPr/>
            </p:nvSpPr>
            <p:spPr>
              <a:xfrm>
                <a:off x="76200" y="28575"/>
                <a:ext cx="660400" cy="708025"/>
              </a:xfrm>
              <a:prstGeom prst="rect">
                <a:avLst/>
              </a:prstGeom>
            </p:spPr>
            <p:txBody>
              <a:bodyPr anchor="ctr" rtlCol="false" tIns="36939" lIns="36939" bIns="36939" rIns="36939"/>
              <a:lstStyle/>
              <a:p>
                <a:pPr algn="ctr">
                  <a:lnSpc>
                    <a:spcPts val="2488"/>
                  </a:lnSpc>
                </a:pPr>
              </a:p>
            </p:txBody>
          </p:sp>
        </p:grpSp>
      </p:grpSp>
      <p:grpSp>
        <p:nvGrpSpPr>
          <p:cNvPr name="Group 66" id="66"/>
          <p:cNvGrpSpPr/>
          <p:nvPr/>
        </p:nvGrpSpPr>
        <p:grpSpPr>
          <a:xfrm rot="0">
            <a:off x="9868547" y="4692403"/>
            <a:ext cx="541033" cy="638389"/>
            <a:chOff x="0" y="0"/>
            <a:chExt cx="721377" cy="851185"/>
          </a:xfrm>
        </p:grpSpPr>
        <p:sp>
          <p:nvSpPr>
            <p:cNvPr name="Freeform 67" id="67"/>
            <p:cNvSpPr/>
            <p:nvPr/>
          </p:nvSpPr>
          <p:spPr>
            <a:xfrm flipH="false" flipV="false" rot="0">
              <a:off x="0" y="131120"/>
              <a:ext cx="721377" cy="720065"/>
            </a:xfrm>
            <a:custGeom>
              <a:avLst/>
              <a:gdLst/>
              <a:ahLst/>
              <a:cxnLst/>
              <a:rect r="r" b="b" t="t" l="l"/>
              <a:pathLst>
                <a:path h="720065" w="721377">
                  <a:moveTo>
                    <a:pt x="0" y="0"/>
                  </a:moveTo>
                  <a:lnTo>
                    <a:pt x="721377" y="0"/>
                  </a:lnTo>
                  <a:lnTo>
                    <a:pt x="721377" y="720065"/>
                  </a:lnTo>
                  <a:lnTo>
                    <a:pt x="0" y="720065"/>
                  </a:lnTo>
                  <a:lnTo>
                    <a:pt x="0" y="0"/>
                  </a:lnTo>
                  <a:close/>
                </a:path>
              </a:pathLst>
            </a:custGeom>
            <a:blipFill>
              <a:blip r:embed="rId3">
                <a:alphaModFix amt="50000"/>
              </a:blip>
              <a:stretch>
                <a:fillRect l="0" t="0" r="0" b="0"/>
              </a:stretch>
            </a:blipFill>
          </p:spPr>
        </p:sp>
        <p:grpSp>
          <p:nvGrpSpPr>
            <p:cNvPr name="Group 68" id="68"/>
            <p:cNvGrpSpPr/>
            <p:nvPr/>
          </p:nvGrpSpPr>
          <p:grpSpPr>
            <a:xfrm rot="0">
              <a:off x="27117" y="53027"/>
              <a:ext cx="667142" cy="667142"/>
              <a:chOff x="0" y="0"/>
              <a:chExt cx="812800" cy="812800"/>
            </a:xfrm>
          </p:grpSpPr>
          <p:sp>
            <p:nvSpPr>
              <p:cNvPr name="Freeform 69" id="6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EBF4"/>
              </a:solidFill>
            </p:spPr>
          </p:sp>
          <p:sp>
            <p:nvSpPr>
              <p:cNvPr name="TextBox 70" id="70"/>
              <p:cNvSpPr txBox="true"/>
              <p:nvPr/>
            </p:nvSpPr>
            <p:spPr>
              <a:xfrm>
                <a:off x="76200" y="28575"/>
                <a:ext cx="660400" cy="708025"/>
              </a:xfrm>
              <a:prstGeom prst="rect">
                <a:avLst/>
              </a:prstGeom>
            </p:spPr>
            <p:txBody>
              <a:bodyPr anchor="ctr" rtlCol="false" tIns="36939" lIns="36939" bIns="36939" rIns="36939"/>
              <a:lstStyle/>
              <a:p>
                <a:pPr algn="ctr">
                  <a:lnSpc>
                    <a:spcPts val="2488"/>
                  </a:lnSpc>
                </a:pPr>
              </a:p>
            </p:txBody>
          </p:sp>
        </p:grpSp>
        <p:grpSp>
          <p:nvGrpSpPr>
            <p:cNvPr name="Group 71" id="71"/>
            <p:cNvGrpSpPr/>
            <p:nvPr/>
          </p:nvGrpSpPr>
          <p:grpSpPr>
            <a:xfrm rot="0">
              <a:off x="27117" y="0"/>
              <a:ext cx="667142" cy="667142"/>
              <a:chOff x="0" y="0"/>
              <a:chExt cx="812800" cy="812800"/>
            </a:xfrm>
          </p:grpSpPr>
          <p:sp>
            <p:nvSpPr>
              <p:cNvPr name="Freeform 72" id="7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CFDFE"/>
              </a:solidFill>
            </p:spPr>
          </p:sp>
          <p:sp>
            <p:nvSpPr>
              <p:cNvPr name="TextBox 73" id="73"/>
              <p:cNvSpPr txBox="true"/>
              <p:nvPr/>
            </p:nvSpPr>
            <p:spPr>
              <a:xfrm>
                <a:off x="76200" y="28575"/>
                <a:ext cx="660400" cy="708025"/>
              </a:xfrm>
              <a:prstGeom prst="rect">
                <a:avLst/>
              </a:prstGeom>
            </p:spPr>
            <p:txBody>
              <a:bodyPr anchor="ctr" rtlCol="false" tIns="36939" lIns="36939" bIns="36939" rIns="36939"/>
              <a:lstStyle/>
              <a:p>
                <a:pPr algn="ctr">
                  <a:lnSpc>
                    <a:spcPts val="2488"/>
                  </a:lnSpc>
                </a:pPr>
              </a:p>
            </p:txBody>
          </p:sp>
        </p:grpSp>
      </p:grpSp>
      <p:sp>
        <p:nvSpPr>
          <p:cNvPr name="Freeform 74" id="74"/>
          <p:cNvSpPr/>
          <p:nvPr/>
        </p:nvSpPr>
        <p:spPr>
          <a:xfrm flipH="false" flipV="false" rot="0">
            <a:off x="7210557" y="3795799"/>
            <a:ext cx="289589" cy="289589"/>
          </a:xfrm>
          <a:custGeom>
            <a:avLst/>
            <a:gdLst/>
            <a:ahLst/>
            <a:cxnLst/>
            <a:rect r="r" b="b" t="t" l="l"/>
            <a:pathLst>
              <a:path h="289589" w="289589">
                <a:moveTo>
                  <a:pt x="0" y="0"/>
                </a:moveTo>
                <a:lnTo>
                  <a:pt x="289588" y="0"/>
                </a:lnTo>
                <a:lnTo>
                  <a:pt x="289588" y="289588"/>
                </a:lnTo>
                <a:lnTo>
                  <a:pt x="0" y="28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5" id="75"/>
          <p:cNvSpPr/>
          <p:nvPr/>
        </p:nvSpPr>
        <p:spPr>
          <a:xfrm flipH="false" flipV="false" rot="0">
            <a:off x="7210557" y="4803185"/>
            <a:ext cx="289589" cy="289589"/>
          </a:xfrm>
          <a:custGeom>
            <a:avLst/>
            <a:gdLst/>
            <a:ahLst/>
            <a:cxnLst/>
            <a:rect r="r" b="b" t="t" l="l"/>
            <a:pathLst>
              <a:path h="289589" w="289589">
                <a:moveTo>
                  <a:pt x="0" y="0"/>
                </a:moveTo>
                <a:lnTo>
                  <a:pt x="289588" y="0"/>
                </a:lnTo>
                <a:lnTo>
                  <a:pt x="289588" y="289589"/>
                </a:lnTo>
                <a:lnTo>
                  <a:pt x="0" y="2895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6" id="76"/>
          <p:cNvSpPr/>
          <p:nvPr/>
        </p:nvSpPr>
        <p:spPr>
          <a:xfrm flipH="false" flipV="false" rot="0">
            <a:off x="10006882" y="3814005"/>
            <a:ext cx="289589" cy="289589"/>
          </a:xfrm>
          <a:custGeom>
            <a:avLst/>
            <a:gdLst/>
            <a:ahLst/>
            <a:cxnLst/>
            <a:rect r="r" b="b" t="t" l="l"/>
            <a:pathLst>
              <a:path h="289589" w="289589">
                <a:moveTo>
                  <a:pt x="0" y="0"/>
                </a:moveTo>
                <a:lnTo>
                  <a:pt x="289588" y="0"/>
                </a:lnTo>
                <a:lnTo>
                  <a:pt x="289588" y="289589"/>
                </a:lnTo>
                <a:lnTo>
                  <a:pt x="0" y="28958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7" id="77"/>
          <p:cNvSpPr/>
          <p:nvPr/>
        </p:nvSpPr>
        <p:spPr>
          <a:xfrm flipH="false" flipV="false" rot="0">
            <a:off x="9994234" y="4815279"/>
            <a:ext cx="289660" cy="265401"/>
          </a:xfrm>
          <a:custGeom>
            <a:avLst/>
            <a:gdLst/>
            <a:ahLst/>
            <a:cxnLst/>
            <a:rect r="r" b="b" t="t" l="l"/>
            <a:pathLst>
              <a:path h="265401" w="289660">
                <a:moveTo>
                  <a:pt x="0" y="0"/>
                </a:moveTo>
                <a:lnTo>
                  <a:pt x="289659" y="0"/>
                </a:lnTo>
                <a:lnTo>
                  <a:pt x="289659" y="265401"/>
                </a:lnTo>
                <a:lnTo>
                  <a:pt x="0" y="2654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8" id="7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23</a:t>
            </a:r>
          </a:p>
        </p:txBody>
      </p:sp>
      <p:sp>
        <p:nvSpPr>
          <p:cNvPr name="Freeform 79" id="79"/>
          <p:cNvSpPr/>
          <p:nvPr/>
        </p:nvSpPr>
        <p:spPr>
          <a:xfrm flipH="false" flipV="false" rot="0">
            <a:off x="9971375" y="8381334"/>
            <a:ext cx="5468691" cy="2110142"/>
          </a:xfrm>
          <a:custGeom>
            <a:avLst/>
            <a:gdLst/>
            <a:ahLst/>
            <a:cxnLst/>
            <a:rect r="r" b="b" t="t" l="l"/>
            <a:pathLst>
              <a:path h="2110142" w="5468691">
                <a:moveTo>
                  <a:pt x="0" y="0"/>
                </a:moveTo>
                <a:lnTo>
                  <a:pt x="5468691" y="0"/>
                </a:lnTo>
                <a:lnTo>
                  <a:pt x="5468691" y="2110142"/>
                </a:lnTo>
                <a:lnTo>
                  <a:pt x="0" y="2110142"/>
                </a:lnTo>
                <a:lnTo>
                  <a:pt x="0" y="0"/>
                </a:lnTo>
                <a:close/>
              </a:path>
            </a:pathLst>
          </a:custGeom>
          <a:blipFill>
            <a:blip r:embed="rId12"/>
            <a:stretch>
              <a:fillRect l="0" t="0" r="0" b="0"/>
            </a:stretch>
          </a:blipFill>
        </p:spPr>
      </p:sp>
      <p:sp>
        <p:nvSpPr>
          <p:cNvPr name="Freeform 80" id="80"/>
          <p:cNvSpPr/>
          <p:nvPr/>
        </p:nvSpPr>
        <p:spPr>
          <a:xfrm flipH="false" flipV="false" rot="0">
            <a:off x="9971375" y="6355139"/>
            <a:ext cx="4816127" cy="1902370"/>
          </a:xfrm>
          <a:custGeom>
            <a:avLst/>
            <a:gdLst/>
            <a:ahLst/>
            <a:cxnLst/>
            <a:rect r="r" b="b" t="t" l="l"/>
            <a:pathLst>
              <a:path h="1902370" w="4816127">
                <a:moveTo>
                  <a:pt x="0" y="0"/>
                </a:moveTo>
                <a:lnTo>
                  <a:pt x="4816127" y="0"/>
                </a:lnTo>
                <a:lnTo>
                  <a:pt x="4816127" y="1902370"/>
                </a:lnTo>
                <a:lnTo>
                  <a:pt x="0" y="1902370"/>
                </a:lnTo>
                <a:lnTo>
                  <a:pt x="0" y="0"/>
                </a:lnTo>
                <a:close/>
              </a:path>
            </a:pathLst>
          </a:custGeom>
          <a:blipFill>
            <a:blip r:embed="rId13"/>
            <a:stretch>
              <a:fillRect l="0" t="0" r="0" b="0"/>
            </a:stretch>
          </a:blipFill>
        </p:spPr>
      </p:sp>
      <p:sp>
        <p:nvSpPr>
          <p:cNvPr name="Freeform 81" id="81"/>
          <p:cNvSpPr/>
          <p:nvPr/>
        </p:nvSpPr>
        <p:spPr>
          <a:xfrm flipH="false" flipV="false" rot="0">
            <a:off x="3025038" y="6250364"/>
            <a:ext cx="5196795" cy="1818878"/>
          </a:xfrm>
          <a:custGeom>
            <a:avLst/>
            <a:gdLst/>
            <a:ahLst/>
            <a:cxnLst/>
            <a:rect r="r" b="b" t="t" l="l"/>
            <a:pathLst>
              <a:path h="1818878" w="5196795">
                <a:moveTo>
                  <a:pt x="0" y="0"/>
                </a:moveTo>
                <a:lnTo>
                  <a:pt x="5196796" y="0"/>
                </a:lnTo>
                <a:lnTo>
                  <a:pt x="5196796" y="1818878"/>
                </a:lnTo>
                <a:lnTo>
                  <a:pt x="0" y="1818878"/>
                </a:lnTo>
                <a:lnTo>
                  <a:pt x="0" y="0"/>
                </a:lnTo>
                <a:close/>
              </a:path>
            </a:pathLst>
          </a:custGeom>
          <a:blipFill>
            <a:blip r:embed="rId14"/>
            <a:stretch>
              <a:fillRect l="0" t="0" r="0" b="0"/>
            </a:stretch>
          </a:blipFill>
        </p:spPr>
      </p:sp>
      <p:sp>
        <p:nvSpPr>
          <p:cNvPr name="Freeform 82" id="82"/>
          <p:cNvSpPr/>
          <p:nvPr/>
        </p:nvSpPr>
        <p:spPr>
          <a:xfrm flipH="false" flipV="false" rot="0">
            <a:off x="3111881" y="8069242"/>
            <a:ext cx="4663461" cy="1545343"/>
          </a:xfrm>
          <a:custGeom>
            <a:avLst/>
            <a:gdLst/>
            <a:ahLst/>
            <a:cxnLst/>
            <a:rect r="r" b="b" t="t" l="l"/>
            <a:pathLst>
              <a:path h="1545343" w="4663461">
                <a:moveTo>
                  <a:pt x="0" y="0"/>
                </a:moveTo>
                <a:lnTo>
                  <a:pt x="4663461" y="0"/>
                </a:lnTo>
                <a:lnTo>
                  <a:pt x="4663461" y="1545343"/>
                </a:lnTo>
                <a:lnTo>
                  <a:pt x="0" y="1545343"/>
                </a:lnTo>
                <a:lnTo>
                  <a:pt x="0" y="0"/>
                </a:lnTo>
                <a:close/>
              </a:path>
            </a:pathLst>
          </a:custGeom>
          <a:blipFill>
            <a:blip r:embed="rId15"/>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1530341" y="2719597"/>
            <a:ext cx="6887933" cy="1661227"/>
          </a:xfrm>
          <a:prstGeom prst="rect">
            <a:avLst/>
          </a:prstGeom>
        </p:spPr>
        <p:txBody>
          <a:bodyPr anchor="t" rtlCol="false" tIns="0" lIns="0" bIns="0" rIns="0">
            <a:spAutoFit/>
          </a:bodyPr>
          <a:lstStyle/>
          <a:p>
            <a:pPr algn="ctr" marL="0" indent="0" lvl="1">
              <a:lnSpc>
                <a:spcPts val="12437"/>
              </a:lnSpc>
              <a:spcBef>
                <a:spcPct val="0"/>
              </a:spcBef>
            </a:pPr>
            <a:r>
              <a:rPr lang="en-US" b="true" sz="12822">
                <a:solidFill>
                  <a:srgbClr val="000000"/>
                </a:solidFill>
                <a:latin typeface="TT Hoves Bold"/>
                <a:ea typeface="TT Hoves Bold"/>
                <a:cs typeface="TT Hoves Bold"/>
                <a:sym typeface="TT Hoves Bold"/>
              </a:rPr>
              <a:t>Phase2</a:t>
            </a:r>
          </a:p>
        </p:txBody>
      </p:sp>
      <p:sp>
        <p:nvSpPr>
          <p:cNvPr name="TextBox 3" id="3"/>
          <p:cNvSpPr txBox="true"/>
          <p:nvPr/>
        </p:nvSpPr>
        <p:spPr>
          <a:xfrm rot="0">
            <a:off x="2199618" y="4474859"/>
            <a:ext cx="7917346" cy="1464589"/>
          </a:xfrm>
          <a:prstGeom prst="rect">
            <a:avLst/>
          </a:prstGeom>
        </p:spPr>
        <p:txBody>
          <a:bodyPr anchor="t" rtlCol="false" tIns="0" lIns="0" bIns="0" rIns="0">
            <a:spAutoFit/>
          </a:bodyPr>
          <a:lstStyle/>
          <a:p>
            <a:pPr algn="l" marL="0" indent="0" lvl="1">
              <a:lnSpc>
                <a:spcPts val="5650"/>
              </a:lnSpc>
              <a:spcBef>
                <a:spcPct val="0"/>
              </a:spcBef>
            </a:pPr>
            <a:r>
              <a:rPr lang="en-US" sz="5381" spc="-263">
                <a:solidFill>
                  <a:srgbClr val="343434"/>
                </a:solidFill>
                <a:latin typeface="TT Hoves"/>
                <a:ea typeface="TT Hoves"/>
                <a:cs typeface="TT Hoves"/>
                <a:sym typeface="TT Hoves"/>
              </a:rPr>
              <a:t>Interactive Dashboards and Business Insights</a:t>
            </a:r>
          </a:p>
        </p:txBody>
      </p:sp>
      <p:grpSp>
        <p:nvGrpSpPr>
          <p:cNvPr name="Group 4" id="4"/>
          <p:cNvGrpSpPr/>
          <p:nvPr/>
        </p:nvGrpSpPr>
        <p:grpSpPr>
          <a:xfrm rot="0">
            <a:off x="12151348" y="0"/>
            <a:ext cx="6136652" cy="11878896"/>
            <a:chOff x="0" y="0"/>
            <a:chExt cx="1616238" cy="3128598"/>
          </a:xfrm>
        </p:grpSpPr>
        <p:sp>
          <p:nvSpPr>
            <p:cNvPr name="Freeform 5" id="5"/>
            <p:cNvSpPr/>
            <p:nvPr/>
          </p:nvSpPr>
          <p:spPr>
            <a:xfrm flipH="false" flipV="false" rot="0">
              <a:off x="0" y="0"/>
              <a:ext cx="1616238" cy="3128598"/>
            </a:xfrm>
            <a:custGeom>
              <a:avLst/>
              <a:gdLst/>
              <a:ahLst/>
              <a:cxnLst/>
              <a:rect r="r" b="b" t="t" l="l"/>
              <a:pathLst>
                <a:path h="3128598" w="1616238">
                  <a:moveTo>
                    <a:pt x="0" y="0"/>
                  </a:moveTo>
                  <a:lnTo>
                    <a:pt x="1616238" y="0"/>
                  </a:lnTo>
                  <a:lnTo>
                    <a:pt x="1616238" y="3128598"/>
                  </a:lnTo>
                  <a:lnTo>
                    <a:pt x="0" y="3128598"/>
                  </a:lnTo>
                  <a:close/>
                </a:path>
              </a:pathLst>
            </a:custGeom>
            <a:solidFill>
              <a:srgbClr val="0003FF"/>
            </a:solidFill>
          </p:spPr>
        </p:sp>
        <p:sp>
          <p:nvSpPr>
            <p:cNvPr name="TextBox 6" id="6"/>
            <p:cNvSpPr txBox="true"/>
            <p:nvPr/>
          </p:nvSpPr>
          <p:spPr>
            <a:xfrm>
              <a:off x="0" y="-57150"/>
              <a:ext cx="1616238" cy="318574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24</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7208759" y="766933"/>
            <a:ext cx="11726918" cy="5904983"/>
          </a:xfrm>
          <a:custGeom>
            <a:avLst/>
            <a:gdLst/>
            <a:ahLst/>
            <a:cxnLst/>
            <a:rect r="r" b="b" t="t" l="l"/>
            <a:pathLst>
              <a:path h="5904983" w="11726918">
                <a:moveTo>
                  <a:pt x="0" y="0"/>
                </a:moveTo>
                <a:lnTo>
                  <a:pt x="11726918" y="0"/>
                </a:lnTo>
                <a:lnTo>
                  <a:pt x="11726918" y="5904983"/>
                </a:lnTo>
                <a:lnTo>
                  <a:pt x="0" y="5904983"/>
                </a:lnTo>
                <a:lnTo>
                  <a:pt x="0" y="0"/>
                </a:lnTo>
                <a:close/>
              </a:path>
            </a:pathLst>
          </a:custGeom>
          <a:blipFill>
            <a:blip r:embed="rId2"/>
            <a:stretch>
              <a:fillRect l="0" t="0" r="-4631" b="0"/>
            </a:stretch>
          </a:blipFill>
        </p:spPr>
      </p:sp>
      <p:sp>
        <p:nvSpPr>
          <p:cNvPr name="TextBox 3" id="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25</a:t>
            </a:r>
          </a:p>
        </p:txBody>
      </p:sp>
      <p:sp>
        <p:nvSpPr>
          <p:cNvPr name="TextBox 4" id="4"/>
          <p:cNvSpPr txBox="true"/>
          <p:nvPr/>
        </p:nvSpPr>
        <p:spPr>
          <a:xfrm rot="0">
            <a:off x="356810" y="147871"/>
            <a:ext cx="5061400" cy="1856908"/>
          </a:xfrm>
          <a:prstGeom prst="rect">
            <a:avLst/>
          </a:prstGeom>
        </p:spPr>
        <p:txBody>
          <a:bodyPr anchor="t" rtlCol="false" tIns="0" lIns="0" bIns="0" rIns="0">
            <a:spAutoFit/>
          </a:bodyPr>
          <a:lstStyle/>
          <a:p>
            <a:pPr algn="l" marL="0" indent="0" lvl="1">
              <a:lnSpc>
                <a:spcPts val="7192"/>
              </a:lnSpc>
              <a:spcBef>
                <a:spcPct val="0"/>
              </a:spcBef>
            </a:pPr>
            <a:r>
              <a:rPr lang="en-US" b="true" sz="6849" spc="-335">
                <a:solidFill>
                  <a:srgbClr val="343434"/>
                </a:solidFill>
                <a:latin typeface="TT Hoves Bold"/>
                <a:ea typeface="TT Hoves Bold"/>
                <a:cs typeface="TT Hoves Bold"/>
                <a:sym typeface="TT Hoves Bold"/>
              </a:rPr>
              <a:t>Customer Analysis</a:t>
            </a:r>
          </a:p>
        </p:txBody>
      </p:sp>
      <p:grpSp>
        <p:nvGrpSpPr>
          <p:cNvPr name="Group 5" id="5"/>
          <p:cNvGrpSpPr/>
          <p:nvPr/>
        </p:nvGrpSpPr>
        <p:grpSpPr>
          <a:xfrm rot="-5400000">
            <a:off x="-6298939" y="2046990"/>
            <a:ext cx="9355714" cy="8496558"/>
            <a:chOff x="0" y="0"/>
            <a:chExt cx="660400" cy="599754"/>
          </a:xfrm>
        </p:grpSpPr>
        <p:sp>
          <p:nvSpPr>
            <p:cNvPr name="Freeform 6" id="6"/>
            <p:cNvSpPr/>
            <p:nvPr/>
          </p:nvSpPr>
          <p:spPr>
            <a:xfrm flipH="false" flipV="false" rot="0">
              <a:off x="0" y="0"/>
              <a:ext cx="660400" cy="599754"/>
            </a:xfrm>
            <a:custGeom>
              <a:avLst/>
              <a:gdLst/>
              <a:ahLst/>
              <a:cxnLst/>
              <a:rect r="r" b="b" t="t" l="l"/>
              <a:pathLst>
                <a:path h="599754" w="660400">
                  <a:moveTo>
                    <a:pt x="220252" y="580685"/>
                  </a:moveTo>
                  <a:cubicBezTo>
                    <a:pt x="254109" y="592199"/>
                    <a:pt x="292600" y="599754"/>
                    <a:pt x="330378" y="599754"/>
                  </a:cubicBezTo>
                  <a:cubicBezTo>
                    <a:pt x="368157" y="599754"/>
                    <a:pt x="404509" y="593277"/>
                    <a:pt x="438009" y="581763"/>
                  </a:cubicBezTo>
                  <a:cubicBezTo>
                    <a:pt x="438723" y="581404"/>
                    <a:pt x="439435" y="581404"/>
                    <a:pt x="440148" y="581044"/>
                  </a:cubicBezTo>
                  <a:cubicBezTo>
                    <a:pt x="565955" y="534989"/>
                    <a:pt x="658618" y="413375"/>
                    <a:pt x="660400" y="275984"/>
                  </a:cubicBezTo>
                  <a:lnTo>
                    <a:pt x="660400" y="0"/>
                  </a:lnTo>
                  <a:lnTo>
                    <a:pt x="0" y="0"/>
                  </a:lnTo>
                  <a:lnTo>
                    <a:pt x="0" y="275780"/>
                  </a:lnTo>
                  <a:cubicBezTo>
                    <a:pt x="1782" y="414094"/>
                    <a:pt x="93019" y="535709"/>
                    <a:pt x="220252" y="580685"/>
                  </a:cubicBezTo>
                  <a:close/>
                </a:path>
              </a:pathLst>
            </a:custGeom>
            <a:solidFill>
              <a:srgbClr val="000000">
                <a:alpha val="0"/>
              </a:srgbClr>
            </a:solidFill>
            <a:ln w="190500" cap="sq">
              <a:gradFill>
                <a:gsLst>
                  <a:gs pos="0">
                    <a:srgbClr val="6AD572">
                      <a:alpha val="100000"/>
                    </a:srgbClr>
                  </a:gs>
                  <a:gs pos="100000">
                    <a:srgbClr val="65A6FE">
                      <a:alpha val="100000"/>
                    </a:srgbClr>
                  </a:gs>
                </a:gsLst>
                <a:lin ang="0"/>
              </a:gradFill>
              <a:prstDash val="solid"/>
              <a:miter/>
            </a:ln>
          </p:spPr>
        </p:sp>
        <p:sp>
          <p:nvSpPr>
            <p:cNvPr name="TextBox 7" id="7"/>
            <p:cNvSpPr txBox="true"/>
            <p:nvPr/>
          </p:nvSpPr>
          <p:spPr>
            <a:xfrm>
              <a:off x="0" y="-47625"/>
              <a:ext cx="660400" cy="520379"/>
            </a:xfrm>
            <a:prstGeom prst="rect">
              <a:avLst/>
            </a:prstGeom>
          </p:spPr>
          <p:txBody>
            <a:bodyPr anchor="ctr" rtlCol="false" tIns="50800" lIns="50800" bIns="50800" rIns="50800"/>
            <a:lstStyle/>
            <a:p>
              <a:pPr algn="ctr">
                <a:lnSpc>
                  <a:spcPts val="2488"/>
                </a:lnSpc>
              </a:pPr>
            </a:p>
          </p:txBody>
        </p:sp>
      </p:grpSp>
      <p:sp>
        <p:nvSpPr>
          <p:cNvPr name="Freeform 8" id="8"/>
          <p:cNvSpPr/>
          <p:nvPr/>
        </p:nvSpPr>
        <p:spPr>
          <a:xfrm flipH="false" flipV="false" rot="0">
            <a:off x="1137934" y="2498945"/>
            <a:ext cx="3140292" cy="605220"/>
          </a:xfrm>
          <a:custGeom>
            <a:avLst/>
            <a:gdLst/>
            <a:ahLst/>
            <a:cxnLst/>
            <a:rect r="r" b="b" t="t" l="l"/>
            <a:pathLst>
              <a:path h="605220" w="3140292">
                <a:moveTo>
                  <a:pt x="0" y="0"/>
                </a:moveTo>
                <a:lnTo>
                  <a:pt x="3140292" y="0"/>
                </a:lnTo>
                <a:lnTo>
                  <a:pt x="3140292" y="605220"/>
                </a:lnTo>
                <a:lnTo>
                  <a:pt x="0" y="6052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920451" y="3719424"/>
            <a:ext cx="4094059" cy="789037"/>
          </a:xfrm>
          <a:custGeom>
            <a:avLst/>
            <a:gdLst/>
            <a:ahLst/>
            <a:cxnLst/>
            <a:rect r="r" b="b" t="t" l="l"/>
            <a:pathLst>
              <a:path h="789037" w="4094059">
                <a:moveTo>
                  <a:pt x="0" y="0"/>
                </a:moveTo>
                <a:lnTo>
                  <a:pt x="4094060" y="0"/>
                </a:lnTo>
                <a:lnTo>
                  <a:pt x="4094060" y="789037"/>
                </a:lnTo>
                <a:lnTo>
                  <a:pt x="0" y="78903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2627197" y="5921948"/>
            <a:ext cx="3874095" cy="746644"/>
          </a:xfrm>
          <a:custGeom>
            <a:avLst/>
            <a:gdLst/>
            <a:ahLst/>
            <a:cxnLst/>
            <a:rect r="r" b="b" t="t" l="l"/>
            <a:pathLst>
              <a:path h="746644" w="3874095">
                <a:moveTo>
                  <a:pt x="0" y="0"/>
                </a:moveTo>
                <a:lnTo>
                  <a:pt x="3874095" y="0"/>
                </a:lnTo>
                <a:lnTo>
                  <a:pt x="3874095" y="746644"/>
                </a:lnTo>
                <a:lnTo>
                  <a:pt x="0" y="74664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0">
            <a:off x="1920451" y="8032691"/>
            <a:ext cx="4580841" cy="882853"/>
          </a:xfrm>
          <a:custGeom>
            <a:avLst/>
            <a:gdLst/>
            <a:ahLst/>
            <a:cxnLst/>
            <a:rect r="r" b="b" t="t" l="l"/>
            <a:pathLst>
              <a:path h="882853" w="4580841">
                <a:moveTo>
                  <a:pt x="0" y="0"/>
                </a:moveTo>
                <a:lnTo>
                  <a:pt x="4580841" y="0"/>
                </a:lnTo>
                <a:lnTo>
                  <a:pt x="4580841" y="882853"/>
                </a:lnTo>
                <a:lnTo>
                  <a:pt x="0" y="88285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2" id="12"/>
          <p:cNvSpPr txBox="true"/>
          <p:nvPr/>
        </p:nvSpPr>
        <p:spPr>
          <a:xfrm rot="0">
            <a:off x="501519" y="2599174"/>
            <a:ext cx="4916692" cy="352591"/>
          </a:xfrm>
          <a:prstGeom prst="rect">
            <a:avLst/>
          </a:prstGeom>
        </p:spPr>
        <p:txBody>
          <a:bodyPr anchor="t" rtlCol="false" tIns="0" lIns="0" bIns="0" rIns="0">
            <a:spAutoFit/>
          </a:bodyPr>
          <a:lstStyle/>
          <a:p>
            <a:pPr algn="ctr">
              <a:lnSpc>
                <a:spcPts val="2919"/>
              </a:lnSpc>
              <a:spcBef>
                <a:spcPct val="0"/>
              </a:spcBef>
            </a:pPr>
            <a:r>
              <a:rPr lang="en-US" b="true" sz="2085">
                <a:solidFill>
                  <a:srgbClr val="000000"/>
                </a:solidFill>
                <a:latin typeface="Canva Sans Bold"/>
                <a:ea typeface="Canva Sans Bold"/>
                <a:cs typeface="Canva Sans Bold"/>
                <a:sym typeface="Canva Sans Bold"/>
              </a:rPr>
              <a:t>Tracked Kpis</a:t>
            </a:r>
          </a:p>
        </p:txBody>
      </p:sp>
      <p:sp>
        <p:nvSpPr>
          <p:cNvPr name="TextBox 13" id="13"/>
          <p:cNvSpPr txBox="true"/>
          <p:nvPr/>
        </p:nvSpPr>
        <p:spPr>
          <a:xfrm rot="0">
            <a:off x="2005823" y="3056540"/>
            <a:ext cx="4275388" cy="289814"/>
          </a:xfrm>
          <a:prstGeom prst="rect">
            <a:avLst/>
          </a:prstGeom>
        </p:spPr>
        <p:txBody>
          <a:bodyPr anchor="t" rtlCol="false" tIns="0" lIns="0" bIns="0" rIns="0">
            <a:spAutoFit/>
          </a:bodyPr>
          <a:lstStyle/>
          <a:p>
            <a:pPr algn="l">
              <a:lnSpc>
                <a:spcPts val="2487"/>
              </a:lnSpc>
            </a:pPr>
            <a:r>
              <a:rPr lang="en-US" sz="1599">
                <a:solidFill>
                  <a:srgbClr val="000000"/>
                </a:solidFill>
                <a:latin typeface="Canva Sans"/>
                <a:ea typeface="Canva Sans"/>
                <a:cs typeface="Canva Sans"/>
                <a:sym typeface="Canva Sans"/>
              </a:rPr>
              <a:t>to</a:t>
            </a:r>
            <a:r>
              <a:rPr lang="en-US" sz="1599">
                <a:solidFill>
                  <a:srgbClr val="000000"/>
                </a:solidFill>
                <a:latin typeface="Canva Sans"/>
                <a:ea typeface="Canva Sans"/>
                <a:cs typeface="Canva Sans"/>
                <a:sym typeface="Canva Sans"/>
              </a:rPr>
              <a:t> provide a quick business snapshot</a:t>
            </a:r>
          </a:p>
        </p:txBody>
      </p:sp>
      <p:sp>
        <p:nvSpPr>
          <p:cNvPr name="TextBox 14" id="14"/>
          <p:cNvSpPr txBox="true"/>
          <p:nvPr/>
        </p:nvSpPr>
        <p:spPr>
          <a:xfrm rot="0">
            <a:off x="2388714" y="3912765"/>
            <a:ext cx="3943249" cy="354731"/>
          </a:xfrm>
          <a:prstGeom prst="rect">
            <a:avLst/>
          </a:prstGeom>
        </p:spPr>
        <p:txBody>
          <a:bodyPr anchor="t" rtlCol="false" tIns="0" lIns="0" bIns="0" rIns="0">
            <a:spAutoFit/>
          </a:bodyPr>
          <a:lstStyle/>
          <a:p>
            <a:pPr algn="ctr" marL="0" indent="0" lvl="0">
              <a:lnSpc>
                <a:spcPts val="2828"/>
              </a:lnSpc>
              <a:spcBef>
                <a:spcPct val="0"/>
              </a:spcBef>
            </a:pPr>
            <a:r>
              <a:rPr lang="en-US" b="true" sz="2020" strike="noStrike" u="none">
                <a:solidFill>
                  <a:srgbClr val="000000"/>
                </a:solidFill>
                <a:latin typeface="Canva Sans Bold"/>
                <a:ea typeface="Canva Sans Bold"/>
                <a:cs typeface="Canva Sans Bold"/>
                <a:sym typeface="Canva Sans Bold"/>
              </a:rPr>
              <a:t>Revenue &amp; Profit Trends</a:t>
            </a:r>
          </a:p>
        </p:txBody>
      </p:sp>
      <p:sp>
        <p:nvSpPr>
          <p:cNvPr name="TextBox 15" id="15"/>
          <p:cNvSpPr txBox="true"/>
          <p:nvPr/>
        </p:nvSpPr>
        <p:spPr>
          <a:xfrm rot="0">
            <a:off x="2627197" y="4613236"/>
            <a:ext cx="4275388" cy="604139"/>
          </a:xfrm>
          <a:prstGeom prst="rect">
            <a:avLst/>
          </a:prstGeom>
        </p:spPr>
        <p:txBody>
          <a:bodyPr anchor="t" rtlCol="false" tIns="0" lIns="0" bIns="0" rIns="0">
            <a:spAutoFit/>
          </a:bodyPr>
          <a:lstStyle/>
          <a:p>
            <a:pPr algn="l">
              <a:lnSpc>
                <a:spcPts val="2487"/>
              </a:lnSpc>
            </a:pPr>
            <a:r>
              <a:rPr lang="en-US" sz="1599">
                <a:solidFill>
                  <a:srgbClr val="000000"/>
                </a:solidFill>
                <a:latin typeface="Canva Sans"/>
                <a:ea typeface="Canva Sans"/>
                <a:cs typeface="Canva Sans"/>
                <a:sym typeface="Canva Sans"/>
              </a:rPr>
              <a:t>to</a:t>
            </a:r>
            <a:r>
              <a:rPr lang="en-US" sz="1599">
                <a:solidFill>
                  <a:srgbClr val="000000"/>
                </a:solidFill>
                <a:latin typeface="Canva Sans"/>
                <a:ea typeface="Canva Sans"/>
                <a:cs typeface="Canva Sans"/>
                <a:sym typeface="Canva Sans"/>
              </a:rPr>
              <a:t> track financial performance and detect growth or decline</a:t>
            </a:r>
          </a:p>
        </p:txBody>
      </p:sp>
      <p:sp>
        <p:nvSpPr>
          <p:cNvPr name="TextBox 16" id="16"/>
          <p:cNvSpPr txBox="true"/>
          <p:nvPr/>
        </p:nvSpPr>
        <p:spPr>
          <a:xfrm rot="0">
            <a:off x="2407116" y="6093675"/>
            <a:ext cx="5063017" cy="405652"/>
          </a:xfrm>
          <a:prstGeom prst="rect">
            <a:avLst/>
          </a:prstGeom>
        </p:spPr>
        <p:txBody>
          <a:bodyPr anchor="t" rtlCol="false" tIns="0" lIns="0" bIns="0" rIns="0">
            <a:spAutoFit/>
          </a:bodyPr>
          <a:lstStyle/>
          <a:p>
            <a:pPr algn="ctr" marL="0" indent="0" lvl="0">
              <a:lnSpc>
                <a:spcPts val="3382"/>
              </a:lnSpc>
              <a:spcBef>
                <a:spcPct val="0"/>
              </a:spcBef>
            </a:pPr>
            <a:r>
              <a:rPr lang="en-US" b="true" sz="2416" strike="noStrike" u="none">
                <a:solidFill>
                  <a:srgbClr val="000000"/>
                </a:solidFill>
                <a:latin typeface="Canva Sans Bold"/>
                <a:ea typeface="Canva Sans Bold"/>
                <a:cs typeface="Canva Sans Bold"/>
                <a:sym typeface="Canva Sans Bold"/>
              </a:rPr>
              <a:t>Customer Insights</a:t>
            </a:r>
          </a:p>
        </p:txBody>
      </p:sp>
      <p:sp>
        <p:nvSpPr>
          <p:cNvPr name="TextBox 17" id="17"/>
          <p:cNvSpPr txBox="true"/>
          <p:nvPr/>
        </p:nvSpPr>
        <p:spPr>
          <a:xfrm rot="0">
            <a:off x="3120727" y="6773367"/>
            <a:ext cx="3205543" cy="349250"/>
          </a:xfrm>
          <a:prstGeom prst="rect">
            <a:avLst/>
          </a:prstGeom>
        </p:spPr>
        <p:txBody>
          <a:bodyPr anchor="t" rtlCol="false" tIns="0" lIns="0" bIns="0" rIns="0">
            <a:spAutoFit/>
          </a:bodyPr>
          <a:lstStyle/>
          <a:p>
            <a:pPr algn="ctr">
              <a:lnSpc>
                <a:spcPts val="2800"/>
              </a:lnSpc>
              <a:spcBef>
                <a:spcPct val="0"/>
              </a:spcBef>
            </a:pPr>
            <a:r>
              <a:rPr lang="en-US" sz="2000">
                <a:solidFill>
                  <a:srgbClr val="000000"/>
                </a:solidFill>
                <a:latin typeface="Canva Sans"/>
                <a:ea typeface="Canva Sans"/>
                <a:cs typeface="Canva Sans"/>
                <a:sym typeface="Canva Sans"/>
              </a:rPr>
              <a:t>to identify the best sellers</a:t>
            </a:r>
          </a:p>
        </p:txBody>
      </p:sp>
      <p:sp>
        <p:nvSpPr>
          <p:cNvPr name="TextBox 18" id="18"/>
          <p:cNvSpPr txBox="true"/>
          <p:nvPr/>
        </p:nvSpPr>
        <p:spPr>
          <a:xfrm rot="0">
            <a:off x="1511918" y="8370391"/>
            <a:ext cx="5696841" cy="402492"/>
          </a:xfrm>
          <a:prstGeom prst="rect">
            <a:avLst/>
          </a:prstGeom>
        </p:spPr>
        <p:txBody>
          <a:bodyPr anchor="t" rtlCol="false" tIns="0" lIns="0" bIns="0" rIns="0">
            <a:spAutoFit/>
          </a:bodyPr>
          <a:lstStyle/>
          <a:p>
            <a:pPr algn="ctr">
              <a:lnSpc>
                <a:spcPts val="3382"/>
              </a:lnSpc>
              <a:spcBef>
                <a:spcPct val="0"/>
              </a:spcBef>
            </a:pPr>
            <a:r>
              <a:rPr lang="en-US" b="true" sz="2416">
                <a:solidFill>
                  <a:srgbClr val="000000"/>
                </a:solidFill>
                <a:latin typeface="Canva Sans Bold"/>
                <a:ea typeface="Canva Sans Bold"/>
                <a:cs typeface="Canva Sans Bold"/>
                <a:sym typeface="Canva Sans Bold"/>
              </a:rPr>
              <a:t>Market Reach</a:t>
            </a:r>
          </a:p>
        </p:txBody>
      </p:sp>
      <p:sp>
        <p:nvSpPr>
          <p:cNvPr name="TextBox 19" id="19"/>
          <p:cNvSpPr txBox="true"/>
          <p:nvPr/>
        </p:nvSpPr>
        <p:spPr>
          <a:xfrm rot="0">
            <a:off x="2407116" y="9046281"/>
            <a:ext cx="4275388" cy="918464"/>
          </a:xfrm>
          <a:prstGeom prst="rect">
            <a:avLst/>
          </a:prstGeom>
        </p:spPr>
        <p:txBody>
          <a:bodyPr anchor="t" rtlCol="false" tIns="0" lIns="0" bIns="0" rIns="0">
            <a:spAutoFit/>
          </a:bodyPr>
          <a:lstStyle/>
          <a:p>
            <a:pPr algn="l">
              <a:lnSpc>
                <a:spcPts val="2487"/>
              </a:lnSpc>
            </a:pPr>
            <a:r>
              <a:rPr lang="en-US" sz="1599">
                <a:solidFill>
                  <a:srgbClr val="000000"/>
                </a:solidFill>
                <a:latin typeface="Canva Sans"/>
                <a:ea typeface="Canva Sans"/>
                <a:cs typeface="Canva Sans"/>
                <a:sym typeface="Canva Sans"/>
              </a:rPr>
              <a:t>Mapped active</a:t>
            </a:r>
            <a:r>
              <a:rPr lang="en-US" sz="1599">
                <a:solidFill>
                  <a:srgbClr val="000000"/>
                </a:solidFill>
                <a:latin typeface="Canva Sans"/>
                <a:ea typeface="Canva Sans"/>
                <a:cs typeface="Canva Sans"/>
                <a:sym typeface="Canva Sans"/>
              </a:rPr>
              <a:t> customers by country to monitor geographical distribution and expansion opportunities.</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356810" y="147871"/>
            <a:ext cx="5061400" cy="1856908"/>
          </a:xfrm>
          <a:prstGeom prst="rect">
            <a:avLst/>
          </a:prstGeom>
        </p:spPr>
        <p:txBody>
          <a:bodyPr anchor="t" rtlCol="false" tIns="0" lIns="0" bIns="0" rIns="0">
            <a:spAutoFit/>
          </a:bodyPr>
          <a:lstStyle/>
          <a:p>
            <a:pPr algn="l" marL="0" indent="0" lvl="1">
              <a:lnSpc>
                <a:spcPts val="7192"/>
              </a:lnSpc>
              <a:spcBef>
                <a:spcPct val="0"/>
              </a:spcBef>
            </a:pPr>
            <a:r>
              <a:rPr lang="en-US" b="true" sz="6849" spc="-335">
                <a:solidFill>
                  <a:srgbClr val="343434"/>
                </a:solidFill>
                <a:latin typeface="TT Hoves Bold"/>
                <a:ea typeface="TT Hoves Bold"/>
                <a:cs typeface="TT Hoves Bold"/>
                <a:sym typeface="TT Hoves Bold"/>
              </a:rPr>
              <a:t>Product  Analysis</a:t>
            </a:r>
          </a:p>
        </p:txBody>
      </p:sp>
      <p:grpSp>
        <p:nvGrpSpPr>
          <p:cNvPr name="Group 3" id="3"/>
          <p:cNvGrpSpPr/>
          <p:nvPr/>
        </p:nvGrpSpPr>
        <p:grpSpPr>
          <a:xfrm rot="-5400000">
            <a:off x="-6298939" y="2046990"/>
            <a:ext cx="9355714" cy="8496558"/>
            <a:chOff x="0" y="0"/>
            <a:chExt cx="660400" cy="599754"/>
          </a:xfrm>
        </p:grpSpPr>
        <p:sp>
          <p:nvSpPr>
            <p:cNvPr name="Freeform 4" id="4"/>
            <p:cNvSpPr/>
            <p:nvPr/>
          </p:nvSpPr>
          <p:spPr>
            <a:xfrm flipH="false" flipV="false" rot="0">
              <a:off x="0" y="0"/>
              <a:ext cx="660400" cy="599754"/>
            </a:xfrm>
            <a:custGeom>
              <a:avLst/>
              <a:gdLst/>
              <a:ahLst/>
              <a:cxnLst/>
              <a:rect r="r" b="b" t="t" l="l"/>
              <a:pathLst>
                <a:path h="599754" w="660400">
                  <a:moveTo>
                    <a:pt x="220252" y="580685"/>
                  </a:moveTo>
                  <a:cubicBezTo>
                    <a:pt x="254109" y="592199"/>
                    <a:pt x="292600" y="599754"/>
                    <a:pt x="330378" y="599754"/>
                  </a:cubicBezTo>
                  <a:cubicBezTo>
                    <a:pt x="368157" y="599754"/>
                    <a:pt x="404509" y="593277"/>
                    <a:pt x="438009" y="581763"/>
                  </a:cubicBezTo>
                  <a:cubicBezTo>
                    <a:pt x="438723" y="581404"/>
                    <a:pt x="439435" y="581404"/>
                    <a:pt x="440148" y="581044"/>
                  </a:cubicBezTo>
                  <a:cubicBezTo>
                    <a:pt x="565955" y="534989"/>
                    <a:pt x="658618" y="413375"/>
                    <a:pt x="660400" y="275984"/>
                  </a:cubicBezTo>
                  <a:lnTo>
                    <a:pt x="660400" y="0"/>
                  </a:lnTo>
                  <a:lnTo>
                    <a:pt x="0" y="0"/>
                  </a:lnTo>
                  <a:lnTo>
                    <a:pt x="0" y="275780"/>
                  </a:lnTo>
                  <a:cubicBezTo>
                    <a:pt x="1782" y="414094"/>
                    <a:pt x="93019" y="535709"/>
                    <a:pt x="220252" y="580685"/>
                  </a:cubicBezTo>
                  <a:close/>
                </a:path>
              </a:pathLst>
            </a:custGeom>
            <a:solidFill>
              <a:srgbClr val="000000">
                <a:alpha val="0"/>
              </a:srgbClr>
            </a:solidFill>
            <a:ln w="190500" cap="sq">
              <a:gradFill>
                <a:gsLst>
                  <a:gs pos="0">
                    <a:srgbClr val="6AD572">
                      <a:alpha val="100000"/>
                    </a:srgbClr>
                  </a:gs>
                  <a:gs pos="100000">
                    <a:srgbClr val="65A6FE">
                      <a:alpha val="100000"/>
                    </a:srgbClr>
                  </a:gs>
                </a:gsLst>
                <a:lin ang="0"/>
              </a:gradFill>
              <a:prstDash val="solid"/>
              <a:miter/>
            </a:ln>
          </p:spPr>
        </p:sp>
        <p:sp>
          <p:nvSpPr>
            <p:cNvPr name="TextBox 5" id="5"/>
            <p:cNvSpPr txBox="true"/>
            <p:nvPr/>
          </p:nvSpPr>
          <p:spPr>
            <a:xfrm>
              <a:off x="0" y="-47625"/>
              <a:ext cx="660400" cy="520379"/>
            </a:xfrm>
            <a:prstGeom prst="rect">
              <a:avLst/>
            </a:prstGeom>
          </p:spPr>
          <p:txBody>
            <a:bodyPr anchor="ctr" rtlCol="false" tIns="50800" lIns="50800" bIns="50800" rIns="50800"/>
            <a:lstStyle/>
            <a:p>
              <a:pPr algn="ctr">
                <a:lnSpc>
                  <a:spcPts val="2488"/>
                </a:lnSpc>
              </a:pPr>
            </a:p>
          </p:txBody>
        </p:sp>
      </p:grpSp>
      <p:sp>
        <p:nvSpPr>
          <p:cNvPr name="Freeform 6" id="6"/>
          <p:cNvSpPr/>
          <p:nvPr/>
        </p:nvSpPr>
        <p:spPr>
          <a:xfrm flipH="false" flipV="false" rot="0">
            <a:off x="1137934" y="2498945"/>
            <a:ext cx="3140292" cy="605220"/>
          </a:xfrm>
          <a:custGeom>
            <a:avLst/>
            <a:gdLst/>
            <a:ahLst/>
            <a:cxnLst/>
            <a:rect r="r" b="b" t="t" l="l"/>
            <a:pathLst>
              <a:path h="605220" w="3140292">
                <a:moveTo>
                  <a:pt x="0" y="0"/>
                </a:moveTo>
                <a:lnTo>
                  <a:pt x="3140292" y="0"/>
                </a:lnTo>
                <a:lnTo>
                  <a:pt x="3140292" y="605220"/>
                </a:lnTo>
                <a:lnTo>
                  <a:pt x="0" y="6052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920451" y="3719424"/>
            <a:ext cx="4094059" cy="789037"/>
          </a:xfrm>
          <a:custGeom>
            <a:avLst/>
            <a:gdLst/>
            <a:ahLst/>
            <a:cxnLst/>
            <a:rect r="r" b="b" t="t" l="l"/>
            <a:pathLst>
              <a:path h="789037" w="4094059">
                <a:moveTo>
                  <a:pt x="0" y="0"/>
                </a:moveTo>
                <a:lnTo>
                  <a:pt x="4094060" y="0"/>
                </a:lnTo>
                <a:lnTo>
                  <a:pt x="4094060" y="789037"/>
                </a:lnTo>
                <a:lnTo>
                  <a:pt x="0" y="7890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2627197" y="5921948"/>
            <a:ext cx="3874095" cy="746644"/>
          </a:xfrm>
          <a:custGeom>
            <a:avLst/>
            <a:gdLst/>
            <a:ahLst/>
            <a:cxnLst/>
            <a:rect r="r" b="b" t="t" l="l"/>
            <a:pathLst>
              <a:path h="746644" w="3874095">
                <a:moveTo>
                  <a:pt x="0" y="0"/>
                </a:moveTo>
                <a:lnTo>
                  <a:pt x="3874095" y="0"/>
                </a:lnTo>
                <a:lnTo>
                  <a:pt x="3874095" y="746644"/>
                </a:lnTo>
                <a:lnTo>
                  <a:pt x="0" y="7466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920451" y="8032691"/>
            <a:ext cx="4580841" cy="882853"/>
          </a:xfrm>
          <a:custGeom>
            <a:avLst/>
            <a:gdLst/>
            <a:ahLst/>
            <a:cxnLst/>
            <a:rect r="r" b="b" t="t" l="l"/>
            <a:pathLst>
              <a:path h="882853" w="4580841">
                <a:moveTo>
                  <a:pt x="0" y="0"/>
                </a:moveTo>
                <a:lnTo>
                  <a:pt x="4580841" y="0"/>
                </a:lnTo>
                <a:lnTo>
                  <a:pt x="4580841" y="882853"/>
                </a:lnTo>
                <a:lnTo>
                  <a:pt x="0" y="88285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8046031" y="526271"/>
            <a:ext cx="9960557" cy="5640166"/>
          </a:xfrm>
          <a:custGeom>
            <a:avLst/>
            <a:gdLst/>
            <a:ahLst/>
            <a:cxnLst/>
            <a:rect r="r" b="b" t="t" l="l"/>
            <a:pathLst>
              <a:path h="5640166" w="9960557">
                <a:moveTo>
                  <a:pt x="0" y="0"/>
                </a:moveTo>
                <a:lnTo>
                  <a:pt x="9960557" y="0"/>
                </a:lnTo>
                <a:lnTo>
                  <a:pt x="9960557" y="5640165"/>
                </a:lnTo>
                <a:lnTo>
                  <a:pt x="0" y="5640165"/>
                </a:lnTo>
                <a:lnTo>
                  <a:pt x="0" y="0"/>
                </a:lnTo>
                <a:close/>
              </a:path>
            </a:pathLst>
          </a:custGeom>
          <a:blipFill>
            <a:blip r:embed="rId10"/>
            <a:stretch>
              <a:fillRect l="0" t="0" r="0" b="0"/>
            </a:stretch>
          </a:blipFill>
        </p:spPr>
      </p:sp>
      <p:sp>
        <p:nvSpPr>
          <p:cNvPr name="TextBox 11" id="1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26</a:t>
            </a:r>
          </a:p>
        </p:txBody>
      </p:sp>
      <p:sp>
        <p:nvSpPr>
          <p:cNvPr name="TextBox 12" id="12"/>
          <p:cNvSpPr txBox="true"/>
          <p:nvPr/>
        </p:nvSpPr>
        <p:spPr>
          <a:xfrm rot="0">
            <a:off x="501519" y="2599174"/>
            <a:ext cx="4916692" cy="352591"/>
          </a:xfrm>
          <a:prstGeom prst="rect">
            <a:avLst/>
          </a:prstGeom>
        </p:spPr>
        <p:txBody>
          <a:bodyPr anchor="t" rtlCol="false" tIns="0" lIns="0" bIns="0" rIns="0">
            <a:spAutoFit/>
          </a:bodyPr>
          <a:lstStyle/>
          <a:p>
            <a:pPr algn="ctr">
              <a:lnSpc>
                <a:spcPts val="2919"/>
              </a:lnSpc>
              <a:spcBef>
                <a:spcPct val="0"/>
              </a:spcBef>
            </a:pPr>
            <a:r>
              <a:rPr lang="en-US" b="true" sz="2085">
                <a:solidFill>
                  <a:srgbClr val="000000"/>
                </a:solidFill>
                <a:latin typeface="Canva Sans Bold"/>
                <a:ea typeface="Canva Sans Bold"/>
                <a:cs typeface="Canva Sans Bold"/>
                <a:sym typeface="Canva Sans Bold"/>
              </a:rPr>
              <a:t>Shows tot</a:t>
            </a:r>
            <a:r>
              <a:rPr lang="en-US" b="true" sz="2085">
                <a:solidFill>
                  <a:srgbClr val="000000"/>
                </a:solidFill>
                <a:latin typeface="Canva Sans Bold"/>
                <a:ea typeface="Canva Sans Bold"/>
                <a:cs typeface="Canva Sans Bold"/>
                <a:sym typeface="Canva Sans Bold"/>
              </a:rPr>
              <a:t>al KPIs</a:t>
            </a:r>
          </a:p>
        </p:txBody>
      </p:sp>
      <p:sp>
        <p:nvSpPr>
          <p:cNvPr name="TextBox 13" id="13"/>
          <p:cNvSpPr txBox="true"/>
          <p:nvPr/>
        </p:nvSpPr>
        <p:spPr>
          <a:xfrm rot="0">
            <a:off x="1744787" y="3105760"/>
            <a:ext cx="6040208" cy="289814"/>
          </a:xfrm>
          <a:prstGeom prst="rect">
            <a:avLst/>
          </a:prstGeom>
        </p:spPr>
        <p:txBody>
          <a:bodyPr anchor="t" rtlCol="false" tIns="0" lIns="0" bIns="0" rIns="0">
            <a:spAutoFit/>
          </a:bodyPr>
          <a:lstStyle/>
          <a:p>
            <a:pPr algn="l">
              <a:lnSpc>
                <a:spcPts val="2487"/>
              </a:lnSpc>
            </a:pPr>
            <a:r>
              <a:rPr lang="en-US" sz="1599">
                <a:solidFill>
                  <a:srgbClr val="000000"/>
                </a:solidFill>
                <a:latin typeface="Canva Sans"/>
                <a:ea typeface="Canva Sans"/>
                <a:cs typeface="Canva Sans"/>
                <a:sym typeface="Canva Sans"/>
              </a:rPr>
              <a:t>for</a:t>
            </a:r>
            <a:r>
              <a:rPr lang="en-US" sz="1599">
                <a:solidFill>
                  <a:srgbClr val="000000"/>
                </a:solidFill>
                <a:latin typeface="Canva Sans"/>
                <a:ea typeface="Canva Sans"/>
                <a:cs typeface="Canva Sans"/>
                <a:sym typeface="Canva Sans"/>
              </a:rPr>
              <a:t> providing a quick business snapshot for decision-makers</a:t>
            </a:r>
          </a:p>
        </p:txBody>
      </p:sp>
      <p:sp>
        <p:nvSpPr>
          <p:cNvPr name="TextBox 14" id="14"/>
          <p:cNvSpPr txBox="true"/>
          <p:nvPr/>
        </p:nvSpPr>
        <p:spPr>
          <a:xfrm rot="0">
            <a:off x="2388714" y="3912765"/>
            <a:ext cx="3943249" cy="354731"/>
          </a:xfrm>
          <a:prstGeom prst="rect">
            <a:avLst/>
          </a:prstGeom>
        </p:spPr>
        <p:txBody>
          <a:bodyPr anchor="t" rtlCol="false" tIns="0" lIns="0" bIns="0" rIns="0">
            <a:spAutoFit/>
          </a:bodyPr>
          <a:lstStyle/>
          <a:p>
            <a:pPr algn="ctr" marL="0" indent="0" lvl="0">
              <a:lnSpc>
                <a:spcPts val="2828"/>
              </a:lnSpc>
              <a:spcBef>
                <a:spcPct val="0"/>
              </a:spcBef>
            </a:pPr>
            <a:r>
              <a:rPr lang="en-US" b="true" sz="2020" strike="noStrike" u="none">
                <a:solidFill>
                  <a:srgbClr val="000000"/>
                </a:solidFill>
                <a:latin typeface="Canva Sans Bold"/>
                <a:ea typeface="Canva Sans Bold"/>
                <a:cs typeface="Canva Sans Bold"/>
                <a:sym typeface="Canva Sans Bold"/>
              </a:rPr>
              <a:t>Revenue &amp; Profit Trends</a:t>
            </a:r>
          </a:p>
        </p:txBody>
      </p:sp>
      <p:sp>
        <p:nvSpPr>
          <p:cNvPr name="TextBox 15" id="15"/>
          <p:cNvSpPr txBox="true"/>
          <p:nvPr/>
        </p:nvSpPr>
        <p:spPr>
          <a:xfrm rot="0">
            <a:off x="2627197" y="4613236"/>
            <a:ext cx="4275388" cy="604139"/>
          </a:xfrm>
          <a:prstGeom prst="rect">
            <a:avLst/>
          </a:prstGeom>
        </p:spPr>
        <p:txBody>
          <a:bodyPr anchor="t" rtlCol="false" tIns="0" lIns="0" bIns="0" rIns="0">
            <a:spAutoFit/>
          </a:bodyPr>
          <a:lstStyle/>
          <a:p>
            <a:pPr algn="l">
              <a:lnSpc>
                <a:spcPts val="2487"/>
              </a:lnSpc>
            </a:pPr>
            <a:r>
              <a:rPr lang="en-US" sz="1599">
                <a:solidFill>
                  <a:srgbClr val="000000"/>
                </a:solidFill>
                <a:latin typeface="Canva Sans"/>
                <a:ea typeface="Canva Sans"/>
                <a:cs typeface="Canva Sans"/>
                <a:sym typeface="Canva Sans"/>
              </a:rPr>
              <a:t>to</a:t>
            </a:r>
            <a:r>
              <a:rPr lang="en-US" sz="1599">
                <a:solidFill>
                  <a:srgbClr val="000000"/>
                </a:solidFill>
                <a:latin typeface="Canva Sans"/>
                <a:ea typeface="Canva Sans"/>
                <a:cs typeface="Canva Sans"/>
                <a:sym typeface="Canva Sans"/>
              </a:rPr>
              <a:t> track financial performance and detect growth or decline</a:t>
            </a:r>
          </a:p>
        </p:txBody>
      </p:sp>
      <p:sp>
        <p:nvSpPr>
          <p:cNvPr name="TextBox 16" id="16"/>
          <p:cNvSpPr txBox="true"/>
          <p:nvPr/>
        </p:nvSpPr>
        <p:spPr>
          <a:xfrm rot="0">
            <a:off x="2407116" y="6093675"/>
            <a:ext cx="5063017" cy="405652"/>
          </a:xfrm>
          <a:prstGeom prst="rect">
            <a:avLst/>
          </a:prstGeom>
        </p:spPr>
        <p:txBody>
          <a:bodyPr anchor="t" rtlCol="false" tIns="0" lIns="0" bIns="0" rIns="0">
            <a:spAutoFit/>
          </a:bodyPr>
          <a:lstStyle/>
          <a:p>
            <a:pPr algn="ctr" marL="0" indent="0" lvl="0">
              <a:lnSpc>
                <a:spcPts val="3382"/>
              </a:lnSpc>
              <a:spcBef>
                <a:spcPct val="0"/>
              </a:spcBef>
            </a:pPr>
            <a:r>
              <a:rPr lang="en-US" b="true" sz="2416" strike="noStrike" u="none">
                <a:solidFill>
                  <a:srgbClr val="000000"/>
                </a:solidFill>
                <a:latin typeface="Canva Sans Bold"/>
                <a:ea typeface="Canva Sans Bold"/>
                <a:cs typeface="Canva Sans Bold"/>
                <a:sym typeface="Canva Sans Bold"/>
              </a:rPr>
              <a:t>Customer Insights</a:t>
            </a:r>
          </a:p>
        </p:txBody>
      </p:sp>
      <p:sp>
        <p:nvSpPr>
          <p:cNvPr name="TextBox 17" id="17"/>
          <p:cNvSpPr txBox="true"/>
          <p:nvPr/>
        </p:nvSpPr>
        <p:spPr>
          <a:xfrm rot="0">
            <a:off x="3120727" y="6773367"/>
            <a:ext cx="3205543" cy="349250"/>
          </a:xfrm>
          <a:prstGeom prst="rect">
            <a:avLst/>
          </a:prstGeom>
        </p:spPr>
        <p:txBody>
          <a:bodyPr anchor="t" rtlCol="false" tIns="0" lIns="0" bIns="0" rIns="0">
            <a:spAutoFit/>
          </a:bodyPr>
          <a:lstStyle/>
          <a:p>
            <a:pPr algn="ctr">
              <a:lnSpc>
                <a:spcPts val="2800"/>
              </a:lnSpc>
              <a:spcBef>
                <a:spcPct val="0"/>
              </a:spcBef>
            </a:pPr>
            <a:r>
              <a:rPr lang="en-US" sz="2000">
                <a:solidFill>
                  <a:srgbClr val="000000"/>
                </a:solidFill>
                <a:latin typeface="Canva Sans"/>
                <a:ea typeface="Canva Sans"/>
                <a:cs typeface="Canva Sans"/>
                <a:sym typeface="Canva Sans"/>
              </a:rPr>
              <a:t>to identify the best sellers</a:t>
            </a:r>
          </a:p>
        </p:txBody>
      </p:sp>
      <p:sp>
        <p:nvSpPr>
          <p:cNvPr name="TextBox 18" id="18"/>
          <p:cNvSpPr txBox="true"/>
          <p:nvPr/>
        </p:nvSpPr>
        <p:spPr>
          <a:xfrm rot="0">
            <a:off x="1744787" y="8237041"/>
            <a:ext cx="5696841" cy="402492"/>
          </a:xfrm>
          <a:prstGeom prst="rect">
            <a:avLst/>
          </a:prstGeom>
        </p:spPr>
        <p:txBody>
          <a:bodyPr anchor="t" rtlCol="false" tIns="0" lIns="0" bIns="0" rIns="0">
            <a:spAutoFit/>
          </a:bodyPr>
          <a:lstStyle/>
          <a:p>
            <a:pPr algn="ctr">
              <a:lnSpc>
                <a:spcPts val="3382"/>
              </a:lnSpc>
              <a:spcBef>
                <a:spcPct val="0"/>
              </a:spcBef>
            </a:pPr>
            <a:r>
              <a:rPr lang="en-US" b="true" sz="2416">
                <a:solidFill>
                  <a:srgbClr val="000000"/>
                </a:solidFill>
                <a:latin typeface="Canva Sans Bold"/>
                <a:ea typeface="Canva Sans Bold"/>
                <a:cs typeface="Canva Sans Bold"/>
                <a:sym typeface="Canva Sans Bold"/>
              </a:rPr>
              <a:t> In</a:t>
            </a:r>
            <a:r>
              <a:rPr lang="en-US" b="true" sz="2416">
                <a:solidFill>
                  <a:srgbClr val="000000"/>
                </a:solidFill>
                <a:latin typeface="Canva Sans Bold"/>
                <a:ea typeface="Canva Sans Bold"/>
                <a:cs typeface="Canva Sans Bold"/>
                <a:sym typeface="Canva Sans Bold"/>
              </a:rPr>
              <a:t>teractive filters</a:t>
            </a:r>
          </a:p>
        </p:txBody>
      </p:sp>
      <p:sp>
        <p:nvSpPr>
          <p:cNvPr name="TextBox 19" id="19"/>
          <p:cNvSpPr txBox="true"/>
          <p:nvPr/>
        </p:nvSpPr>
        <p:spPr>
          <a:xfrm rot="0">
            <a:off x="2585804" y="9067944"/>
            <a:ext cx="4275388" cy="604139"/>
          </a:xfrm>
          <a:prstGeom prst="rect">
            <a:avLst/>
          </a:prstGeom>
        </p:spPr>
        <p:txBody>
          <a:bodyPr anchor="t" rtlCol="false" tIns="0" lIns="0" bIns="0" rIns="0">
            <a:spAutoFit/>
          </a:bodyPr>
          <a:lstStyle/>
          <a:p>
            <a:pPr algn="l">
              <a:lnSpc>
                <a:spcPts val="2487"/>
              </a:lnSpc>
            </a:pPr>
            <a:r>
              <a:rPr lang="en-US" sz="1599">
                <a:solidFill>
                  <a:srgbClr val="000000"/>
                </a:solidFill>
                <a:latin typeface="Canva Sans"/>
                <a:ea typeface="Canva Sans"/>
                <a:cs typeface="Canva Sans"/>
                <a:sym typeface="Canva Sans"/>
              </a:rPr>
              <a:t> enable</a:t>
            </a:r>
            <a:r>
              <a:rPr lang="en-US" sz="1599">
                <a:solidFill>
                  <a:srgbClr val="000000"/>
                </a:solidFill>
                <a:latin typeface="Canva Sans"/>
                <a:ea typeface="Canva Sans"/>
                <a:cs typeface="Canva Sans"/>
                <a:sym typeface="Canva Sans"/>
              </a:rPr>
              <a:t> customized analysis for specific markets or periods</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grpSp>
        <p:nvGrpSpPr>
          <p:cNvPr name="Group 2" id="2"/>
          <p:cNvGrpSpPr/>
          <p:nvPr/>
        </p:nvGrpSpPr>
        <p:grpSpPr>
          <a:xfrm rot="-5400000">
            <a:off x="-6298939" y="2046990"/>
            <a:ext cx="9355714" cy="8496558"/>
            <a:chOff x="0" y="0"/>
            <a:chExt cx="660400" cy="599754"/>
          </a:xfrm>
        </p:grpSpPr>
        <p:sp>
          <p:nvSpPr>
            <p:cNvPr name="Freeform 3" id="3"/>
            <p:cNvSpPr/>
            <p:nvPr/>
          </p:nvSpPr>
          <p:spPr>
            <a:xfrm flipH="false" flipV="false" rot="0">
              <a:off x="0" y="0"/>
              <a:ext cx="660400" cy="599754"/>
            </a:xfrm>
            <a:custGeom>
              <a:avLst/>
              <a:gdLst/>
              <a:ahLst/>
              <a:cxnLst/>
              <a:rect r="r" b="b" t="t" l="l"/>
              <a:pathLst>
                <a:path h="599754" w="660400">
                  <a:moveTo>
                    <a:pt x="220252" y="580685"/>
                  </a:moveTo>
                  <a:cubicBezTo>
                    <a:pt x="254109" y="592199"/>
                    <a:pt x="292600" y="599754"/>
                    <a:pt x="330378" y="599754"/>
                  </a:cubicBezTo>
                  <a:cubicBezTo>
                    <a:pt x="368157" y="599754"/>
                    <a:pt x="404509" y="593277"/>
                    <a:pt x="438009" y="581763"/>
                  </a:cubicBezTo>
                  <a:cubicBezTo>
                    <a:pt x="438723" y="581404"/>
                    <a:pt x="439435" y="581404"/>
                    <a:pt x="440148" y="581044"/>
                  </a:cubicBezTo>
                  <a:cubicBezTo>
                    <a:pt x="565955" y="534989"/>
                    <a:pt x="658618" y="413375"/>
                    <a:pt x="660400" y="275984"/>
                  </a:cubicBezTo>
                  <a:lnTo>
                    <a:pt x="660400" y="0"/>
                  </a:lnTo>
                  <a:lnTo>
                    <a:pt x="0" y="0"/>
                  </a:lnTo>
                  <a:lnTo>
                    <a:pt x="0" y="275780"/>
                  </a:lnTo>
                  <a:cubicBezTo>
                    <a:pt x="1782" y="414094"/>
                    <a:pt x="93019" y="535709"/>
                    <a:pt x="220252" y="580685"/>
                  </a:cubicBezTo>
                  <a:close/>
                </a:path>
              </a:pathLst>
            </a:custGeom>
            <a:solidFill>
              <a:srgbClr val="000000">
                <a:alpha val="0"/>
              </a:srgbClr>
            </a:solidFill>
            <a:ln w="190500" cap="sq">
              <a:gradFill>
                <a:gsLst>
                  <a:gs pos="0">
                    <a:srgbClr val="6AD572">
                      <a:alpha val="100000"/>
                    </a:srgbClr>
                  </a:gs>
                  <a:gs pos="100000">
                    <a:srgbClr val="65A6FE">
                      <a:alpha val="100000"/>
                    </a:srgbClr>
                  </a:gs>
                </a:gsLst>
                <a:lin ang="0"/>
              </a:gradFill>
              <a:prstDash val="solid"/>
              <a:miter/>
            </a:ln>
          </p:spPr>
        </p:sp>
        <p:sp>
          <p:nvSpPr>
            <p:cNvPr name="TextBox 4" id="4"/>
            <p:cNvSpPr txBox="true"/>
            <p:nvPr/>
          </p:nvSpPr>
          <p:spPr>
            <a:xfrm>
              <a:off x="0" y="-47625"/>
              <a:ext cx="660400" cy="520379"/>
            </a:xfrm>
            <a:prstGeom prst="rect">
              <a:avLst/>
            </a:prstGeom>
          </p:spPr>
          <p:txBody>
            <a:bodyPr anchor="ctr" rtlCol="false" tIns="50800" lIns="50800" bIns="50800" rIns="50800"/>
            <a:lstStyle/>
            <a:p>
              <a:pPr algn="ctr">
                <a:lnSpc>
                  <a:spcPts val="2488"/>
                </a:lnSpc>
              </a:pPr>
            </a:p>
          </p:txBody>
        </p:sp>
      </p:grpSp>
      <p:sp>
        <p:nvSpPr>
          <p:cNvPr name="Freeform 5" id="5"/>
          <p:cNvSpPr/>
          <p:nvPr/>
        </p:nvSpPr>
        <p:spPr>
          <a:xfrm flipH="false" flipV="false" rot="0">
            <a:off x="1622791" y="2860262"/>
            <a:ext cx="5584507" cy="1076287"/>
          </a:xfrm>
          <a:custGeom>
            <a:avLst/>
            <a:gdLst/>
            <a:ahLst/>
            <a:cxnLst/>
            <a:rect r="r" b="b" t="t" l="l"/>
            <a:pathLst>
              <a:path h="1076287" w="5584507">
                <a:moveTo>
                  <a:pt x="0" y="0"/>
                </a:moveTo>
                <a:lnTo>
                  <a:pt x="5584507" y="0"/>
                </a:lnTo>
                <a:lnTo>
                  <a:pt x="5584507" y="1076286"/>
                </a:lnTo>
                <a:lnTo>
                  <a:pt x="0" y="10762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322484" y="6721148"/>
            <a:ext cx="4884814" cy="941437"/>
          </a:xfrm>
          <a:custGeom>
            <a:avLst/>
            <a:gdLst/>
            <a:ahLst/>
            <a:cxnLst/>
            <a:rect r="r" b="b" t="t" l="l"/>
            <a:pathLst>
              <a:path h="941437" w="4884814">
                <a:moveTo>
                  <a:pt x="0" y="0"/>
                </a:moveTo>
                <a:lnTo>
                  <a:pt x="4884814" y="0"/>
                </a:lnTo>
                <a:lnTo>
                  <a:pt x="4884814" y="941437"/>
                </a:lnTo>
                <a:lnTo>
                  <a:pt x="0" y="9414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8893856" y="1106074"/>
            <a:ext cx="9144000" cy="4480560"/>
          </a:xfrm>
          <a:custGeom>
            <a:avLst/>
            <a:gdLst/>
            <a:ahLst/>
            <a:cxnLst/>
            <a:rect r="r" b="b" t="t" l="l"/>
            <a:pathLst>
              <a:path h="4480560" w="9144000">
                <a:moveTo>
                  <a:pt x="0" y="0"/>
                </a:moveTo>
                <a:lnTo>
                  <a:pt x="9144000" y="0"/>
                </a:lnTo>
                <a:lnTo>
                  <a:pt x="9144000" y="4480560"/>
                </a:lnTo>
                <a:lnTo>
                  <a:pt x="0" y="4480560"/>
                </a:lnTo>
                <a:lnTo>
                  <a:pt x="0" y="0"/>
                </a:lnTo>
                <a:close/>
              </a:path>
            </a:pathLst>
          </a:custGeom>
          <a:blipFill>
            <a:blip r:embed="rId6"/>
            <a:stretch>
              <a:fillRect l="0" t="0" r="0" b="0"/>
            </a:stretch>
          </a:blipFill>
        </p:spPr>
      </p:sp>
      <p:sp>
        <p:nvSpPr>
          <p:cNvPr name="TextBox 8" id="8"/>
          <p:cNvSpPr txBox="true"/>
          <p:nvPr/>
        </p:nvSpPr>
        <p:spPr>
          <a:xfrm rot="0">
            <a:off x="334034" y="12907"/>
            <a:ext cx="5860031" cy="2145887"/>
          </a:xfrm>
          <a:prstGeom prst="rect">
            <a:avLst/>
          </a:prstGeom>
        </p:spPr>
        <p:txBody>
          <a:bodyPr anchor="t" rtlCol="false" tIns="0" lIns="0" bIns="0" rIns="0">
            <a:spAutoFit/>
          </a:bodyPr>
          <a:lstStyle/>
          <a:p>
            <a:pPr algn="l">
              <a:lnSpc>
                <a:spcPts val="8326"/>
              </a:lnSpc>
            </a:pPr>
            <a:r>
              <a:rPr lang="en-US" sz="7930" spc="-388" b="true">
                <a:solidFill>
                  <a:srgbClr val="343434"/>
                </a:solidFill>
                <a:latin typeface="TT Hoves Bold"/>
                <a:ea typeface="TT Hoves Bold"/>
                <a:cs typeface="TT Hoves Bold"/>
                <a:sym typeface="TT Hoves Bold"/>
              </a:rPr>
              <a:t>Order  </a:t>
            </a:r>
          </a:p>
          <a:p>
            <a:pPr algn="l" marL="0" indent="0" lvl="1">
              <a:lnSpc>
                <a:spcPts val="8326"/>
              </a:lnSpc>
              <a:spcBef>
                <a:spcPct val="0"/>
              </a:spcBef>
            </a:pPr>
            <a:r>
              <a:rPr lang="en-US" b="true" sz="7930" spc="-388">
                <a:solidFill>
                  <a:srgbClr val="343434"/>
                </a:solidFill>
                <a:latin typeface="TT Hoves Bold"/>
                <a:ea typeface="TT Hoves Bold"/>
                <a:cs typeface="TT Hoves Bold"/>
                <a:sym typeface="TT Hoves Bold"/>
              </a:rPr>
              <a:t>Page</a:t>
            </a:r>
          </a:p>
        </p:txBody>
      </p:sp>
      <p:sp>
        <p:nvSpPr>
          <p:cNvPr name="TextBox 9" id="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27</a:t>
            </a:r>
          </a:p>
        </p:txBody>
      </p:sp>
      <p:sp>
        <p:nvSpPr>
          <p:cNvPr name="TextBox 10" id="10"/>
          <p:cNvSpPr txBox="true"/>
          <p:nvPr/>
        </p:nvSpPr>
        <p:spPr>
          <a:xfrm rot="0">
            <a:off x="2887511" y="3224133"/>
            <a:ext cx="4125813" cy="292478"/>
          </a:xfrm>
          <a:prstGeom prst="rect">
            <a:avLst/>
          </a:prstGeom>
        </p:spPr>
        <p:txBody>
          <a:bodyPr anchor="t" rtlCol="false" tIns="0" lIns="0" bIns="0" rIns="0">
            <a:spAutoFit/>
          </a:bodyPr>
          <a:lstStyle/>
          <a:p>
            <a:pPr algn="ctr">
              <a:lnSpc>
                <a:spcPts val="2449"/>
              </a:lnSpc>
              <a:spcBef>
                <a:spcPct val="0"/>
              </a:spcBef>
            </a:pPr>
            <a:r>
              <a:rPr lang="en-US" b="true" sz="1749">
                <a:solidFill>
                  <a:srgbClr val="000000"/>
                </a:solidFill>
                <a:latin typeface="Canva Sans Bold"/>
                <a:ea typeface="Canva Sans Bold"/>
                <a:cs typeface="Canva Sans Bold"/>
                <a:sym typeface="Canva Sans Bold"/>
              </a:rPr>
              <a:t>Count of product mo</a:t>
            </a:r>
            <a:r>
              <a:rPr lang="en-US" b="true" sz="1749">
                <a:solidFill>
                  <a:srgbClr val="000000"/>
                </a:solidFill>
                <a:latin typeface="Canva Sans Bold"/>
                <a:ea typeface="Canva Sans Bold"/>
                <a:cs typeface="Canva Sans Bold"/>
                <a:sym typeface="Canva Sans Bold"/>
              </a:rPr>
              <a:t>dels by quantity</a:t>
            </a:r>
          </a:p>
        </p:txBody>
      </p:sp>
      <p:sp>
        <p:nvSpPr>
          <p:cNvPr name="TextBox 11" id="11"/>
          <p:cNvSpPr txBox="true"/>
          <p:nvPr/>
        </p:nvSpPr>
        <p:spPr>
          <a:xfrm rot="0">
            <a:off x="2604997" y="3926766"/>
            <a:ext cx="7073679" cy="350302"/>
          </a:xfrm>
          <a:prstGeom prst="rect">
            <a:avLst/>
          </a:prstGeom>
        </p:spPr>
        <p:txBody>
          <a:bodyPr anchor="t" rtlCol="false" tIns="0" lIns="0" bIns="0" rIns="0">
            <a:spAutoFit/>
          </a:bodyPr>
          <a:lstStyle/>
          <a:p>
            <a:pPr algn="l">
              <a:lnSpc>
                <a:spcPts val="2913"/>
              </a:lnSpc>
            </a:pPr>
            <a:r>
              <a:rPr lang="en-US" sz="1873">
                <a:solidFill>
                  <a:srgbClr val="000000"/>
                </a:solidFill>
                <a:latin typeface="Canva Sans"/>
                <a:ea typeface="Canva Sans"/>
                <a:cs typeface="Canva Sans"/>
                <a:sym typeface="Canva Sans"/>
              </a:rPr>
              <a:t> to</a:t>
            </a:r>
            <a:r>
              <a:rPr lang="en-US" sz="1873">
                <a:solidFill>
                  <a:srgbClr val="000000"/>
                </a:solidFill>
                <a:latin typeface="Canva Sans"/>
                <a:ea typeface="Canva Sans"/>
                <a:cs typeface="Canva Sans"/>
                <a:sym typeface="Canva Sans"/>
              </a:rPr>
              <a:t> understand product diversity and sales spread.</a:t>
            </a:r>
          </a:p>
        </p:txBody>
      </p:sp>
      <p:sp>
        <p:nvSpPr>
          <p:cNvPr name="TextBox 12" id="12"/>
          <p:cNvSpPr txBox="true"/>
          <p:nvPr/>
        </p:nvSpPr>
        <p:spPr>
          <a:xfrm rot="0">
            <a:off x="3264049" y="6990688"/>
            <a:ext cx="3943249" cy="354731"/>
          </a:xfrm>
          <a:prstGeom prst="rect">
            <a:avLst/>
          </a:prstGeom>
        </p:spPr>
        <p:txBody>
          <a:bodyPr anchor="t" rtlCol="false" tIns="0" lIns="0" bIns="0" rIns="0">
            <a:spAutoFit/>
          </a:bodyPr>
          <a:lstStyle/>
          <a:p>
            <a:pPr algn="ctr" marL="0" indent="0" lvl="0">
              <a:lnSpc>
                <a:spcPts val="2828"/>
              </a:lnSpc>
              <a:spcBef>
                <a:spcPct val="0"/>
              </a:spcBef>
            </a:pPr>
            <a:r>
              <a:rPr lang="en-US" b="true" sz="2020">
                <a:solidFill>
                  <a:srgbClr val="000000"/>
                </a:solidFill>
                <a:latin typeface="Canva Sans Bold"/>
                <a:ea typeface="Canva Sans Bold"/>
                <a:cs typeface="Canva Sans Bold"/>
                <a:sym typeface="Canva Sans Bold"/>
              </a:rPr>
              <a:t>R</a:t>
            </a:r>
            <a:r>
              <a:rPr lang="en-US" b="true" sz="2020" strike="noStrike" u="none">
                <a:solidFill>
                  <a:srgbClr val="000000"/>
                </a:solidFill>
                <a:latin typeface="Canva Sans Bold"/>
                <a:ea typeface="Canva Sans Bold"/>
                <a:cs typeface="Canva Sans Bold"/>
                <a:sym typeface="Canva Sans Bold"/>
              </a:rPr>
              <a:t>even</a:t>
            </a:r>
            <a:r>
              <a:rPr lang="en-US" b="true" sz="2020" strike="noStrike" u="none">
                <a:solidFill>
                  <a:srgbClr val="000000"/>
                </a:solidFill>
                <a:latin typeface="Canva Sans Bold"/>
                <a:ea typeface="Canva Sans Bold"/>
                <a:cs typeface="Canva Sans Bold"/>
                <a:sym typeface="Canva Sans Bold"/>
              </a:rPr>
              <a:t>ue</a:t>
            </a:r>
            <a:r>
              <a:rPr lang="en-US" b="true" sz="2020" strike="noStrike" u="none">
                <a:solidFill>
                  <a:srgbClr val="000000"/>
                </a:solidFill>
                <a:latin typeface="Canva Sans Bold"/>
                <a:ea typeface="Canva Sans Bold"/>
                <a:cs typeface="Canva Sans Bold"/>
                <a:sym typeface="Canva Sans Bold"/>
              </a:rPr>
              <a:t> by c</a:t>
            </a:r>
            <a:r>
              <a:rPr lang="en-US" b="true" sz="2020" strike="noStrike" u="none">
                <a:solidFill>
                  <a:srgbClr val="000000"/>
                </a:solidFill>
                <a:latin typeface="Canva Sans Bold"/>
                <a:ea typeface="Canva Sans Bold"/>
                <a:cs typeface="Canva Sans Bold"/>
                <a:sym typeface="Canva Sans Bold"/>
              </a:rPr>
              <a:t>ateg</a:t>
            </a:r>
            <a:r>
              <a:rPr lang="en-US" b="true" sz="2020" strike="noStrike" u="none">
                <a:solidFill>
                  <a:srgbClr val="000000"/>
                </a:solidFill>
                <a:latin typeface="Canva Sans Bold"/>
                <a:ea typeface="Canva Sans Bold"/>
                <a:cs typeface="Canva Sans Bold"/>
                <a:sym typeface="Canva Sans Bold"/>
              </a:rPr>
              <a:t>ory</a:t>
            </a:r>
          </a:p>
        </p:txBody>
      </p:sp>
      <p:sp>
        <p:nvSpPr>
          <p:cNvPr name="TextBox 13" id="13"/>
          <p:cNvSpPr txBox="true"/>
          <p:nvPr/>
        </p:nvSpPr>
        <p:spPr>
          <a:xfrm rot="0">
            <a:off x="2627197" y="7899264"/>
            <a:ext cx="6697503" cy="289814"/>
          </a:xfrm>
          <a:prstGeom prst="rect">
            <a:avLst/>
          </a:prstGeom>
        </p:spPr>
        <p:txBody>
          <a:bodyPr anchor="t" rtlCol="false" tIns="0" lIns="0" bIns="0" rIns="0">
            <a:spAutoFit/>
          </a:bodyPr>
          <a:lstStyle/>
          <a:p>
            <a:pPr algn="ctr">
              <a:lnSpc>
                <a:spcPts val="2487"/>
              </a:lnSpc>
              <a:spcBef>
                <a:spcPct val="0"/>
              </a:spcBef>
            </a:pPr>
            <a:r>
              <a:rPr lang="en-US" sz="1599">
                <a:solidFill>
                  <a:srgbClr val="000000"/>
                </a:solidFill>
                <a:latin typeface="Canva Sans"/>
                <a:ea typeface="Canva Sans"/>
                <a:cs typeface="Canva Sans"/>
                <a:sym typeface="Canva Sans"/>
              </a:rPr>
              <a:t> to compare catego</a:t>
            </a:r>
            <a:r>
              <a:rPr lang="en-US" sz="1599">
                <a:solidFill>
                  <a:srgbClr val="000000"/>
                </a:solidFill>
                <a:latin typeface="Canva Sans"/>
                <a:ea typeface="Canva Sans"/>
                <a:cs typeface="Canva Sans"/>
                <a:sym typeface="Canva Sans"/>
              </a:rPr>
              <a:t>ries and guide investment in profitable segments.</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356810" y="147871"/>
            <a:ext cx="5061400" cy="1856908"/>
          </a:xfrm>
          <a:prstGeom prst="rect">
            <a:avLst/>
          </a:prstGeom>
        </p:spPr>
        <p:txBody>
          <a:bodyPr anchor="t" rtlCol="false" tIns="0" lIns="0" bIns="0" rIns="0">
            <a:spAutoFit/>
          </a:bodyPr>
          <a:lstStyle/>
          <a:p>
            <a:pPr algn="l" marL="0" indent="0" lvl="1">
              <a:lnSpc>
                <a:spcPts val="7192"/>
              </a:lnSpc>
              <a:spcBef>
                <a:spcPct val="0"/>
              </a:spcBef>
            </a:pPr>
            <a:r>
              <a:rPr lang="en-US" b="true" sz="6849" spc="-335">
                <a:solidFill>
                  <a:srgbClr val="343434"/>
                </a:solidFill>
                <a:latin typeface="TT Hoves Bold"/>
                <a:ea typeface="TT Hoves Bold"/>
                <a:cs typeface="TT Hoves Bold"/>
                <a:sym typeface="TT Hoves Bold"/>
              </a:rPr>
              <a:t>Product  Page</a:t>
            </a:r>
          </a:p>
        </p:txBody>
      </p:sp>
      <p:grpSp>
        <p:nvGrpSpPr>
          <p:cNvPr name="Group 3" id="3"/>
          <p:cNvGrpSpPr/>
          <p:nvPr/>
        </p:nvGrpSpPr>
        <p:grpSpPr>
          <a:xfrm rot="-5400000">
            <a:off x="-6298939" y="2046990"/>
            <a:ext cx="9355714" cy="8496558"/>
            <a:chOff x="0" y="0"/>
            <a:chExt cx="660400" cy="599754"/>
          </a:xfrm>
        </p:grpSpPr>
        <p:sp>
          <p:nvSpPr>
            <p:cNvPr name="Freeform 4" id="4"/>
            <p:cNvSpPr/>
            <p:nvPr/>
          </p:nvSpPr>
          <p:spPr>
            <a:xfrm flipH="false" flipV="false" rot="0">
              <a:off x="0" y="0"/>
              <a:ext cx="660400" cy="599754"/>
            </a:xfrm>
            <a:custGeom>
              <a:avLst/>
              <a:gdLst/>
              <a:ahLst/>
              <a:cxnLst/>
              <a:rect r="r" b="b" t="t" l="l"/>
              <a:pathLst>
                <a:path h="599754" w="660400">
                  <a:moveTo>
                    <a:pt x="220252" y="580685"/>
                  </a:moveTo>
                  <a:cubicBezTo>
                    <a:pt x="254109" y="592199"/>
                    <a:pt x="292600" y="599754"/>
                    <a:pt x="330378" y="599754"/>
                  </a:cubicBezTo>
                  <a:cubicBezTo>
                    <a:pt x="368157" y="599754"/>
                    <a:pt x="404509" y="593277"/>
                    <a:pt x="438009" y="581763"/>
                  </a:cubicBezTo>
                  <a:cubicBezTo>
                    <a:pt x="438723" y="581404"/>
                    <a:pt x="439435" y="581404"/>
                    <a:pt x="440148" y="581044"/>
                  </a:cubicBezTo>
                  <a:cubicBezTo>
                    <a:pt x="565955" y="534989"/>
                    <a:pt x="658618" y="413375"/>
                    <a:pt x="660400" y="275984"/>
                  </a:cubicBezTo>
                  <a:lnTo>
                    <a:pt x="660400" y="0"/>
                  </a:lnTo>
                  <a:lnTo>
                    <a:pt x="0" y="0"/>
                  </a:lnTo>
                  <a:lnTo>
                    <a:pt x="0" y="275780"/>
                  </a:lnTo>
                  <a:cubicBezTo>
                    <a:pt x="1782" y="414094"/>
                    <a:pt x="93019" y="535709"/>
                    <a:pt x="220252" y="580685"/>
                  </a:cubicBezTo>
                  <a:close/>
                </a:path>
              </a:pathLst>
            </a:custGeom>
            <a:solidFill>
              <a:srgbClr val="000000">
                <a:alpha val="0"/>
              </a:srgbClr>
            </a:solidFill>
            <a:ln w="190500" cap="sq">
              <a:gradFill>
                <a:gsLst>
                  <a:gs pos="0">
                    <a:srgbClr val="6AD572">
                      <a:alpha val="100000"/>
                    </a:srgbClr>
                  </a:gs>
                  <a:gs pos="100000">
                    <a:srgbClr val="65A6FE">
                      <a:alpha val="100000"/>
                    </a:srgbClr>
                  </a:gs>
                </a:gsLst>
                <a:lin ang="0"/>
              </a:gradFill>
              <a:prstDash val="solid"/>
              <a:miter/>
            </a:ln>
          </p:spPr>
        </p:sp>
        <p:sp>
          <p:nvSpPr>
            <p:cNvPr name="TextBox 5" id="5"/>
            <p:cNvSpPr txBox="true"/>
            <p:nvPr/>
          </p:nvSpPr>
          <p:spPr>
            <a:xfrm>
              <a:off x="0" y="-47625"/>
              <a:ext cx="660400" cy="520379"/>
            </a:xfrm>
            <a:prstGeom prst="rect">
              <a:avLst/>
            </a:prstGeom>
          </p:spPr>
          <p:txBody>
            <a:bodyPr anchor="ctr" rtlCol="false" tIns="50800" lIns="50800" bIns="50800" rIns="50800"/>
            <a:lstStyle/>
            <a:p>
              <a:pPr algn="ctr">
                <a:lnSpc>
                  <a:spcPts val="2488"/>
                </a:lnSpc>
              </a:pPr>
            </a:p>
          </p:txBody>
        </p:sp>
      </p:grpSp>
      <p:sp>
        <p:nvSpPr>
          <p:cNvPr name="Freeform 6" id="6"/>
          <p:cNvSpPr/>
          <p:nvPr/>
        </p:nvSpPr>
        <p:spPr>
          <a:xfrm flipH="false" flipV="false" rot="0">
            <a:off x="1622791" y="2860262"/>
            <a:ext cx="5044352" cy="972184"/>
          </a:xfrm>
          <a:custGeom>
            <a:avLst/>
            <a:gdLst/>
            <a:ahLst/>
            <a:cxnLst/>
            <a:rect r="r" b="b" t="t" l="l"/>
            <a:pathLst>
              <a:path h="972184" w="5044352">
                <a:moveTo>
                  <a:pt x="0" y="0"/>
                </a:moveTo>
                <a:lnTo>
                  <a:pt x="5044352" y="0"/>
                </a:lnTo>
                <a:lnTo>
                  <a:pt x="5044352" y="972184"/>
                </a:lnTo>
                <a:lnTo>
                  <a:pt x="0" y="9721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2322484" y="6721148"/>
            <a:ext cx="4884814" cy="941437"/>
          </a:xfrm>
          <a:custGeom>
            <a:avLst/>
            <a:gdLst/>
            <a:ahLst/>
            <a:cxnLst/>
            <a:rect r="r" b="b" t="t" l="l"/>
            <a:pathLst>
              <a:path h="941437" w="4884814">
                <a:moveTo>
                  <a:pt x="0" y="0"/>
                </a:moveTo>
                <a:lnTo>
                  <a:pt x="4884814" y="0"/>
                </a:lnTo>
                <a:lnTo>
                  <a:pt x="4884814" y="941437"/>
                </a:lnTo>
                <a:lnTo>
                  <a:pt x="0" y="9414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8481504" y="1135822"/>
            <a:ext cx="9277000" cy="5902491"/>
          </a:xfrm>
          <a:custGeom>
            <a:avLst/>
            <a:gdLst/>
            <a:ahLst/>
            <a:cxnLst/>
            <a:rect r="r" b="b" t="t" l="l"/>
            <a:pathLst>
              <a:path h="5902491" w="9277000">
                <a:moveTo>
                  <a:pt x="0" y="0"/>
                </a:moveTo>
                <a:lnTo>
                  <a:pt x="9276999" y="0"/>
                </a:lnTo>
                <a:lnTo>
                  <a:pt x="9276999" y="5902491"/>
                </a:lnTo>
                <a:lnTo>
                  <a:pt x="0" y="5902491"/>
                </a:lnTo>
                <a:lnTo>
                  <a:pt x="0" y="0"/>
                </a:lnTo>
                <a:close/>
              </a:path>
            </a:pathLst>
          </a:custGeom>
          <a:blipFill>
            <a:blip r:embed="rId6"/>
            <a:stretch>
              <a:fillRect l="0" t="0" r="0" b="0"/>
            </a:stretch>
          </a:blipFill>
        </p:spPr>
      </p:sp>
      <p:sp>
        <p:nvSpPr>
          <p:cNvPr name="TextBox 9" id="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28</a:t>
            </a:r>
          </a:p>
        </p:txBody>
      </p:sp>
      <p:sp>
        <p:nvSpPr>
          <p:cNvPr name="TextBox 10" id="10"/>
          <p:cNvSpPr txBox="true"/>
          <p:nvPr/>
        </p:nvSpPr>
        <p:spPr>
          <a:xfrm rot="0">
            <a:off x="2032708" y="3150510"/>
            <a:ext cx="4634435" cy="344062"/>
          </a:xfrm>
          <a:prstGeom prst="rect">
            <a:avLst/>
          </a:prstGeom>
        </p:spPr>
        <p:txBody>
          <a:bodyPr anchor="t" rtlCol="false" tIns="0" lIns="0" bIns="0" rIns="0">
            <a:spAutoFit/>
          </a:bodyPr>
          <a:lstStyle/>
          <a:p>
            <a:pPr algn="ctr">
              <a:lnSpc>
                <a:spcPts val="2751"/>
              </a:lnSpc>
              <a:spcBef>
                <a:spcPct val="0"/>
              </a:spcBef>
            </a:pPr>
            <a:r>
              <a:rPr lang="en-US" b="true" sz="1965">
                <a:solidFill>
                  <a:srgbClr val="000000"/>
                </a:solidFill>
                <a:latin typeface="Canva Sans Bold"/>
                <a:ea typeface="Canva Sans Bold"/>
                <a:cs typeface="Canva Sans Bold"/>
                <a:sym typeface="Canva Sans Bold"/>
              </a:rPr>
              <a:t>Quantity so</a:t>
            </a:r>
            <a:r>
              <a:rPr lang="en-US" b="true" sz="1965">
                <a:solidFill>
                  <a:srgbClr val="000000"/>
                </a:solidFill>
                <a:latin typeface="Canva Sans Bold"/>
                <a:ea typeface="Canva Sans Bold"/>
                <a:cs typeface="Canva Sans Bold"/>
                <a:sym typeface="Canva Sans Bold"/>
              </a:rPr>
              <a:t>ld by year</a:t>
            </a:r>
          </a:p>
        </p:txBody>
      </p:sp>
      <p:sp>
        <p:nvSpPr>
          <p:cNvPr name="TextBox 11" id="11"/>
          <p:cNvSpPr txBox="true"/>
          <p:nvPr/>
        </p:nvSpPr>
        <p:spPr>
          <a:xfrm rot="0">
            <a:off x="2627197" y="3945236"/>
            <a:ext cx="7638705" cy="382483"/>
          </a:xfrm>
          <a:prstGeom prst="rect">
            <a:avLst/>
          </a:prstGeom>
        </p:spPr>
        <p:txBody>
          <a:bodyPr anchor="t" rtlCol="false" tIns="0" lIns="0" bIns="0" rIns="0">
            <a:spAutoFit/>
          </a:bodyPr>
          <a:lstStyle/>
          <a:p>
            <a:pPr algn="l">
              <a:lnSpc>
                <a:spcPts val="3146"/>
              </a:lnSpc>
            </a:pPr>
            <a:r>
              <a:rPr lang="en-US" sz="2023">
                <a:solidFill>
                  <a:srgbClr val="000000"/>
                </a:solidFill>
                <a:latin typeface="Canva Sans"/>
                <a:ea typeface="Canva Sans"/>
                <a:cs typeface="Canva Sans"/>
                <a:sym typeface="Canva Sans"/>
              </a:rPr>
              <a:t>to</a:t>
            </a:r>
            <a:r>
              <a:rPr lang="en-US" sz="2023">
                <a:solidFill>
                  <a:srgbClr val="000000"/>
                </a:solidFill>
                <a:latin typeface="Canva Sans"/>
                <a:ea typeface="Canva Sans"/>
                <a:cs typeface="Canva Sans"/>
                <a:sym typeface="Canva Sans"/>
              </a:rPr>
              <a:t> analyze demand trends over time.</a:t>
            </a:r>
          </a:p>
        </p:txBody>
      </p:sp>
      <p:sp>
        <p:nvSpPr>
          <p:cNvPr name="TextBox 12" id="12"/>
          <p:cNvSpPr txBox="true"/>
          <p:nvPr/>
        </p:nvSpPr>
        <p:spPr>
          <a:xfrm rot="0">
            <a:off x="3264049" y="6990688"/>
            <a:ext cx="3943249" cy="354731"/>
          </a:xfrm>
          <a:prstGeom prst="rect">
            <a:avLst/>
          </a:prstGeom>
        </p:spPr>
        <p:txBody>
          <a:bodyPr anchor="t" rtlCol="false" tIns="0" lIns="0" bIns="0" rIns="0">
            <a:spAutoFit/>
          </a:bodyPr>
          <a:lstStyle/>
          <a:p>
            <a:pPr algn="ctr" marL="0" indent="0" lvl="0">
              <a:lnSpc>
                <a:spcPts val="2828"/>
              </a:lnSpc>
              <a:spcBef>
                <a:spcPct val="0"/>
              </a:spcBef>
            </a:pPr>
            <a:r>
              <a:rPr lang="en-US" b="true" sz="2020">
                <a:solidFill>
                  <a:srgbClr val="000000"/>
                </a:solidFill>
                <a:latin typeface="Canva Sans Bold"/>
                <a:ea typeface="Canva Sans Bold"/>
                <a:cs typeface="Canva Sans Bold"/>
                <a:sym typeface="Canva Sans Bold"/>
              </a:rPr>
              <a:t>Sal</a:t>
            </a:r>
            <a:r>
              <a:rPr lang="en-US" b="true" sz="2020" strike="noStrike" u="none">
                <a:solidFill>
                  <a:srgbClr val="000000"/>
                </a:solidFill>
                <a:latin typeface="Canva Sans Bold"/>
                <a:ea typeface="Canva Sans Bold"/>
                <a:cs typeface="Canva Sans Bold"/>
                <a:sym typeface="Canva Sans Bold"/>
              </a:rPr>
              <a:t>e</a:t>
            </a:r>
            <a:r>
              <a:rPr lang="en-US" b="true" sz="2020" strike="noStrike" u="none">
                <a:solidFill>
                  <a:srgbClr val="000000"/>
                </a:solidFill>
                <a:latin typeface="Canva Sans Bold"/>
                <a:ea typeface="Canva Sans Bold"/>
                <a:cs typeface="Canva Sans Bold"/>
                <a:sym typeface="Canva Sans Bold"/>
              </a:rPr>
              <a:t>s</a:t>
            </a:r>
            <a:r>
              <a:rPr lang="en-US" b="true" sz="2020" strike="noStrike" u="none">
                <a:solidFill>
                  <a:srgbClr val="000000"/>
                </a:solidFill>
                <a:latin typeface="Canva Sans Bold"/>
                <a:ea typeface="Canva Sans Bold"/>
                <a:cs typeface="Canva Sans Bold"/>
                <a:sym typeface="Canva Sans Bold"/>
              </a:rPr>
              <a:t> </a:t>
            </a:r>
            <a:r>
              <a:rPr lang="en-US" b="true" sz="2020" strike="noStrike" u="none">
                <a:solidFill>
                  <a:srgbClr val="000000"/>
                </a:solidFill>
                <a:latin typeface="Canva Sans Bold"/>
                <a:ea typeface="Canva Sans Bold"/>
                <a:cs typeface="Canva Sans Bold"/>
                <a:sym typeface="Canva Sans Bold"/>
              </a:rPr>
              <a:t>dist</a:t>
            </a:r>
            <a:r>
              <a:rPr lang="en-US" b="true" sz="2020" strike="noStrike" u="none">
                <a:solidFill>
                  <a:srgbClr val="000000"/>
                </a:solidFill>
                <a:latin typeface="Canva Sans Bold"/>
                <a:ea typeface="Canva Sans Bold"/>
                <a:cs typeface="Canva Sans Bold"/>
                <a:sym typeface="Canva Sans Bold"/>
              </a:rPr>
              <a:t>ri</a:t>
            </a:r>
            <a:r>
              <a:rPr lang="en-US" b="true" sz="2020" strike="noStrike" u="none">
                <a:solidFill>
                  <a:srgbClr val="000000"/>
                </a:solidFill>
                <a:latin typeface="Canva Sans Bold"/>
                <a:ea typeface="Canva Sans Bold"/>
                <a:cs typeface="Canva Sans Bold"/>
                <a:sym typeface="Canva Sans Bold"/>
              </a:rPr>
              <a:t>bu</a:t>
            </a:r>
            <a:r>
              <a:rPr lang="en-US" b="true" sz="2020" strike="noStrike" u="none">
                <a:solidFill>
                  <a:srgbClr val="000000"/>
                </a:solidFill>
                <a:latin typeface="Canva Sans Bold"/>
                <a:ea typeface="Canva Sans Bold"/>
                <a:cs typeface="Canva Sans Bold"/>
                <a:sym typeface="Canva Sans Bold"/>
              </a:rPr>
              <a:t>t</a:t>
            </a:r>
            <a:r>
              <a:rPr lang="en-US" b="true" sz="2020" strike="noStrike" u="none">
                <a:solidFill>
                  <a:srgbClr val="000000"/>
                </a:solidFill>
                <a:latin typeface="Canva Sans Bold"/>
                <a:ea typeface="Canva Sans Bold"/>
                <a:cs typeface="Canva Sans Bold"/>
                <a:sym typeface="Canva Sans Bold"/>
              </a:rPr>
              <a:t>ion</a:t>
            </a:r>
            <a:r>
              <a:rPr lang="en-US" b="true" sz="2020" strike="noStrike" u="none">
                <a:solidFill>
                  <a:srgbClr val="000000"/>
                </a:solidFill>
                <a:latin typeface="Canva Sans Bold"/>
                <a:ea typeface="Canva Sans Bold"/>
                <a:cs typeface="Canva Sans Bold"/>
                <a:sym typeface="Canva Sans Bold"/>
              </a:rPr>
              <a:t> </a:t>
            </a:r>
            <a:r>
              <a:rPr lang="en-US" b="true" sz="2020" strike="noStrike" u="none">
                <a:solidFill>
                  <a:srgbClr val="000000"/>
                </a:solidFill>
                <a:latin typeface="Canva Sans Bold"/>
                <a:ea typeface="Canva Sans Bold"/>
                <a:cs typeface="Canva Sans Bold"/>
                <a:sym typeface="Canva Sans Bold"/>
              </a:rPr>
              <a:t>by count</a:t>
            </a:r>
            <a:r>
              <a:rPr lang="en-US" b="true" sz="2020" strike="noStrike" u="none">
                <a:solidFill>
                  <a:srgbClr val="000000"/>
                </a:solidFill>
                <a:latin typeface="Canva Sans Bold"/>
                <a:ea typeface="Canva Sans Bold"/>
                <a:cs typeface="Canva Sans Bold"/>
                <a:sym typeface="Canva Sans Bold"/>
              </a:rPr>
              <a:t>r</a:t>
            </a:r>
            <a:r>
              <a:rPr lang="en-US" b="true" sz="2020" strike="noStrike" u="none">
                <a:solidFill>
                  <a:srgbClr val="000000"/>
                </a:solidFill>
                <a:latin typeface="Canva Sans Bold"/>
                <a:ea typeface="Canva Sans Bold"/>
                <a:cs typeface="Canva Sans Bold"/>
                <a:sym typeface="Canva Sans Bold"/>
              </a:rPr>
              <a:t>y</a:t>
            </a:r>
          </a:p>
        </p:txBody>
      </p:sp>
      <p:sp>
        <p:nvSpPr>
          <p:cNvPr name="TextBox 13" id="13"/>
          <p:cNvSpPr txBox="true"/>
          <p:nvPr/>
        </p:nvSpPr>
        <p:spPr>
          <a:xfrm rot="0">
            <a:off x="2956295" y="7805460"/>
            <a:ext cx="6371082" cy="289814"/>
          </a:xfrm>
          <a:prstGeom prst="rect">
            <a:avLst/>
          </a:prstGeom>
        </p:spPr>
        <p:txBody>
          <a:bodyPr anchor="t" rtlCol="false" tIns="0" lIns="0" bIns="0" rIns="0">
            <a:spAutoFit/>
          </a:bodyPr>
          <a:lstStyle/>
          <a:p>
            <a:pPr algn="ctr">
              <a:lnSpc>
                <a:spcPts val="2487"/>
              </a:lnSpc>
              <a:spcBef>
                <a:spcPct val="0"/>
              </a:spcBef>
            </a:pPr>
            <a:r>
              <a:rPr lang="en-US" sz="1599">
                <a:solidFill>
                  <a:srgbClr val="000000"/>
                </a:solidFill>
                <a:latin typeface="Canva Sans"/>
                <a:ea typeface="Canva Sans"/>
                <a:cs typeface="Canva Sans"/>
                <a:sym typeface="Canva Sans"/>
              </a:rPr>
              <a:t> to unde</a:t>
            </a:r>
            <a:r>
              <a:rPr lang="en-US" sz="1599">
                <a:solidFill>
                  <a:srgbClr val="000000"/>
                </a:solidFill>
                <a:latin typeface="Canva Sans"/>
                <a:ea typeface="Canva Sans"/>
                <a:cs typeface="Canva Sans"/>
                <a:sym typeface="Canva Sans"/>
              </a:rPr>
              <a:t>rstand geographic demand and support regional strategy</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grpSp>
        <p:nvGrpSpPr>
          <p:cNvPr name="Group 2" id="2"/>
          <p:cNvGrpSpPr/>
          <p:nvPr/>
        </p:nvGrpSpPr>
        <p:grpSpPr>
          <a:xfrm rot="0">
            <a:off x="-696258" y="-450527"/>
            <a:ext cx="19680517" cy="1704491"/>
            <a:chOff x="0" y="0"/>
            <a:chExt cx="5183346" cy="448919"/>
          </a:xfrm>
        </p:grpSpPr>
        <p:sp>
          <p:nvSpPr>
            <p:cNvPr name="Freeform 3" id="3"/>
            <p:cNvSpPr/>
            <p:nvPr/>
          </p:nvSpPr>
          <p:spPr>
            <a:xfrm flipH="false" flipV="false" rot="0">
              <a:off x="0" y="0"/>
              <a:ext cx="5183346" cy="448919"/>
            </a:xfrm>
            <a:custGeom>
              <a:avLst/>
              <a:gdLst/>
              <a:ahLst/>
              <a:cxnLst/>
              <a:rect r="r" b="b" t="t" l="l"/>
              <a:pathLst>
                <a:path h="448919" w="5183346">
                  <a:moveTo>
                    <a:pt x="0" y="0"/>
                  </a:moveTo>
                  <a:lnTo>
                    <a:pt x="5183346" y="0"/>
                  </a:lnTo>
                  <a:lnTo>
                    <a:pt x="5183346" y="448919"/>
                  </a:lnTo>
                  <a:lnTo>
                    <a:pt x="0" y="448919"/>
                  </a:lnTo>
                  <a:close/>
                </a:path>
              </a:pathLst>
            </a:custGeom>
            <a:solidFill>
              <a:srgbClr val="0003FF"/>
            </a:solidFill>
          </p:spPr>
        </p:sp>
        <p:sp>
          <p:nvSpPr>
            <p:cNvPr name="TextBox 4" id="4"/>
            <p:cNvSpPr txBox="true"/>
            <p:nvPr/>
          </p:nvSpPr>
          <p:spPr>
            <a:xfrm>
              <a:off x="0" y="-57150"/>
              <a:ext cx="5183346" cy="506069"/>
            </a:xfrm>
            <a:prstGeom prst="rect">
              <a:avLst/>
            </a:prstGeom>
          </p:spPr>
          <p:txBody>
            <a:bodyPr anchor="ctr" rtlCol="false" tIns="50800" lIns="50800" bIns="50800" rIns="50800"/>
            <a:lstStyle/>
            <a:p>
              <a:pPr algn="ctr">
                <a:lnSpc>
                  <a:spcPts val="3639"/>
                </a:lnSpc>
              </a:pPr>
            </a:p>
          </p:txBody>
        </p:sp>
      </p:grpSp>
      <p:sp>
        <p:nvSpPr>
          <p:cNvPr name="Freeform 5" id="5"/>
          <p:cNvSpPr/>
          <p:nvPr/>
        </p:nvSpPr>
        <p:spPr>
          <a:xfrm flipH="false" flipV="false" rot="0">
            <a:off x="13649577" y="7788660"/>
            <a:ext cx="742750" cy="742750"/>
          </a:xfrm>
          <a:custGeom>
            <a:avLst/>
            <a:gdLst/>
            <a:ahLst/>
            <a:cxnLst/>
            <a:rect r="r" b="b" t="t" l="l"/>
            <a:pathLst>
              <a:path h="742750" w="742750">
                <a:moveTo>
                  <a:pt x="0" y="0"/>
                </a:moveTo>
                <a:lnTo>
                  <a:pt x="742750" y="0"/>
                </a:lnTo>
                <a:lnTo>
                  <a:pt x="742750" y="742750"/>
                </a:lnTo>
                <a:lnTo>
                  <a:pt x="0" y="742750"/>
                </a:lnTo>
                <a:lnTo>
                  <a:pt x="0" y="0"/>
                </a:lnTo>
                <a:close/>
              </a:path>
            </a:pathLst>
          </a:custGeom>
          <a:blipFill>
            <a:blip r:embed="rId2"/>
            <a:stretch>
              <a:fillRect l="0" t="0" r="0" b="0"/>
            </a:stretch>
          </a:blipFill>
        </p:spPr>
      </p:sp>
      <p:sp>
        <p:nvSpPr>
          <p:cNvPr name="Freeform 6" id="6"/>
          <p:cNvSpPr/>
          <p:nvPr/>
        </p:nvSpPr>
        <p:spPr>
          <a:xfrm flipH="false" flipV="false" rot="0">
            <a:off x="13578762" y="6904280"/>
            <a:ext cx="884380" cy="884380"/>
          </a:xfrm>
          <a:custGeom>
            <a:avLst/>
            <a:gdLst/>
            <a:ahLst/>
            <a:cxnLst/>
            <a:rect r="r" b="b" t="t" l="l"/>
            <a:pathLst>
              <a:path h="884380" w="884380">
                <a:moveTo>
                  <a:pt x="0" y="0"/>
                </a:moveTo>
                <a:lnTo>
                  <a:pt x="884380" y="0"/>
                </a:lnTo>
                <a:lnTo>
                  <a:pt x="884380" y="884380"/>
                </a:lnTo>
                <a:lnTo>
                  <a:pt x="0" y="884380"/>
                </a:lnTo>
                <a:lnTo>
                  <a:pt x="0" y="0"/>
                </a:lnTo>
                <a:close/>
              </a:path>
            </a:pathLst>
          </a:custGeom>
          <a:blipFill>
            <a:blip r:embed="rId3"/>
            <a:stretch>
              <a:fillRect l="0" t="0" r="0" b="0"/>
            </a:stretch>
          </a:blipFill>
        </p:spPr>
      </p:sp>
      <p:sp>
        <p:nvSpPr>
          <p:cNvPr name="TextBox 7" id="7"/>
          <p:cNvSpPr txBox="true"/>
          <p:nvPr/>
        </p:nvSpPr>
        <p:spPr>
          <a:xfrm rot="0">
            <a:off x="2768684" y="3942890"/>
            <a:ext cx="10598510" cy="2084673"/>
          </a:xfrm>
          <a:prstGeom prst="rect">
            <a:avLst/>
          </a:prstGeom>
        </p:spPr>
        <p:txBody>
          <a:bodyPr anchor="t" rtlCol="false" tIns="0" lIns="0" bIns="0" rIns="0">
            <a:spAutoFit/>
          </a:bodyPr>
          <a:lstStyle/>
          <a:p>
            <a:pPr algn="r">
              <a:lnSpc>
                <a:spcPts val="15418"/>
              </a:lnSpc>
            </a:pPr>
            <a:r>
              <a:rPr lang="en-US" b="true" sz="16402" spc="-803">
                <a:solidFill>
                  <a:srgbClr val="343434"/>
                </a:solidFill>
                <a:latin typeface="TT Hoves Bold"/>
                <a:ea typeface="TT Hoves Bold"/>
                <a:cs typeface="TT Hoves Bold"/>
                <a:sym typeface="TT Hoves Bold"/>
              </a:rPr>
              <a:t>Thank You</a:t>
            </a:r>
          </a:p>
        </p:txBody>
      </p:sp>
      <p:sp>
        <p:nvSpPr>
          <p:cNvPr name="TextBox 8" id="8"/>
          <p:cNvSpPr txBox="true"/>
          <p:nvPr/>
        </p:nvSpPr>
        <p:spPr>
          <a:xfrm rot="0">
            <a:off x="13367194" y="7188240"/>
            <a:ext cx="4026752" cy="402186"/>
          </a:xfrm>
          <a:prstGeom prst="rect">
            <a:avLst/>
          </a:prstGeom>
        </p:spPr>
        <p:txBody>
          <a:bodyPr anchor="t" rtlCol="false" tIns="0" lIns="0" bIns="0" rIns="0">
            <a:spAutoFit/>
          </a:bodyPr>
          <a:lstStyle/>
          <a:p>
            <a:pPr algn="r" marL="0" indent="0" lvl="1">
              <a:lnSpc>
                <a:spcPts val="3043"/>
              </a:lnSpc>
              <a:spcBef>
                <a:spcPct val="0"/>
              </a:spcBef>
            </a:pPr>
            <a:r>
              <a:rPr lang="en-US" b="true" sz="3237" spc="-158" strike="noStrike" u="sng">
                <a:solidFill>
                  <a:srgbClr val="343434"/>
                </a:solidFill>
                <a:latin typeface="TT Hoves Bold"/>
                <a:ea typeface="TT Hoves Bold"/>
                <a:cs typeface="TT Hoves Bold"/>
                <a:sym typeface="TT Hoves Bold"/>
                <a:hlinkClick r:id="rId4" tooltip="https://www.linkedin.com/in/iiahmedzaki/"/>
              </a:rPr>
              <a:t>AhmedZakiGbr</a:t>
            </a:r>
          </a:p>
        </p:txBody>
      </p:sp>
      <p:sp>
        <p:nvSpPr>
          <p:cNvPr name="TextBox 9" id="9"/>
          <p:cNvSpPr txBox="true"/>
          <p:nvPr/>
        </p:nvSpPr>
        <p:spPr>
          <a:xfrm rot="0">
            <a:off x="13367194" y="8035462"/>
            <a:ext cx="4392968" cy="296772"/>
          </a:xfrm>
          <a:prstGeom prst="rect">
            <a:avLst/>
          </a:prstGeom>
        </p:spPr>
        <p:txBody>
          <a:bodyPr anchor="t" rtlCol="false" tIns="0" lIns="0" bIns="0" rIns="0">
            <a:spAutoFit/>
          </a:bodyPr>
          <a:lstStyle/>
          <a:p>
            <a:pPr algn="r" marL="0" indent="0" lvl="1">
              <a:lnSpc>
                <a:spcPts val="2158"/>
              </a:lnSpc>
              <a:spcBef>
                <a:spcPct val="0"/>
              </a:spcBef>
            </a:pPr>
            <a:r>
              <a:rPr lang="en-US" b="true" sz="2296" spc="-112" strike="noStrike" u="sng">
                <a:solidFill>
                  <a:srgbClr val="343434"/>
                </a:solidFill>
                <a:latin typeface="TT Hoves Bold"/>
                <a:ea typeface="TT Hoves Bold"/>
                <a:cs typeface="TT Hoves Bold"/>
                <a:sym typeface="TT Hoves Bold"/>
                <a:hlinkClick r:id="rId5" tooltip="mailto:iahmedzaki10@gmail.com"/>
              </a:rPr>
              <a:t>iahmedzaki10@gmail.com</a:t>
            </a:r>
          </a:p>
        </p:txBody>
      </p:sp>
      <p:sp>
        <p:nvSpPr>
          <p:cNvPr name="Freeform 10" id="10"/>
          <p:cNvSpPr/>
          <p:nvPr/>
        </p:nvSpPr>
        <p:spPr>
          <a:xfrm flipH="false" flipV="false" rot="0">
            <a:off x="0" y="0"/>
            <a:ext cx="3647175" cy="1573041"/>
          </a:xfrm>
          <a:custGeom>
            <a:avLst/>
            <a:gdLst/>
            <a:ahLst/>
            <a:cxnLst/>
            <a:rect r="r" b="b" t="t" l="l"/>
            <a:pathLst>
              <a:path h="1573041" w="3647175">
                <a:moveTo>
                  <a:pt x="0" y="0"/>
                </a:moveTo>
                <a:lnTo>
                  <a:pt x="3647175" y="0"/>
                </a:lnTo>
                <a:lnTo>
                  <a:pt x="3647175" y="1573041"/>
                </a:lnTo>
                <a:lnTo>
                  <a:pt x="0" y="1573041"/>
                </a:lnTo>
                <a:lnTo>
                  <a:pt x="0" y="0"/>
                </a:lnTo>
                <a:close/>
              </a:path>
            </a:pathLst>
          </a:custGeom>
          <a:blipFill>
            <a:blip r:embed="rId6"/>
            <a:stretch>
              <a:fillRect l="0" t="-26367" r="0" b="-26367"/>
            </a:stretch>
          </a:blipFill>
        </p:spPr>
      </p:sp>
      <p:sp>
        <p:nvSpPr>
          <p:cNvPr name="TextBox 11" id="1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343434"/>
                </a:solidFill>
                <a:latin typeface="Canva Sans"/>
                <a:ea typeface="Canva Sans"/>
                <a:cs typeface="Canva Sans"/>
                <a:sym typeface="Canva Sans"/>
              </a:rPr>
              <a:t>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DAGtbQmWqBE</dc:identifier>
  <dcterms:modified xsi:type="dcterms:W3CDTF">2011-08-01T06:04:30Z</dcterms:modified>
  <cp:revision>1</cp:revision>
  <dc:title>Blue Modern Project Presentation</dc:title>
</cp:coreProperties>
</file>